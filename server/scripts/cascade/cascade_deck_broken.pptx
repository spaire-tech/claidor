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FY2023A</c:v>
                  </c:pt>
                  <c:pt idx="1">
                    <c:v>FY2024A</c:v>
                  </c:pt>
                  <c:pt idx="2">
                    <c:v>FY2025A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182.4</c:v>
                </c:pt>
                <c:pt idx="1">
                  <c:v>204.7</c:v>
                </c:pt>
                <c:pt idx="2">
                  <c:v>228.9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Adjusted EBITDA</c:v>
                </c:pt>
              </c:strCache>
            </c:strRef>
          </c:tx>
          <c:spPr>
            <a:solidFill>
              <a:srgbClr val="8496B0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FY2023A</c:v>
                  </c:pt>
                  <c:pt idx="1">
                    <c:v>FY2024A</c:v>
                  </c:pt>
                  <c:pt idx="2">
                    <c:v>FY2025A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37.8</c:v>
                </c:pt>
                <c:pt idx="1">
                  <c:v>43</c:v>
                </c:pt>
                <c:pt idx="2">
                  <c:v>48.9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9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FY2025A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Reported
EBITDA</c:v>
                  </c:pt>
                  <c:pt idx="1">
                    <c:v>Legal
settlement</c:v>
                  </c:pt>
                  <c:pt idx="2">
                    <c:v>ERP
implementation</c:v>
                  </c:pt>
                  <c:pt idx="3">
                    <c:v>Owner comp
normalisation</c:v>
                  </c:pt>
                  <c:pt idx="4">
                    <c:v>Verity
run-rate</c:v>
                  </c:pt>
                  <c:pt idx="5">
                    <c:v>Adjusted
EBITDA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41.2</c:v>
                </c:pt>
                <c:pt idx="1">
                  <c:v>0</c:v>
                </c:pt>
                <c:pt idx="2">
                  <c:v>2.8</c:v>
                </c:pt>
                <c:pt idx="3">
                  <c:v>1.7</c:v>
                </c:pt>
                <c:pt idx="4">
                  <c:v>3.2</c:v>
                </c:pt>
                <c:pt idx="5">
                  <c:v>48.9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FY2026E</c:v>
                  </c:pt>
                  <c:pt idx="1">
                    <c:v>FY2027E</c:v>
                  </c:pt>
                  <c:pt idx="2">
                    <c:v>FY2028E</c:v>
                  </c:pt>
                  <c:pt idx="3">
                    <c:v>FY2029E</c:v>
                  </c:pt>
                  <c:pt idx="4">
                    <c:v>FY2030E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255.9</c:v>
                </c:pt>
                <c:pt idx="1">
                  <c:v>282.8</c:v>
                </c:pt>
                <c:pt idx="2">
                  <c:v>308.8</c:v>
                </c:pt>
                <c:pt idx="3">
                  <c:v>333.5</c:v>
                </c:pt>
                <c:pt idx="4">
                  <c:v>356.8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Adj. EBITDA margin</c:v>
                </c:pt>
              </c:strCache>
            </c:strRef>
          </c:tx>
          <c:spPr>
            <a:solidFill>
              <a:srgbClr val="B08D3C"/>
            </a:solidFill>
            <a:ln w="25400" cap="flat">
              <a:solidFill>
                <a:srgbClr val="B08D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8D3C"/>
              </a:solidFill>
              <a:ln w="9525" cap="flat">
                <a:solidFill>
                  <a:srgbClr val="B08D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FY2026E</c:v>
                  </c:pt>
                  <c:pt idx="1">
                    <c:v>FY2027E</c:v>
                  </c:pt>
                  <c:pt idx="2">
                    <c:v>FY2028E</c:v>
                  </c:pt>
                  <c:pt idx="3">
                    <c:v>FY2029E</c:v>
                  </c:pt>
                  <c:pt idx="4">
                    <c:v>FY2030E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0.4"/>
          <c:min val="0"/>
        </c:scaling>
        <c:delete val="0"/>
        <c:axPos val="r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8D3C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Trading comparables</c:v>
                  </c:pt>
                  <c:pt idx="1">
                    <c:v>Discounted cash flow</c:v>
                  </c:pt>
                  <c:pt idx="2">
                    <c:v>Precedent transactions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440</c:v>
                </c:pt>
                <c:pt idx="1">
                  <c:v>431</c:v>
                </c:pt>
                <c:pt idx="2">
                  <c:v>468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Trading comparables</c:v>
                  </c:pt>
                  <c:pt idx="1">
                    <c:v>Discounted cash flow</c:v>
                  </c:pt>
                  <c:pt idx="2">
                    <c:v>Precedent transactions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97</c:v>
                </c:pt>
                <c:pt idx="2">
                  <c:v>104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"/>
          <c:min val="350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Project Cascade is the sell-side process for Cascade Industrial Holdings.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Cascade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Materials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Board of Directors of Cascade Industrial Holdings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confidential. These materials are for discussion purposes only and do not constitute a recommendation, offer or valuation opinion.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has delivered double-digit growth with expanding margins ahead of a sale process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 revenue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$228.9mm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 year-on-year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4630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 adjusted EBITDA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9584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$49.6mm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9584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 margin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4630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CAGR FY25A-FY30E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45936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45936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97696" y="14630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288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62288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62288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flow-control components for industrial and process end markets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customer retention above 90% on a revenue-weighted basis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 bolt-on completed August 2025, integration substantially complete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Founder-led; management team expected to roll over in a transaction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considerations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7033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EBITDA of $48.9mm reflects $7.7mm of add-backs, detailed overleaf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expected to be the principal diligence workstream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and sponsor interest anticipated across both channels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timetable of 16-20 weeks to signing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management, Harbourline analysis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financial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adjusted EBITDA, FY2023A to FY2025A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002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($mm)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audited accounts FY2023-FY2025, management adjustments schedule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EBITDA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 reported EBITDA of $41.2mm adjusts to $48.9mm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of adjustment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589520" y="2011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settlement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22677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$2.4mm settled in FY2024. No FY2025 charge; shown for comparability.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89520" y="2944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implementation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32004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$2.8mm of FY2025 programme cost. Programme completes in FY2025.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89520" y="38770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compensation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413308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$1.7mm of above-market founder compensation, normalised to market.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89520" y="48097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 run-rate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506577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$3.2mm annualised contribution from the August 2025 bolt-on.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figures are presented on a pro forma, run-rate basis and are not audited.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Management adjustments schedule, FY2025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plan, FY2026E to FY2030E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($mm)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FY2028E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FY2030E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Unlevered FCF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58952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operating costs reflect the normalised, post-synergy cost base.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Management plan, November 2025 board pack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comparables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flow-control and precision components peers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371600"/>
                <a:gridCol w="155448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LTM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LTM adj. EBITDA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 /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 / EBITDA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Meridian Flow Systems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Halden Controls plc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Portsend Industrial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Kestrel Valve Group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Arbor Fluid Technologies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Linden Precision Corp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the peer median of 10.4x to Cascade's FY2025A adjusted EBITDA of $48.9mm implies an enterprise value of $502mm.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filings, FactSet, market data as of 28-Nov-2025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 cash flow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of 9.8% and terminal growth of 2.5%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($mm)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PV of forecast free cash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 value of terminal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Less: total debt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(96.4)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Plus: cash and equivalents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Diluted shares outstanding (mm)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value per share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- enterprise value ($mm)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965960"/>
          <a:ext cx="4846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143000"/>
                <a:gridCol w="1143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WACC \ 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DCF implies 10.0x FY2025A adjusted EBITDA, in line with the peer median of 9.9x.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Harbourline analysis, management plan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reference range of $455mm to $528mm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3816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comparables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22677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median of 10.4x applied to FY2025A adjusted EBITDA of $48.9mm.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138160" y="3154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 cash flow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34107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management plan, 9.8% WACC, 2.5% terminal growth.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transactions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38160" y="45537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flow-control transactions, 2021 to 2025.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5257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($mm)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Harbourline analysis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and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timetable of 16 to 20 weeks to signing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00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554480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682496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197510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information memorandum, complete vendor quality of earnings, agree buyer list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2670048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7980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09067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Teaser distribution, NDA negotiation, information memorandum release, management meetings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42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10-15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3785616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39136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42062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 open, confirmatory diligence, receipt of final offers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901184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47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58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16-20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4901184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502920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532180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of preferred bidder, documentation, signing and announcement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Harbourline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Cascade - Discussion Materials</dc:title>
  <dc:subject>PptxGenJS Presentation</dc:subject>
  <dc:creator>Harbourline Partners</dc:creator>
  <cp:lastModifiedBy>Harbourline Partners</cp:lastModifiedBy>
  <cp:revision>1</cp:revision>
  <dcterms:created xsi:type="dcterms:W3CDTF">2026-08-10T05:54:47Z</dcterms:created>
  <dcterms:modified xsi:type="dcterms:W3CDTF">2026-08-10T05:54:47Z</dcterms:modified>
</cp:coreProperties>
</file>