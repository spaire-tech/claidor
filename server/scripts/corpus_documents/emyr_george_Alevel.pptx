
<file path=[Content_Types].xml><?xml version="1.0" encoding="utf-8"?>
<Types xmlns="http://schemas.openxmlformats.org/package/2006/content-types">
  <Default Extension="png" ContentType="image/png"/>
  <Default Extension="emf" ContentType="image/x-emf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4"/>
  </p:sldMasterIdLst>
  <p:notesMasterIdLst>
    <p:notesMasterId r:id="rId8"/>
  </p:notesMasterIdLst>
  <p:sldIdLst>
    <p:sldId id="256" r:id="rId5"/>
    <p:sldId id="260" r:id="rId6"/>
    <p:sldId id="258" r:id="rId7"/>
  </p:sldIdLst>
  <p:sldSz cx="9144000" cy="514826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2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8C8D8E"/>
    <a:srgbClr val="641346"/>
    <a:srgbClr val="00677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57" d="100"/>
          <a:sy n="157" d="100"/>
        </p:scale>
        <p:origin x="618" y="138"/>
      </p:cViewPr>
      <p:guideLst>
        <p:guide orient="horz" pos="1622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tableStyles" Target="tableStyles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theme" Target="theme/theme1.xml"/><Relationship Id="rId5" Type="http://schemas.openxmlformats.org/officeDocument/2006/relationships/slide" Target="slides/slide1.xml"/><Relationship Id="rId10" Type="http://schemas.openxmlformats.org/officeDocument/2006/relationships/viewProps" Target="viewProps.xml"/><Relationship Id="rId4" Type="http://schemas.openxmlformats.org/officeDocument/2006/relationships/slideMaster" Target="slideMasters/slideMaster1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206278E-3D6F-49EC-9DF7-1CDEACDE546D}" type="datetimeFigureOut">
              <a:rPr lang="en-GB" smtClean="0"/>
              <a:pPr/>
              <a:t>07/03/2016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8975" y="1143000"/>
            <a:ext cx="548005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08B45B6-3468-45C9-AB61-160049C224D8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00175165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9299"/>
            <a:ext cx="7772400" cy="1103540"/>
          </a:xfrm>
        </p:spPr>
        <p:txBody>
          <a:bodyPr/>
          <a:lstStyle/>
          <a:p>
            <a:r>
              <a:rPr lang="en-GB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7349"/>
            <a:ext cx="6400800" cy="1315667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GB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69D9C9-76CC-3F40-8301-E11020557ADD}" type="datetimeFigureOut">
              <a:rPr lang="en-US" smtClean="0"/>
              <a:pPr/>
              <a:t>3/7/2016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F6D9EE-8E65-F344-B861-15C0401928A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5618638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 smtClean="0"/>
              <a:t>Click to edit Master text styles</a:t>
            </a:r>
          </a:p>
          <a:p>
            <a:pPr lvl="1"/>
            <a:r>
              <a:rPr lang="en-GB" smtClean="0"/>
              <a:t>Second level</a:t>
            </a:r>
          </a:p>
          <a:p>
            <a:pPr lvl="2"/>
            <a:r>
              <a:rPr lang="en-GB" smtClean="0"/>
              <a:t>Third level</a:t>
            </a:r>
          </a:p>
          <a:p>
            <a:pPr lvl="3"/>
            <a:r>
              <a:rPr lang="en-GB" smtClean="0"/>
              <a:t>Fourth level</a:t>
            </a:r>
          </a:p>
          <a:p>
            <a:pPr lvl="4"/>
            <a:r>
              <a:rPr lang="en-GB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69D9C9-76CC-3F40-8301-E11020557ADD}" type="datetimeFigureOut">
              <a:rPr lang="en-US" smtClean="0"/>
              <a:pPr/>
              <a:t>3/7/2016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F6D9EE-8E65-F344-B861-15C0401928A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9085541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8236"/>
            <a:ext cx="7772400" cy="1022502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GB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2054"/>
            <a:ext cx="7772400" cy="1126182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69D9C9-76CC-3F40-8301-E11020557ADD}" type="datetimeFigureOut">
              <a:rPr lang="en-US" smtClean="0"/>
              <a:pPr/>
              <a:t>3/7/2016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F6D9EE-8E65-F344-B861-15C0401928A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7011768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902138"/>
            <a:ext cx="4038600" cy="2550297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GB" smtClean="0"/>
              <a:t>Click to edit Master text styles</a:t>
            </a:r>
          </a:p>
          <a:p>
            <a:pPr lvl="1"/>
            <a:r>
              <a:rPr lang="en-GB" smtClean="0"/>
              <a:t>Second level</a:t>
            </a:r>
          </a:p>
          <a:p>
            <a:pPr lvl="2"/>
            <a:r>
              <a:rPr lang="en-GB" smtClean="0"/>
              <a:t>Third level</a:t>
            </a:r>
          </a:p>
          <a:p>
            <a:pPr lvl="3"/>
            <a:r>
              <a:rPr lang="en-GB" smtClean="0"/>
              <a:t>Fourth level</a:t>
            </a:r>
          </a:p>
          <a:p>
            <a:pPr lvl="4"/>
            <a:r>
              <a:rPr lang="en-GB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902138"/>
            <a:ext cx="4038600" cy="2550297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GB" smtClean="0"/>
              <a:t>Click to edit Master text styles</a:t>
            </a:r>
          </a:p>
          <a:p>
            <a:pPr lvl="1"/>
            <a:r>
              <a:rPr lang="en-GB" smtClean="0"/>
              <a:t>Second level</a:t>
            </a:r>
          </a:p>
          <a:p>
            <a:pPr lvl="2"/>
            <a:r>
              <a:rPr lang="en-GB" smtClean="0"/>
              <a:t>Third level</a:t>
            </a:r>
          </a:p>
          <a:p>
            <a:pPr lvl="3"/>
            <a:r>
              <a:rPr lang="en-GB" smtClean="0"/>
              <a:t>Fourth level</a:t>
            </a:r>
          </a:p>
          <a:p>
            <a:pPr lvl="4"/>
            <a:r>
              <a:rPr lang="en-GB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69D9C9-76CC-3F40-8301-E11020557ADD}" type="datetimeFigureOut">
              <a:rPr lang="en-US" smtClean="0"/>
              <a:pPr/>
              <a:t>3/7/2016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F6D9EE-8E65-F344-B861-15C0401928A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299826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06169"/>
            <a:ext cx="8229600" cy="858044"/>
          </a:xfrm>
        </p:spPr>
        <p:txBody>
          <a:bodyPr/>
          <a:lstStyle>
            <a:lvl1pPr>
              <a:defRPr/>
            </a:lvl1pPr>
          </a:lstStyle>
          <a:p>
            <a:r>
              <a:rPr lang="en-GB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2401"/>
            <a:ext cx="4040188" cy="480266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2667"/>
            <a:ext cx="4040188" cy="2966210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GB" smtClean="0"/>
              <a:t>Click to edit Master text styles</a:t>
            </a:r>
          </a:p>
          <a:p>
            <a:pPr lvl="1"/>
            <a:r>
              <a:rPr lang="en-GB" smtClean="0"/>
              <a:t>Second level</a:t>
            </a:r>
          </a:p>
          <a:p>
            <a:pPr lvl="2"/>
            <a:r>
              <a:rPr lang="en-GB" smtClean="0"/>
              <a:t>Third level</a:t>
            </a:r>
          </a:p>
          <a:p>
            <a:pPr lvl="3"/>
            <a:r>
              <a:rPr lang="en-GB" smtClean="0"/>
              <a:t>Fourth level</a:t>
            </a:r>
          </a:p>
          <a:p>
            <a:pPr lvl="4"/>
            <a:r>
              <a:rPr lang="en-GB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2401"/>
            <a:ext cx="4041775" cy="480266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2667"/>
            <a:ext cx="4041775" cy="2966210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GB" smtClean="0"/>
              <a:t>Click to edit Master text styles</a:t>
            </a:r>
          </a:p>
          <a:p>
            <a:pPr lvl="1"/>
            <a:r>
              <a:rPr lang="en-GB" smtClean="0"/>
              <a:t>Second level</a:t>
            </a:r>
          </a:p>
          <a:p>
            <a:pPr lvl="2"/>
            <a:r>
              <a:rPr lang="en-GB" smtClean="0"/>
              <a:t>Third level</a:t>
            </a:r>
          </a:p>
          <a:p>
            <a:pPr lvl="3"/>
            <a:r>
              <a:rPr lang="en-GB" smtClean="0"/>
              <a:t>Fourth level</a:t>
            </a:r>
          </a:p>
          <a:p>
            <a:pPr lvl="4"/>
            <a:r>
              <a:rPr lang="en-GB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69D9C9-76CC-3F40-8301-E11020557ADD}" type="datetimeFigureOut">
              <a:rPr lang="en-US" smtClean="0"/>
              <a:pPr/>
              <a:t>3/7/2016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F6D9EE-8E65-F344-B861-15C0401928A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3262380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69D9C9-76CC-3F40-8301-E11020557ADD}" type="datetimeFigureOut">
              <a:rPr lang="en-US" smtClean="0"/>
              <a:pPr/>
              <a:t>3/7/2016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F6D9EE-8E65-F344-B861-15C0401928A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3599922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69D9C9-76CC-3F40-8301-E11020557ADD}" type="datetimeFigureOut">
              <a:rPr lang="en-US" smtClean="0"/>
              <a:pPr/>
              <a:t>3/7/2016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F6D9EE-8E65-F344-B861-15C0401928A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4731595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977"/>
            <a:ext cx="3008313" cy="872345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GB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977"/>
            <a:ext cx="5111750" cy="4393900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 smtClean="0"/>
              <a:t>Click to edit Master text styles</a:t>
            </a:r>
          </a:p>
          <a:p>
            <a:pPr lvl="1"/>
            <a:r>
              <a:rPr lang="en-GB" smtClean="0"/>
              <a:t>Second level</a:t>
            </a:r>
          </a:p>
          <a:p>
            <a:pPr lvl="2"/>
            <a:r>
              <a:rPr lang="en-GB" smtClean="0"/>
              <a:t>Third level</a:t>
            </a:r>
          </a:p>
          <a:p>
            <a:pPr lvl="3"/>
            <a:r>
              <a:rPr lang="en-GB" smtClean="0"/>
              <a:t>Fourth level</a:t>
            </a:r>
          </a:p>
          <a:p>
            <a:pPr lvl="4"/>
            <a:r>
              <a:rPr lang="en-GB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7322"/>
            <a:ext cx="3008313" cy="3521555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69D9C9-76CC-3F40-8301-E11020557ADD}" type="datetimeFigureOut">
              <a:rPr lang="en-US" smtClean="0"/>
              <a:pPr/>
              <a:t>3/7/2016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F6D9EE-8E65-F344-B861-15C0401928A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1276831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3784"/>
            <a:ext cx="5486400" cy="425447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GB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60007"/>
            <a:ext cx="5486400" cy="3088958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9231"/>
            <a:ext cx="5486400" cy="604205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69D9C9-76CC-3F40-8301-E11020557ADD}" type="datetimeFigureOut">
              <a:rPr lang="en-US" smtClean="0"/>
              <a:pPr/>
              <a:t>3/7/2016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F6D9EE-8E65-F344-B861-15C0401928A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8256074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 smtClean="0"/>
              <a:t>Click to edit Master text styles</a:t>
            </a:r>
          </a:p>
          <a:p>
            <a:pPr lvl="1"/>
            <a:r>
              <a:rPr lang="en-GB" smtClean="0"/>
              <a:t>Second level</a:t>
            </a:r>
          </a:p>
          <a:p>
            <a:pPr lvl="2"/>
            <a:r>
              <a:rPr lang="en-GB" smtClean="0"/>
              <a:t>Third level</a:t>
            </a:r>
          </a:p>
          <a:p>
            <a:pPr lvl="3"/>
            <a:r>
              <a:rPr lang="en-GB" smtClean="0"/>
              <a:t>Fourth level</a:t>
            </a:r>
          </a:p>
          <a:p>
            <a:pPr lvl="4"/>
            <a:r>
              <a:rPr lang="en-GB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69D9C9-76CC-3F40-8301-E11020557ADD}" type="datetimeFigureOut">
              <a:rPr lang="en-US" smtClean="0"/>
              <a:pPr/>
              <a:t>3/7/2016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F6D9EE-8E65-F344-B861-15C0401928A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8352904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154925"/>
            <a:ext cx="2057400" cy="3297510"/>
          </a:xfrm>
        </p:spPr>
        <p:txBody>
          <a:bodyPr vert="eaVert"/>
          <a:lstStyle/>
          <a:p>
            <a:r>
              <a:rPr lang="en-GB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154925"/>
            <a:ext cx="6019800" cy="3297510"/>
          </a:xfrm>
        </p:spPr>
        <p:txBody>
          <a:bodyPr vert="eaVert"/>
          <a:lstStyle/>
          <a:p>
            <a:pPr lvl="0"/>
            <a:r>
              <a:rPr lang="en-GB" smtClean="0"/>
              <a:t>Click to edit Master text styles</a:t>
            </a:r>
          </a:p>
          <a:p>
            <a:pPr lvl="1"/>
            <a:r>
              <a:rPr lang="en-GB" smtClean="0"/>
              <a:t>Second level</a:t>
            </a:r>
          </a:p>
          <a:p>
            <a:pPr lvl="2"/>
            <a:r>
              <a:rPr lang="en-GB" smtClean="0"/>
              <a:t>Third level</a:t>
            </a:r>
          </a:p>
          <a:p>
            <a:pPr lvl="3"/>
            <a:r>
              <a:rPr lang="en-GB" smtClean="0"/>
              <a:t>Fourth level</a:t>
            </a:r>
          </a:p>
          <a:p>
            <a:pPr lvl="4"/>
            <a:r>
              <a:rPr lang="en-GB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69D9C9-76CC-3F40-8301-E11020557ADD}" type="datetimeFigureOut">
              <a:rPr lang="en-US" smtClean="0"/>
              <a:pPr/>
              <a:t>3/7/2016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F6D9EE-8E65-F344-B861-15C0401928A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7712228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6169"/>
            <a:ext cx="8229600" cy="85804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201262"/>
            <a:ext cx="8229600" cy="339761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 smtClean="0"/>
              <a:t>Click to edit Master text styles</a:t>
            </a:r>
          </a:p>
          <a:p>
            <a:pPr lvl="1"/>
            <a:r>
              <a:rPr lang="en-GB" smtClean="0"/>
              <a:t>Second level</a:t>
            </a:r>
          </a:p>
          <a:p>
            <a:pPr lvl="2"/>
            <a:r>
              <a:rPr lang="en-GB" smtClean="0"/>
              <a:t>Third level</a:t>
            </a:r>
          </a:p>
          <a:p>
            <a:pPr lvl="3"/>
            <a:r>
              <a:rPr lang="en-GB" smtClean="0"/>
              <a:t>Fourth level</a:t>
            </a:r>
          </a:p>
          <a:p>
            <a:pPr lvl="4"/>
            <a:r>
              <a:rPr lang="en-GB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4771678"/>
            <a:ext cx="2133600" cy="27409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269D9C9-76CC-3F40-8301-E11020557ADD}" type="datetimeFigureOut">
              <a:rPr lang="en-US" smtClean="0"/>
              <a:pPr/>
              <a:t>3/7/2016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4771678"/>
            <a:ext cx="2895600" cy="27409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4771678"/>
            <a:ext cx="2133600" cy="27409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FF6D9EE-8E65-F344-B861-15C0401928A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4420444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emf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5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ounded Rectangle 5"/>
          <p:cNvSpPr/>
          <p:nvPr/>
        </p:nvSpPr>
        <p:spPr>
          <a:xfrm>
            <a:off x="135557" y="135550"/>
            <a:ext cx="8875558" cy="4801359"/>
          </a:xfrm>
          <a:prstGeom prst="roundRect">
            <a:avLst>
              <a:gd name="adj" fmla="val 3788"/>
            </a:avLst>
          </a:prstGeom>
          <a:solidFill>
            <a:srgbClr val="0067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38361" y="647848"/>
            <a:ext cx="3441604" cy="34416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5425122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5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ounded Rectangle 5"/>
          <p:cNvSpPr/>
          <p:nvPr/>
        </p:nvSpPr>
        <p:spPr>
          <a:xfrm>
            <a:off x="128424" y="164088"/>
            <a:ext cx="8875558" cy="4210244"/>
          </a:xfrm>
          <a:prstGeom prst="roundRect">
            <a:avLst>
              <a:gd name="adj" fmla="val 3788"/>
            </a:avLst>
          </a:prstGeom>
          <a:solidFill>
            <a:srgbClr val="0067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itle 1"/>
          <p:cNvSpPr txBox="1">
            <a:spLocks/>
          </p:cNvSpPr>
          <p:nvPr/>
        </p:nvSpPr>
        <p:spPr>
          <a:xfrm>
            <a:off x="685800" y="2062542"/>
            <a:ext cx="7772400" cy="1021556"/>
          </a:xfrm>
          <a:prstGeom prst="rect">
            <a:avLst/>
          </a:prstGeom>
        </p:spPr>
        <p:txBody>
          <a:bodyPr vert="horz" lIns="91440" tIns="45720" rIns="91440" bIns="45720" rtlCol="0" anchor="t">
            <a:normAutofit fontScale="92500"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000" b="0" i="0" kern="1200" cap="none" baseline="0">
                <a:solidFill>
                  <a:schemeClr val="tx1"/>
                </a:solidFill>
                <a:latin typeface="Georgia"/>
                <a:ea typeface="+mj-ea"/>
                <a:cs typeface="Georgia"/>
              </a:defRPr>
            </a:lvl1pPr>
          </a:lstStyle>
          <a:p>
            <a:r>
              <a:rPr lang="en-GB" dirty="0" smtClean="0">
                <a:solidFill>
                  <a:schemeClr val="bg1"/>
                </a:solidFill>
              </a:rPr>
              <a:t>Changes to AS and A levels in Wales</a:t>
            </a:r>
            <a:endParaRPr lang="en-US" dirty="0">
              <a:solidFill>
                <a:schemeClr val="bg1"/>
              </a:solidFill>
            </a:endParaRP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62930" y="4374332"/>
            <a:ext cx="768594" cy="7685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2612526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5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ounded Rectangle 8"/>
          <p:cNvSpPr/>
          <p:nvPr/>
        </p:nvSpPr>
        <p:spPr>
          <a:xfrm>
            <a:off x="128424" y="164088"/>
            <a:ext cx="8875558" cy="4210244"/>
          </a:xfrm>
          <a:prstGeom prst="roundRect">
            <a:avLst>
              <a:gd name="adj" fmla="val 3788"/>
            </a:avLst>
          </a:prstGeom>
          <a:solidFill>
            <a:srgbClr val="6413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Content Placeholder 3"/>
          <p:cNvSpPr txBox="1">
            <a:spLocks/>
          </p:cNvSpPr>
          <p:nvPr/>
        </p:nvSpPr>
        <p:spPr>
          <a:xfrm>
            <a:off x="407254" y="754912"/>
            <a:ext cx="8322075" cy="2677996"/>
          </a:xfrm>
          <a:prstGeom prst="rect">
            <a:avLst/>
          </a:prstGeom>
        </p:spPr>
        <p:txBody>
          <a:bodyPr/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000" dirty="0" smtClean="0">
                <a:solidFill>
                  <a:schemeClr val="bg1"/>
                </a:solidFill>
              </a:rPr>
              <a:t>AS and A levels remain coupled</a:t>
            </a:r>
          </a:p>
          <a:p>
            <a:r>
              <a:rPr lang="en-US" sz="2000" dirty="0" smtClean="0">
                <a:solidFill>
                  <a:schemeClr val="bg1"/>
                </a:solidFill>
              </a:rPr>
              <a:t>Grading scale remains the same</a:t>
            </a:r>
          </a:p>
          <a:p>
            <a:r>
              <a:rPr lang="en-US" sz="2000" dirty="0" smtClean="0">
                <a:solidFill>
                  <a:schemeClr val="bg1"/>
                </a:solidFill>
              </a:rPr>
              <a:t>AS covers half the content of an A level </a:t>
            </a:r>
          </a:p>
          <a:p>
            <a:r>
              <a:rPr lang="en-US" sz="2000" dirty="0" smtClean="0">
                <a:solidFill>
                  <a:schemeClr val="bg1"/>
                </a:solidFill>
              </a:rPr>
              <a:t>AS outcomes contribute 40% to of an A level grade</a:t>
            </a:r>
          </a:p>
          <a:p>
            <a:r>
              <a:rPr lang="en-US" sz="2000" dirty="0" smtClean="0">
                <a:solidFill>
                  <a:schemeClr val="bg1"/>
                </a:solidFill>
              </a:rPr>
              <a:t>Only one </a:t>
            </a:r>
            <a:r>
              <a:rPr lang="en-US" sz="2000" dirty="0" err="1" smtClean="0">
                <a:solidFill>
                  <a:schemeClr val="bg1"/>
                </a:solidFill>
              </a:rPr>
              <a:t>resit</a:t>
            </a:r>
            <a:r>
              <a:rPr lang="en-US" sz="2000" dirty="0" smtClean="0">
                <a:solidFill>
                  <a:schemeClr val="bg1"/>
                </a:solidFill>
              </a:rPr>
              <a:t> per unit within each qualification</a:t>
            </a:r>
          </a:p>
          <a:p>
            <a:r>
              <a:rPr lang="en-US" sz="2000" dirty="0" smtClean="0">
                <a:solidFill>
                  <a:schemeClr val="bg1"/>
                </a:solidFill>
              </a:rPr>
              <a:t>Synoptic and extended answer questions required in the A level</a:t>
            </a:r>
          </a:p>
          <a:p>
            <a:r>
              <a:rPr lang="en-US" sz="2000" dirty="0" smtClean="0">
                <a:solidFill>
                  <a:schemeClr val="bg1"/>
                </a:solidFill>
              </a:rPr>
              <a:t>Content, assessment objectives and % of NEA for most subjects are the same or similar to those in England – with some important exceptions…</a:t>
            </a:r>
          </a:p>
          <a:p>
            <a:pPr lvl="1"/>
            <a:r>
              <a:rPr lang="en-US" sz="1600" dirty="0" smtClean="0">
                <a:solidFill>
                  <a:schemeClr val="bg1"/>
                </a:solidFill>
              </a:rPr>
              <a:t>A level biology, chemistry and physics: 10% marks are awarded for assessment of practical tasks that contribute to the overall grade, with no separately awarded component.</a:t>
            </a:r>
          </a:p>
        </p:txBody>
      </p:sp>
      <p:sp>
        <p:nvSpPr>
          <p:cNvPr id="16" name="Title 1"/>
          <p:cNvSpPr txBox="1">
            <a:spLocks/>
          </p:cNvSpPr>
          <p:nvPr/>
        </p:nvSpPr>
        <p:spPr>
          <a:xfrm>
            <a:off x="390530" y="357453"/>
            <a:ext cx="3141143" cy="577135"/>
          </a:xfrm>
          <a:prstGeom prst="rect">
            <a:avLst/>
          </a:prstGeom>
        </p:spPr>
        <p:txBody>
          <a:bodyPr vert="horz" lIns="91440" tIns="45720" rIns="91440" bIns="45720" rtlCol="0" anchor="t">
            <a:normAutofit fontScale="77500" lnSpcReduction="20000"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000" b="0" i="0" kern="1200" cap="none" baseline="0">
                <a:solidFill>
                  <a:schemeClr val="tx1"/>
                </a:solidFill>
                <a:latin typeface="Georgia"/>
                <a:ea typeface="+mj-ea"/>
                <a:cs typeface="Georgia"/>
              </a:defRPr>
            </a:lvl1pPr>
          </a:lstStyle>
          <a:p>
            <a:pPr algn="l"/>
            <a:r>
              <a:rPr lang="en-GB" sz="2800" dirty="0" smtClean="0">
                <a:solidFill>
                  <a:schemeClr val="bg1"/>
                </a:solidFill>
              </a:rPr>
              <a:t>Meanwhile in Wales…</a:t>
            </a:r>
            <a:endParaRPr lang="en-US" sz="2800" dirty="0">
              <a:solidFill>
                <a:schemeClr val="bg1"/>
              </a:solidFill>
            </a:endParaRPr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62931" y="4374332"/>
            <a:ext cx="768592" cy="768592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62930" y="4374332"/>
            <a:ext cx="768594" cy="768592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336885" y="4622271"/>
            <a:ext cx="268807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 smtClean="0">
                <a:solidFill>
                  <a:srgbClr val="006778"/>
                </a:solidFill>
                <a:latin typeface="Georgia"/>
                <a:cs typeface="Georgia"/>
              </a:rPr>
              <a:t>Changes to AS and A levels in Wales</a:t>
            </a:r>
            <a:endParaRPr lang="en-US" sz="1200" dirty="0">
              <a:solidFill>
                <a:srgbClr val="006778"/>
              </a:solidFill>
              <a:latin typeface="Georgia"/>
              <a:cs typeface="Georgia"/>
            </a:endParaRPr>
          </a:p>
        </p:txBody>
      </p:sp>
    </p:spTree>
    <p:extLst>
      <p:ext uri="{BB962C8B-B14F-4D97-AF65-F5344CB8AC3E}">
        <p14:creationId xmlns:p14="http://schemas.microsoft.com/office/powerpoint/2010/main" val="292580211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E11669BE8EA7224F84B2B5C744F280BA" ma:contentTypeVersion="2" ma:contentTypeDescription="Create a new document." ma:contentTypeScope="" ma:versionID="6271ad216d02ed4726df3426a4b8d667">
  <xsd:schema xmlns:xsd="http://www.w3.org/2001/XMLSchema" xmlns:xs="http://www.w3.org/2001/XMLSchema" xmlns:p="http://schemas.microsoft.com/office/2006/metadata/properties" xmlns:ns2="2ab0671a-dafe-4252-9a2d-9df8d820bf47" targetNamespace="http://schemas.microsoft.com/office/2006/metadata/properties" ma:root="true" ma:fieldsID="e12142958e9c408000d6e1feaa00f782" ns2:_="">
    <xsd:import namespace="2ab0671a-dafe-4252-9a2d-9df8d820bf47"/>
    <xsd:element name="properties">
      <xsd:complexType>
        <xsd:sequence>
          <xsd:element name="documentManagement">
            <xsd:complexType>
              <xsd:all>
                <xsd:element ref="ns2:SharedWithUsers" minOccurs="0"/>
                <xsd:element ref="ns2:SharedWithDetail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ab0671a-dafe-4252-9a2d-9df8d820bf47" elementFormDefault="qualified">
    <xsd:import namespace="http://schemas.microsoft.com/office/2006/documentManagement/types"/>
    <xsd:import namespace="http://schemas.microsoft.com/office/infopath/2007/PartnerControls"/>
    <xsd:element name="SharedWithUsers" ma:index="8" nillable="true" ma:displayName="Shared With" ma:description="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9" nillable="true" ma:displayName="Shared With Details" ma:description="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EFE01DAF-CB8B-4534-9FFE-A63C9CFFAB3E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2ab0671a-dafe-4252-9a2d-9df8d820bf47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662B4034-D111-464B-8797-C915C202E9F3}">
  <ds:schemaRefs>
    <ds:schemaRef ds:uri="2ab0671a-dafe-4252-9a2d-9df8d820bf47"/>
    <ds:schemaRef ds:uri="http://purl.org/dc/elements/1.1/"/>
    <ds:schemaRef ds:uri="http://schemas.microsoft.com/office/2006/metadata/properties"/>
    <ds:schemaRef ds:uri="http://purl.org/dc/terms/"/>
    <ds:schemaRef ds:uri="http://schemas.openxmlformats.org/package/2006/metadata/core-properties"/>
    <ds:schemaRef ds:uri="http://schemas.microsoft.com/office/2006/documentManagement/types"/>
    <ds:schemaRef ds:uri="http://purl.org/dc/dcmitype/"/>
    <ds:schemaRef ds:uri="http://schemas.microsoft.com/office/infopath/2007/PartnerControls"/>
    <ds:schemaRef ds:uri="http://www.w3.org/XML/1998/namespace"/>
  </ds:schemaRefs>
</ds:datastoreItem>
</file>

<file path=customXml/itemProps3.xml><?xml version="1.0" encoding="utf-8"?>
<ds:datastoreItem xmlns:ds="http://schemas.openxmlformats.org/officeDocument/2006/customXml" ds:itemID="{83F99066-64A2-4778-AA35-A3D3C8937A91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359</TotalTime>
  <Words>126</Words>
  <Application>Microsoft Office PowerPoint</Application>
  <PresentationFormat>Custom</PresentationFormat>
  <Paragraphs>11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7" baseType="lpstr">
      <vt:lpstr>Arial</vt:lpstr>
      <vt:lpstr>Calibri</vt:lpstr>
      <vt:lpstr>Georgia</vt:lpstr>
      <vt:lpstr>Office Theme</vt:lpstr>
      <vt:lpstr>PowerPoint Presentation</vt:lpstr>
      <vt:lpstr>PowerPoint Presentation</vt:lpstr>
      <vt:lpstr>PowerPoint Presentation</vt:lpstr>
    </vt:vector>
  </TitlesOfParts>
  <Company>Peter Gill &amp; Associates</Company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pga</dc:creator>
  <cp:lastModifiedBy>Hannah Bradley</cp:lastModifiedBy>
  <cp:revision>20</cp:revision>
  <dcterms:created xsi:type="dcterms:W3CDTF">2015-02-22T19:58:34Z</dcterms:created>
  <dcterms:modified xsi:type="dcterms:W3CDTF">2016-03-07T12:19:02Z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hecked by">
    <vt:lpwstr>32123</vt:lpwstr>
  </property>
  <property fmtid="{D5CDD505-2E9C-101B-9397-08002B2CF9AE}" pid="3" name="Objective-Id">
    <vt:lpwstr>A9998125</vt:lpwstr>
  </property>
  <property fmtid="{D5CDD505-2E9C-101B-9397-08002B2CF9AE}" pid="4" name="Objective-Title">
    <vt:lpwstr>QW template february 2015 - final</vt:lpwstr>
  </property>
  <property fmtid="{D5CDD505-2E9C-101B-9397-08002B2CF9AE}" pid="5" name="Objective-Comment">
    <vt:lpwstr/>
  </property>
  <property fmtid="{D5CDD505-2E9C-101B-9397-08002B2CF9AE}" pid="6" name="Objective-CreationStamp">
    <vt:filetime>2015-02-11T09:47:55Z</vt:filetime>
  </property>
  <property fmtid="{D5CDD505-2E9C-101B-9397-08002B2CF9AE}" pid="7" name="Objective-IsApproved">
    <vt:bool>false</vt:bool>
  </property>
  <property fmtid="{D5CDD505-2E9C-101B-9397-08002B2CF9AE}" pid="8" name="Objective-IsPublished">
    <vt:bool>false</vt:bool>
  </property>
  <property fmtid="{D5CDD505-2E9C-101B-9397-08002B2CF9AE}" pid="9" name="Objective-DatePublished">
    <vt:lpwstr/>
  </property>
  <property fmtid="{D5CDD505-2E9C-101B-9397-08002B2CF9AE}" pid="10" name="Objective-ModificationStamp">
    <vt:filetime>2015-07-23T10:29:08Z</vt:filetime>
  </property>
  <property fmtid="{D5CDD505-2E9C-101B-9397-08002B2CF9AE}" pid="11" name="Objective-Owner">
    <vt:lpwstr>Davies, Rhys (hf\DaviesR17)</vt:lpwstr>
  </property>
  <property fmtid="{D5CDD505-2E9C-101B-9397-08002B2CF9AE}" pid="12" name="Objective-Path">
    <vt:lpwstr>Objective Global Folder:Corporate File Plan:COMMUNICATION, PUBLICATIONS &amp; PROMOTIONS:Communication Management:Communication Management - Non EU Funded:Qualifications and Regulation Division - Review of Qualifications Implementation Branch - Stakeholder an</vt:lpwstr>
  </property>
  <property fmtid="{D5CDD505-2E9C-101B-9397-08002B2CF9AE}" pid="13" name="Objective-Parent">
    <vt:lpwstr>Logo transfer to QW</vt:lpwstr>
  </property>
  <property fmtid="{D5CDD505-2E9C-101B-9397-08002B2CF9AE}" pid="14" name="Objective-State">
    <vt:lpwstr>Being Drafted</vt:lpwstr>
  </property>
  <property fmtid="{D5CDD505-2E9C-101B-9397-08002B2CF9AE}" pid="15" name="Objective-Version">
    <vt:lpwstr>1.1</vt:lpwstr>
  </property>
  <property fmtid="{D5CDD505-2E9C-101B-9397-08002B2CF9AE}" pid="16" name="Objective-VersionNumber">
    <vt:r8>3</vt:r8>
  </property>
  <property fmtid="{D5CDD505-2E9C-101B-9397-08002B2CF9AE}" pid="17" name="Objective-VersionComment">
    <vt:lpwstr/>
  </property>
  <property fmtid="{D5CDD505-2E9C-101B-9397-08002B2CF9AE}" pid="18" name="Objective-FileNumber">
    <vt:lpwstr/>
  </property>
  <property fmtid="{D5CDD505-2E9C-101B-9397-08002B2CF9AE}" pid="19" name="Objective-Classification">
    <vt:lpwstr>[Inherited - Official - Sensitive]</vt:lpwstr>
  </property>
  <property fmtid="{D5CDD505-2E9C-101B-9397-08002B2CF9AE}" pid="20" name="Objective-Caveats">
    <vt:lpwstr/>
  </property>
  <property fmtid="{D5CDD505-2E9C-101B-9397-08002B2CF9AE}" pid="21" name="Objective-Language [system]">
    <vt:lpwstr>English (eng)</vt:lpwstr>
  </property>
  <property fmtid="{D5CDD505-2E9C-101B-9397-08002B2CF9AE}" pid="22" name="Objective-Date Acquired [system]">
    <vt:filetime>2015-02-10T23:00:00Z</vt:filetime>
  </property>
  <property fmtid="{D5CDD505-2E9C-101B-9397-08002B2CF9AE}" pid="23" name="Objective-What to Keep [system]">
    <vt:lpwstr>No</vt:lpwstr>
  </property>
  <property fmtid="{D5CDD505-2E9C-101B-9397-08002B2CF9AE}" pid="24" name="Objective-Official Translation [system]">
    <vt:lpwstr/>
  </property>
  <property fmtid="{D5CDD505-2E9C-101B-9397-08002B2CF9AE}" pid="25" name="ContentTypeId">
    <vt:lpwstr>0x010100E11669BE8EA7224F84B2B5C744F280BA</vt:lpwstr>
  </property>
</Properties>
</file>