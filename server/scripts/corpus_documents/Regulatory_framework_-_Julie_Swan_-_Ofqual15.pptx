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</p:sldMasterIdLst>
  <p:notesMasterIdLst>
    <p:notesMasterId r:id="rId21"/>
  </p:notesMasterIdLst>
  <p:sldIdLst>
    <p:sldId id="273" r:id="rId6"/>
    <p:sldId id="277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558F"/>
    <a:srgbClr val="0079BC"/>
    <a:srgbClr val="83B81A"/>
    <a:srgbClr val="F18E00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73" autoAdjust="0"/>
    <p:restoredTop sz="95714"/>
  </p:normalViewPr>
  <p:slideViewPr>
    <p:cSldViewPr>
      <p:cViewPr varScale="1">
        <p:scale>
          <a:sx n="84" d="100"/>
          <a:sy n="84" d="100"/>
        </p:scale>
        <p:origin x="200" y="26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4567" cy="6882431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Vocational qualifications – Click to add title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50" y="0"/>
            <a:ext cx="12209850" cy="687414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2479" y="3121608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A0558F"/>
              </a:buClr>
              <a:buFont typeface="Wingdings" charset="2"/>
              <a:buChar char="§"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A0558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A0558F"/>
        </a:buClr>
        <a:buFont typeface="Wingdings" charset="2"/>
        <a:buChar char="§"/>
        <a:defRPr sz="2400" b="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5000"/>
        </a:spcBef>
        <a:spcAft>
          <a:spcPct val="5000"/>
        </a:spcAft>
        <a:buClr>
          <a:srgbClr val="A0558F"/>
        </a:buClr>
        <a:buFont typeface="Arial" charset="0"/>
        <a:buChar char="•"/>
        <a:defRPr sz="2400">
          <a:solidFill>
            <a:srgbClr val="4D4D4D"/>
          </a:solidFill>
          <a:latin typeface="+mn-lt"/>
        </a:defRPr>
      </a:lvl2pPr>
      <a:lvl3pPr marL="285750" indent="-285750" algn="l" rtl="0" eaLnBrk="0" fontAlgn="base" hangingPunct="0">
        <a:spcBef>
          <a:spcPct val="30000"/>
        </a:spcBef>
        <a:spcAft>
          <a:spcPct val="5000"/>
        </a:spcAft>
        <a:buClr>
          <a:srgbClr val="A0558F"/>
        </a:buClr>
        <a:buFont typeface="Wingdings 2" panose="05020102010507070707" pitchFamily="18" charset="2"/>
        <a:buChar char=""/>
        <a:defRPr sz="2400" b="1">
          <a:solidFill>
            <a:srgbClr val="4D4D4D"/>
          </a:solidFill>
          <a:latin typeface="+mn-lt"/>
        </a:defRPr>
      </a:lvl3pPr>
      <a:lvl4pPr marL="571500" indent="-285750" algn="l" rtl="0" eaLnBrk="0" fontAlgn="base" hangingPunct="0">
        <a:spcBef>
          <a:spcPct val="5000"/>
        </a:spcBef>
        <a:spcAft>
          <a:spcPct val="5000"/>
        </a:spcAft>
        <a:buChar char="–"/>
        <a:defRPr sz="2400">
          <a:solidFill>
            <a:srgbClr val="4D4D4D"/>
          </a:solidFill>
          <a:latin typeface="+mn-lt"/>
        </a:defRPr>
      </a:lvl4pPr>
      <a:lvl5pPr marL="571500" indent="800100" algn="l" rtl="0" eaLnBrk="0" fontAlgn="base" hangingPunct="0">
        <a:spcBef>
          <a:spcPct val="5000"/>
        </a:spcBef>
        <a:spcAft>
          <a:spcPct val="5000"/>
        </a:spcAft>
        <a:buChar char="»"/>
        <a:defRPr sz="24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ov.uk/government/consultations/ofqual-consultation-on-new-statutory-guidanc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0" y="3645024"/>
            <a:ext cx="11090324" cy="503237"/>
          </a:xfrm>
        </p:spPr>
        <p:txBody>
          <a:bodyPr/>
          <a:lstStyle/>
          <a:p>
            <a:r>
              <a:rPr lang="en-GB" dirty="0" smtClean="0"/>
              <a:t>Regulatory framework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0" y="4509120"/>
            <a:ext cx="10370244" cy="625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Julie </a:t>
            </a:r>
            <a:r>
              <a:rPr lang="en-US" dirty="0" smtClean="0"/>
              <a:t>Swan</a:t>
            </a:r>
          </a:p>
          <a:p>
            <a:pPr marL="0" indent="0">
              <a:buNone/>
            </a:pPr>
            <a:r>
              <a:rPr lang="en-US" dirty="0" smtClean="0"/>
              <a:t>Associate Director, </a:t>
            </a:r>
            <a:r>
              <a:rPr lang="en-US" dirty="0"/>
              <a:t>Regulatory Policy and </a:t>
            </a:r>
            <a:r>
              <a:rPr lang="en-US" dirty="0" smtClean="0"/>
              <a:t>Vocational</a:t>
            </a:r>
          </a:p>
          <a:p>
            <a:pPr marL="0" indent="0">
              <a:buNone/>
            </a:pPr>
            <a:r>
              <a:rPr lang="en-US" dirty="0" smtClean="0"/>
              <a:t>Qualification </a:t>
            </a:r>
            <a:r>
              <a:rPr lang="en-US" dirty="0"/>
              <a:t>Policy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73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Aim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b="0" dirty="0" smtClean="0"/>
              <a:t>To develop your:</a:t>
            </a:r>
          </a:p>
          <a:p>
            <a:pPr marL="0"/>
            <a:endParaRPr lang="en-GB" altLang="en-US" b="0" dirty="0" smtClean="0"/>
          </a:p>
          <a:p>
            <a:r>
              <a:rPr lang="en-GB" altLang="en-US" b="0" dirty="0"/>
              <a:t>understanding of the regulatory framework </a:t>
            </a:r>
            <a:endParaRPr lang="en-GB" altLang="en-US" b="0" dirty="0" smtClean="0"/>
          </a:p>
          <a:p>
            <a:r>
              <a:rPr lang="en-GB" altLang="en-US" b="0" dirty="0" smtClean="0"/>
              <a:t>confidence </a:t>
            </a:r>
            <a:r>
              <a:rPr lang="en-GB" altLang="en-US" b="0" dirty="0"/>
              <a:t>when using our regulatory </a:t>
            </a:r>
            <a:r>
              <a:rPr lang="en-GB" altLang="en-US" b="0" dirty="0" smtClean="0"/>
              <a:t>documents</a:t>
            </a:r>
          </a:p>
          <a:p>
            <a:r>
              <a:rPr lang="en-GB" altLang="en-US" b="0" dirty="0" smtClean="0"/>
              <a:t>ability </a:t>
            </a:r>
            <a:r>
              <a:rPr lang="en-GB" altLang="en-US" b="0" dirty="0"/>
              <a:t>to explain the regulatory requirements to your colleagues</a:t>
            </a:r>
          </a:p>
          <a:p>
            <a:endParaRPr lang="en-GB" altLang="en-US" b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771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Apprenticeship, Skills, Children and Learning Act (2009)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 smtClean="0"/>
              <a:t>The Act gives Ofqual:</a:t>
            </a:r>
          </a:p>
          <a:p>
            <a:endParaRPr lang="en-US" b="0" dirty="0" smtClean="0"/>
          </a:p>
          <a:p>
            <a:r>
              <a:rPr lang="en-US" b="0" dirty="0" smtClean="0"/>
              <a:t>Statutory objectives</a:t>
            </a:r>
          </a:p>
          <a:p>
            <a:r>
              <a:rPr lang="en-US" b="0" dirty="0" smtClean="0"/>
              <a:t>Duties</a:t>
            </a:r>
          </a:p>
          <a:p>
            <a:r>
              <a:rPr lang="en-US" b="0" dirty="0" smtClean="0"/>
              <a:t>Powers</a:t>
            </a:r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189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Requires us to set </a:t>
            </a:r>
            <a:r>
              <a:rPr lang="en-US" b="0" dirty="0" smtClean="0"/>
              <a:t>conditions</a:t>
            </a:r>
            <a:endParaRPr lang="en-US" b="0" dirty="0"/>
          </a:p>
          <a:p>
            <a:r>
              <a:rPr lang="en-US" b="0" dirty="0"/>
              <a:t>Requires awarding </a:t>
            </a:r>
            <a:r>
              <a:rPr lang="en-US" b="0" dirty="0" err="1"/>
              <a:t>organisations</a:t>
            </a:r>
            <a:r>
              <a:rPr lang="en-US" b="0" dirty="0"/>
              <a:t> to comply with those </a:t>
            </a:r>
            <a:r>
              <a:rPr lang="en-US" b="0" dirty="0" smtClean="0"/>
              <a:t>conditions</a:t>
            </a:r>
            <a:endParaRPr lang="en-US" b="0" dirty="0"/>
          </a:p>
          <a:p>
            <a:r>
              <a:rPr lang="en-US" b="0" dirty="0"/>
              <a:t>Requires awarding </a:t>
            </a:r>
            <a:r>
              <a:rPr lang="en-US" b="0" dirty="0" err="1"/>
              <a:t>organisations</a:t>
            </a:r>
            <a:r>
              <a:rPr lang="en-US" b="0" dirty="0"/>
              <a:t> to have regard to our guidance </a:t>
            </a:r>
          </a:p>
          <a:p>
            <a:r>
              <a:rPr lang="en-US" b="0" dirty="0"/>
              <a:t>Enables us to take regulatory action against an awarding organisation that is in breach of a condition – or in some cases is likely to breach a condition </a:t>
            </a:r>
          </a:p>
          <a:p>
            <a:pPr marL="342900" indent="-342900">
              <a:buFont typeface="Arial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1945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Act defines ‘regulated qualification’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438282"/>
            <a:ext cx="10972800" cy="4943046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To be </a:t>
            </a:r>
            <a:r>
              <a:rPr lang="en-US" b="0" dirty="0" smtClean="0"/>
              <a:t>regulated a qualification must:</a:t>
            </a:r>
          </a:p>
          <a:p>
            <a:r>
              <a:rPr lang="en-US" b="0" dirty="0" smtClean="0"/>
              <a:t>be </a:t>
            </a:r>
            <a:r>
              <a:rPr lang="en-US" b="0" dirty="0"/>
              <a:t>awarded by an organisation that has been </a:t>
            </a:r>
            <a:r>
              <a:rPr lang="en-US" b="0" dirty="0" err="1"/>
              <a:t>recognised</a:t>
            </a:r>
            <a:r>
              <a:rPr lang="en-US" b="0" dirty="0"/>
              <a:t> by us to award the </a:t>
            </a:r>
            <a:r>
              <a:rPr lang="en-US" b="0" dirty="0" smtClean="0"/>
              <a:t>qualification</a:t>
            </a:r>
          </a:p>
          <a:p>
            <a:r>
              <a:rPr lang="en-US" b="0" dirty="0" smtClean="0"/>
              <a:t>have </a:t>
            </a:r>
            <a:r>
              <a:rPr lang="en-US" b="0" dirty="0"/>
              <a:t>some learners who are assessed for the qualification mainly or part in England or Northern Ireland for vocational qualifications 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A qualification:</a:t>
            </a:r>
          </a:p>
          <a:p>
            <a:r>
              <a:rPr lang="en-US" b="0" dirty="0"/>
              <a:t>remains regulated when it is taken </a:t>
            </a:r>
            <a:r>
              <a:rPr lang="en-US" b="0" dirty="0" smtClean="0"/>
              <a:t>elsewhere (subject to provisions in Wales)</a:t>
            </a:r>
          </a:p>
          <a:p>
            <a:r>
              <a:rPr lang="en-US" b="0" dirty="0" smtClean="0"/>
              <a:t>cannot </a:t>
            </a:r>
            <a:r>
              <a:rPr lang="en-US" b="0" dirty="0"/>
              <a:t>be a regulated qualification if there are no learners taking their assessments for it, either mainly or in part, in England or </a:t>
            </a:r>
            <a:r>
              <a:rPr lang="en-US" b="0" dirty="0" smtClean="0"/>
              <a:t>Northern Ireland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590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Conditions of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First published in 2011 and updated </a:t>
            </a:r>
            <a:r>
              <a:rPr lang="en-US" b="0" dirty="0" smtClean="0"/>
              <a:t>since</a:t>
            </a:r>
          </a:p>
          <a:p>
            <a:r>
              <a:rPr lang="en-US" b="0" dirty="0" smtClean="0"/>
              <a:t>Apply </a:t>
            </a:r>
            <a:r>
              <a:rPr lang="en-US" b="0" dirty="0"/>
              <a:t>to all awarding </a:t>
            </a:r>
            <a:r>
              <a:rPr lang="en-US" b="0" dirty="0" err="1"/>
              <a:t>organisations</a:t>
            </a:r>
            <a:r>
              <a:rPr lang="en-US" b="0" dirty="0"/>
              <a:t> and all regulated </a:t>
            </a:r>
            <a:r>
              <a:rPr lang="en-US" b="0" dirty="0" smtClean="0"/>
              <a:t>qualifications</a:t>
            </a:r>
            <a:endParaRPr lang="en-US" b="0" dirty="0"/>
          </a:p>
          <a:p>
            <a:r>
              <a:rPr lang="en-US" b="0" dirty="0"/>
              <a:t>Awarding </a:t>
            </a:r>
            <a:r>
              <a:rPr lang="en-US" b="0" dirty="0" err="1"/>
              <a:t>organisations</a:t>
            </a:r>
            <a:r>
              <a:rPr lang="en-US" b="0" dirty="0"/>
              <a:t> </a:t>
            </a:r>
            <a:r>
              <a:rPr lang="en-US" dirty="0"/>
              <a:t>must comply</a:t>
            </a:r>
            <a:r>
              <a:rPr lang="en-US" b="0" dirty="0"/>
              <a:t> with the </a:t>
            </a:r>
            <a:r>
              <a:rPr lang="en-US" b="0" dirty="0" smtClean="0"/>
              <a:t>Conditions</a:t>
            </a: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In two parts</a:t>
            </a:r>
            <a:r>
              <a:rPr lang="en-US" b="0" dirty="0" smtClean="0"/>
              <a:t>:</a:t>
            </a:r>
            <a:endParaRPr lang="en-US" b="0" dirty="0"/>
          </a:p>
          <a:p>
            <a:r>
              <a:rPr lang="en-US" b="0" dirty="0"/>
              <a:t>Part 1 – the awarding organisation</a:t>
            </a:r>
          </a:p>
          <a:p>
            <a:r>
              <a:rPr lang="en-US" b="0" dirty="0"/>
              <a:t>Part 2 – the regulated </a:t>
            </a:r>
            <a:r>
              <a:rPr lang="en-US" b="0" dirty="0" smtClean="0"/>
              <a:t>qualification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4484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General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Mainly focus on the outcomes an awarding organisation must secure</a:t>
            </a:r>
          </a:p>
          <a:p>
            <a:endParaRPr lang="en-US" b="0" dirty="0"/>
          </a:p>
          <a:p>
            <a:r>
              <a:rPr lang="en-US" b="0" dirty="0"/>
              <a:t>Do not prescribe how an awarding organisation must work</a:t>
            </a:r>
          </a:p>
          <a:p>
            <a:pPr marL="342900" indent="-342900">
              <a:buFont typeface="Arial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7095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Qualification and subject level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For some qualifications awarding </a:t>
            </a:r>
            <a:r>
              <a:rPr lang="en-US" b="0" dirty="0" err="1"/>
              <a:t>organisations</a:t>
            </a:r>
            <a:r>
              <a:rPr lang="en-US" b="0" dirty="0"/>
              <a:t> must also comply with qualification level conditions and, for some, subject level conditions</a:t>
            </a:r>
          </a:p>
          <a:p>
            <a:pPr marL="23813" indent="-23813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1679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Awarding </a:t>
            </a:r>
            <a:r>
              <a:rPr lang="en-US" b="0" dirty="0" err="1"/>
              <a:t>organisations</a:t>
            </a:r>
            <a:r>
              <a:rPr lang="en-US" b="0" dirty="0"/>
              <a:t> </a:t>
            </a:r>
            <a:r>
              <a:rPr lang="en-US" dirty="0"/>
              <a:t>must have regard to </a:t>
            </a:r>
            <a:r>
              <a:rPr lang="en-US" b="0" dirty="0"/>
              <a:t>our guidance</a:t>
            </a:r>
          </a:p>
          <a:p>
            <a:endParaRPr lang="en-US" b="0" dirty="0"/>
          </a:p>
          <a:p>
            <a:r>
              <a:rPr lang="en-US" b="0" dirty="0"/>
              <a:t>Most of our guidance illustrates </a:t>
            </a:r>
            <a:r>
              <a:rPr lang="en-US" b="0" dirty="0" err="1"/>
              <a:t>behaviours</a:t>
            </a:r>
            <a:r>
              <a:rPr lang="en-US" b="0" dirty="0"/>
              <a:t> or outcomes that would indicate an awarding organisation is or is not complying with a condition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335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and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/>
              <a:t>Requirements with which awarding </a:t>
            </a:r>
            <a:r>
              <a:rPr lang="en-US" b="0" dirty="0" err="1"/>
              <a:t>organisations</a:t>
            </a:r>
            <a:r>
              <a:rPr lang="en-US" b="0" dirty="0"/>
              <a:t> must also comply: </a:t>
            </a:r>
          </a:p>
          <a:p>
            <a:r>
              <a:rPr lang="en-US" b="0" dirty="0"/>
              <a:t>Qualification and component levels </a:t>
            </a:r>
          </a:p>
          <a:p>
            <a:r>
              <a:rPr lang="en-US" b="0" dirty="0"/>
              <a:t>Certificate requirements</a:t>
            </a:r>
          </a:p>
          <a:p>
            <a:r>
              <a:rPr lang="en-US" b="0" dirty="0"/>
              <a:t>Using the Ofqual logo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Criteria: </a:t>
            </a:r>
          </a:p>
          <a:p>
            <a:r>
              <a:rPr lang="en-US" b="0" dirty="0"/>
              <a:t>Recognition criteria</a:t>
            </a:r>
          </a:p>
          <a:p>
            <a:r>
              <a:rPr lang="en-US" b="0" dirty="0"/>
              <a:t>Accreditation criteria</a:t>
            </a:r>
          </a:p>
          <a:p>
            <a:r>
              <a:rPr lang="en-US" b="0" dirty="0"/>
              <a:t>Total Qualification Time criteria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50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We may introduce new conditions to address specific issues</a:t>
            </a:r>
          </a:p>
          <a:p>
            <a:endParaRPr lang="en-US" b="0" dirty="0"/>
          </a:p>
          <a:p>
            <a:r>
              <a:rPr lang="en-US" b="0" dirty="0"/>
              <a:t>We assess the impact of doing so </a:t>
            </a:r>
          </a:p>
          <a:p>
            <a:endParaRPr lang="en-US" b="0" dirty="0"/>
          </a:p>
          <a:p>
            <a:r>
              <a:rPr lang="en-US" b="0" dirty="0"/>
              <a:t>We consult</a:t>
            </a:r>
          </a:p>
          <a:p>
            <a:endParaRPr lang="en-US" b="0" dirty="0"/>
          </a:p>
          <a:p>
            <a:r>
              <a:rPr lang="en-US" b="0" dirty="0"/>
              <a:t>New conditions can be subject to a sunrise provision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1519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We consulted awarding </a:t>
            </a:r>
            <a:r>
              <a:rPr lang="en-US" b="0" dirty="0" err="1"/>
              <a:t>organisations</a:t>
            </a:r>
            <a:r>
              <a:rPr lang="en-US" b="0" dirty="0"/>
              <a:t> on the style of guidance they would prefer</a:t>
            </a:r>
          </a:p>
          <a:p>
            <a:endParaRPr lang="en-US" b="0" dirty="0"/>
          </a:p>
          <a:p>
            <a:r>
              <a:rPr lang="en-US" b="0" dirty="0"/>
              <a:t>We have sought views on the conditions for which awarding </a:t>
            </a:r>
            <a:r>
              <a:rPr lang="en-US" b="0" dirty="0" err="1"/>
              <a:t>organisations</a:t>
            </a:r>
            <a:r>
              <a:rPr lang="en-US" b="0" dirty="0"/>
              <a:t> believe there is the most need for guidance</a:t>
            </a:r>
          </a:p>
          <a:p>
            <a:endParaRPr lang="en-US" b="0" dirty="0"/>
          </a:p>
          <a:p>
            <a:r>
              <a:rPr lang="en-US" b="0" dirty="0"/>
              <a:t>We have held workshops on draft guidance</a:t>
            </a:r>
          </a:p>
          <a:p>
            <a:endParaRPr lang="en-US" b="0" dirty="0"/>
          </a:p>
          <a:p>
            <a:r>
              <a:rPr lang="en-US" b="0" dirty="0" smtClean="0">
                <a:hlinkClick r:id="rId2"/>
              </a:rPr>
              <a:t>Consultation published 7 December </a:t>
            </a:r>
            <a:r>
              <a:rPr lang="en-US" b="0" dirty="0" smtClean="0"/>
              <a:t>- please </a:t>
            </a:r>
            <a:r>
              <a:rPr lang="en-US" b="0" dirty="0"/>
              <a:t>see our guidance </a:t>
            </a:r>
            <a:r>
              <a:rPr lang="en-US" b="0" dirty="0" smtClean="0"/>
              <a:t>stand outside</a:t>
            </a:r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00191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regulatory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Sets out our enforcement powers and the factors we take into account when deciding whether to use them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807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791934"/>
          </a:xfrm>
        </p:spPr>
        <p:txBody>
          <a:bodyPr/>
          <a:lstStyle/>
          <a:p>
            <a:r>
              <a:rPr lang="en-US"/>
              <a:t>Some points to note in the General Conditions of Recognition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556792"/>
            <a:ext cx="10972800" cy="4380465"/>
          </a:xfrm>
        </p:spPr>
        <p:txBody>
          <a:bodyPr/>
          <a:lstStyle/>
          <a:p>
            <a:r>
              <a:rPr lang="en-US" b="0" dirty="0"/>
              <a:t>Interpretation and definitions – section </a:t>
            </a:r>
            <a:r>
              <a:rPr lang="en-US" b="0" dirty="0" smtClean="0"/>
              <a:t>J</a:t>
            </a:r>
          </a:p>
          <a:p>
            <a:endParaRPr lang="en-US" b="0" dirty="0"/>
          </a:p>
          <a:p>
            <a:r>
              <a:rPr lang="en-US" b="0" dirty="0"/>
              <a:t>Defined terms </a:t>
            </a:r>
            <a:r>
              <a:rPr lang="en-US" b="0" dirty="0" smtClean="0"/>
              <a:t>start </a:t>
            </a:r>
            <a:r>
              <a:rPr lang="en-US" b="0" dirty="0"/>
              <a:t>with an upper case letter, </a:t>
            </a:r>
            <a:r>
              <a:rPr lang="en-US" b="0" dirty="0" err="1"/>
              <a:t>eg</a:t>
            </a:r>
            <a:r>
              <a:rPr lang="en-US" b="0" dirty="0"/>
              <a:t> Adverse Effect</a:t>
            </a:r>
          </a:p>
          <a:p>
            <a:endParaRPr lang="en-US" b="0" dirty="0"/>
          </a:p>
          <a:p>
            <a:r>
              <a:rPr lang="en-US" b="0" dirty="0"/>
              <a:t>Condition B2  - The annual statement to Ofqual</a:t>
            </a:r>
          </a:p>
          <a:p>
            <a:endParaRPr lang="en-US" b="0" dirty="0"/>
          </a:p>
          <a:p>
            <a:r>
              <a:rPr lang="en-US" b="0" dirty="0"/>
              <a:t>Condition B3 – Notification to Ofqual of certain events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7161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Questions from the audience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066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84FD12CC-BE13-4DB2-97FB-1B4804DD32B4}">
  <ds:schemaRefs>
    <ds:schemaRef ds:uri="http://schemas.openxmlformats.org/package/2006/metadata/core-properties"/>
    <ds:schemaRef ds:uri="http://schemas.microsoft.com/office/2006/documentManagement/types"/>
    <ds:schemaRef ds:uri="45150501-b37d-4b37-b0a0-512a8dbac82e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519</TotalTime>
  <Words>507</Words>
  <Application>Microsoft Macintosh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Wingdings</vt:lpstr>
      <vt:lpstr>Wingdings 2</vt:lpstr>
      <vt:lpstr>Arial</vt:lpstr>
      <vt:lpstr>1_Ofqual vocational qualifications</vt:lpstr>
      <vt:lpstr>Regulatory framework</vt:lpstr>
      <vt:lpstr>Aim</vt:lpstr>
      <vt:lpstr>Apprenticeship, Skills, Children and Learning Act (2009)</vt:lpstr>
      <vt:lpstr>The Act</vt:lpstr>
      <vt:lpstr>The Act defines ‘regulated qualification’</vt:lpstr>
      <vt:lpstr>General Conditions of Recognition</vt:lpstr>
      <vt:lpstr>The General Conditions</vt:lpstr>
      <vt:lpstr>Qualification and subject level conditions</vt:lpstr>
      <vt:lpstr>Guidance</vt:lpstr>
      <vt:lpstr>Requirements and criteria</vt:lpstr>
      <vt:lpstr>Developing conditions</vt:lpstr>
      <vt:lpstr>Developing guidance</vt:lpstr>
      <vt:lpstr>Taking regulatory action</vt:lpstr>
      <vt:lpstr>Some points to note in the General Conditions of Recognition </vt:lpstr>
      <vt:lpstr>Questions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Philip McAllister</cp:lastModifiedBy>
  <cp:revision>46</cp:revision>
  <dcterms:created xsi:type="dcterms:W3CDTF">2015-09-11T10:33:37Z</dcterms:created>
  <dcterms:modified xsi:type="dcterms:W3CDTF">2015-12-07T12:45:29Z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