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4" r:id="rId2"/>
    <p:sldId id="257" r:id="rId3"/>
    <p:sldId id="260" r:id="rId4"/>
    <p:sldId id="261" r:id="rId5"/>
    <p:sldId id="285" r:id="rId6"/>
    <p:sldId id="296" r:id="rId7"/>
    <p:sldId id="263" r:id="rId8"/>
    <p:sldId id="281" r:id="rId9"/>
    <p:sldId id="277" r:id="rId10"/>
    <p:sldId id="282" r:id="rId11"/>
    <p:sldId id="287" r:id="rId12"/>
    <p:sldId id="289" r:id="rId13"/>
    <p:sldId id="288" r:id="rId14"/>
    <p:sldId id="293" r:id="rId15"/>
    <p:sldId id="294" r:id="rId16"/>
    <p:sldId id="29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mc="http://schemas.openxmlformats.org/markup-compatibility/2006" xmlns:mv="urn:schemas-microsoft-com:mac:vml"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dd Sheree (GCA)" initials="DS(" lastIdx="1" clrIdx="0"/>
  <p:cmAuthor id="1" name="Christine" initials="C" lastIdx="5" clrIdx="1">
    <p:extLst/>
  </p:cmAuthor>
  <p:cmAuthor id="2" name="Sheree Dodd" initials="SD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mc="http://schemas.openxmlformats.org/markup-compatibility/2006" xmlns:mv="urn:schemas-microsoft-com:mac:vml"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86" autoAdjust="0"/>
    <p:restoredTop sz="64837" autoAdjust="0"/>
  </p:normalViewPr>
  <p:slideViewPr>
    <p:cSldViewPr snapToObjects="1">
      <p:cViewPr varScale="1">
        <p:scale>
          <a:sx n="51" d="100"/>
          <a:sy n="51" d="100"/>
        </p:scale>
        <p:origin x="-1522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20" y="249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EFD55-6C78-634D-9CBD-9BAC02D14D6C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5A3D6-0993-C947-AF15-68D743D99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89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A9071-1EA1-694E-BC9E-E5E8E1F8729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D0814-5FF4-B34F-AE85-10206C2F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8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27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Char char="§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5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D0814-5FF4-B34F-AE85-10206C2FE6F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19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2F463-BB42-47E5-801B-314F640F76E7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EC484-B671-6A4A-B756-030FB9E601D2}" type="datetimeFigureOut">
              <a:rPr lang="en-US" smtClean="0"/>
              <a:pPr/>
              <a:t>6/26/2016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3DFE-F689-A447-8CA7-999B104477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d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971801"/>
            <a:ext cx="4038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 Annual Report</a:t>
            </a:r>
          </a:p>
          <a:p>
            <a:r>
              <a:rPr lang="en-GB" sz="2800" dirty="0">
                <a:solidFill>
                  <a:schemeClr val="bg1"/>
                </a:solidFill>
              </a:rPr>
              <a:t>March 2015</a:t>
            </a:r>
          </a:p>
        </p:txBody>
      </p:sp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9696" y="5570400"/>
            <a:ext cx="2020925" cy="1143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371600" y="2602469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Working Together, Making Progress</a:t>
            </a:r>
          </a:p>
        </p:txBody>
      </p:sp>
      <p:pic>
        <p:nvPicPr>
          <p:cNvPr id="9" name="Picture 8" descr="Screen Shot 2016-06-13 at 17.13.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602469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67544" y="2362201"/>
            <a:ext cx="8590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    Achieving Progress for Suppliers: Building Fairness and Securing Change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4923466"/>
            <a:ext cx="2818421" cy="15877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59360" y="3825579"/>
            <a:ext cx="5110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        </a:t>
            </a:r>
            <a:r>
              <a:rPr lang="en-US" sz="4000" b="1" dirty="0">
                <a:solidFill>
                  <a:schemeClr val="bg1"/>
                </a:solidFill>
              </a:rPr>
              <a:t>The Year Ahead</a:t>
            </a:r>
          </a:p>
        </p:txBody>
      </p:sp>
      <p:pic>
        <p:nvPicPr>
          <p:cNvPr id="13" name="Picture 2" descr="\\op2pdrv02\users$\dodds\Desktop\twitter-bird-white-on-blue-150x150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2" y="6224184"/>
            <a:ext cx="507240" cy="41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93042" y="5860635"/>
            <a:ext cx="2946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#GCA2016</a:t>
            </a:r>
          </a:p>
        </p:txBody>
      </p:sp>
    </p:spTree>
    <p:extLst>
      <p:ext uri="{BB962C8B-B14F-4D97-AF65-F5344CB8AC3E}">
        <p14:creationId xmlns:p14="http://schemas.microsoft.com/office/powerpoint/2010/main" val="107834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Forward look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1412776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Acting on </a:t>
            </a:r>
            <a:r>
              <a:rPr lang="en-GB" dirty="0" err="1">
                <a:solidFill>
                  <a:srgbClr val="002060"/>
                </a:solidFill>
              </a:rPr>
              <a:t>YouGov</a:t>
            </a:r>
            <a:r>
              <a:rPr lang="en-GB" dirty="0">
                <a:solidFill>
                  <a:srgbClr val="002060"/>
                </a:solidFill>
              </a:rPr>
              <a:t> survey</a:t>
            </a:r>
          </a:p>
          <a:p>
            <a:r>
              <a:rPr lang="en-GB" dirty="0">
                <a:solidFill>
                  <a:srgbClr val="002060"/>
                </a:solidFill>
              </a:rPr>
              <a:t>Progressing the new Top 5 issues</a:t>
            </a:r>
          </a:p>
          <a:p>
            <a:r>
              <a:rPr lang="en-GB" dirty="0">
                <a:solidFill>
                  <a:srgbClr val="002060"/>
                </a:solidFill>
              </a:rPr>
              <a:t>Conducting better positioning consultation</a:t>
            </a:r>
          </a:p>
          <a:p>
            <a:r>
              <a:rPr lang="en-GB" dirty="0">
                <a:solidFill>
                  <a:srgbClr val="002060"/>
                </a:solidFill>
              </a:rPr>
              <a:t>Introducing a new-style levy</a:t>
            </a:r>
          </a:p>
          <a:p>
            <a:r>
              <a:rPr lang="en-GB" dirty="0">
                <a:solidFill>
                  <a:srgbClr val="002060"/>
                </a:solidFill>
              </a:rPr>
              <a:t>Co-operating with BIS review</a:t>
            </a:r>
          </a:p>
          <a:p>
            <a:r>
              <a:rPr lang="en-GB" dirty="0">
                <a:solidFill>
                  <a:srgbClr val="002060"/>
                </a:solidFill>
              </a:rPr>
              <a:t>Ready to conduct further investigations if merited</a:t>
            </a:r>
          </a:p>
          <a:p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91440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Delivered on 2015 survey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352928" cy="4237931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Increased understanding of GCA’s role and responsibilities </a:t>
            </a:r>
            <a:r>
              <a:rPr lang="en-GB" b="1" dirty="0">
                <a:solidFill>
                  <a:srgbClr val="FF0000"/>
                </a:solidFill>
                <a:sym typeface="Wingdings"/>
              </a:rPr>
              <a:t>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002060"/>
                </a:solidFill>
              </a:rPr>
              <a:t>Rise in perception among suppliers of retailers complying with the Code  </a:t>
            </a:r>
            <a:r>
              <a:rPr lang="en-GB" b="1" dirty="0">
                <a:solidFill>
                  <a:srgbClr val="FF0000"/>
                </a:solidFill>
                <a:sym typeface="Wingdings"/>
              </a:rPr>
              <a:t></a:t>
            </a:r>
            <a:endParaRPr lang="en-GB" dirty="0">
              <a:solidFill>
                <a:srgbClr val="002060"/>
              </a:solidFill>
            </a:endParaRPr>
          </a:p>
          <a:p>
            <a:r>
              <a:rPr lang="en-GB" dirty="0">
                <a:solidFill>
                  <a:srgbClr val="002060"/>
                </a:solidFill>
              </a:rPr>
              <a:t>Improvements in retailer practice </a:t>
            </a:r>
            <a:r>
              <a:rPr lang="en-GB" b="1" dirty="0" err="1">
                <a:solidFill>
                  <a:srgbClr val="FF0000"/>
                </a:solidFill>
                <a:sym typeface="Wingdings"/>
              </a:rPr>
              <a:t></a:t>
            </a:r>
            <a:endParaRPr lang="en-GB" dirty="0">
              <a:solidFill>
                <a:srgbClr val="002060"/>
              </a:solidFill>
            </a:endParaRPr>
          </a:p>
          <a:p>
            <a:r>
              <a:rPr lang="en-GB" dirty="0">
                <a:solidFill>
                  <a:srgbClr val="002060"/>
                </a:solidFill>
              </a:rPr>
              <a:t>More suppliers trained in the Code </a:t>
            </a:r>
            <a:r>
              <a:rPr lang="en-GB" b="1" dirty="0">
                <a:solidFill>
                  <a:srgbClr val="FF0000"/>
                </a:solidFill>
                <a:sym typeface="Wingdings"/>
              </a:rPr>
              <a:t></a:t>
            </a:r>
            <a:endParaRPr lang="en-GB" b="1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endParaRPr lang="en-GB" dirty="0"/>
          </a:p>
          <a:p>
            <a:pPr lvl="0"/>
            <a:endParaRPr lang="en-GB" dirty="0"/>
          </a:p>
          <a:p>
            <a:pPr lvl="1"/>
            <a:endParaRPr lang="en-GB" dirty="0"/>
          </a:p>
          <a:p>
            <a:pPr lvl="1"/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9756576" cy="1143000"/>
          </a:xfrm>
        </p:spPr>
        <p:txBody>
          <a:bodyPr>
            <a:no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</a:t>
            </a:r>
            <a:r>
              <a:rPr lang="en-GB" sz="3800" dirty="0">
                <a:solidFill>
                  <a:srgbClr val="002060"/>
                </a:solidFill>
              </a:rPr>
              <a:t>Acting on 2016 Survey 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320" y="1554559"/>
            <a:ext cx="8229600" cy="4525963"/>
          </a:xfrm>
        </p:spPr>
        <p:txBody>
          <a:bodyPr>
            <a:normAutofit/>
          </a:bodyPr>
          <a:lstStyle/>
          <a:p>
            <a:endParaRPr lang="en-GB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76320" y="1114784"/>
            <a:ext cx="3951664" cy="404240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002060"/>
                </a:solidFill>
              </a:rPr>
              <a:t>  </a:t>
            </a:r>
            <a:r>
              <a:rPr lang="en-GB" sz="2100" b="1" dirty="0">
                <a:solidFill>
                  <a:srgbClr val="002060"/>
                </a:solidFill>
              </a:rPr>
              <a:t>Overcome the fear factor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002060"/>
                </a:solidFill>
              </a:rPr>
              <a:t>Continuing concern – no change in suppliers willing to raise issues with 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002060"/>
                </a:solidFill>
              </a:rPr>
              <a:t>Investigation showed how I can keep confidentiality while making significant findings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002060"/>
                </a:solidFill>
              </a:rPr>
              <a:t>2016/17 campaign with message that suppliers must lose the fear or lose the chance of progress</a:t>
            </a:r>
            <a:endParaRPr lang="en-GB"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4846480" y="1114784"/>
            <a:ext cx="3725088" cy="404240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100" b="1" dirty="0"/>
          </a:p>
          <a:p>
            <a:pPr algn="ctr"/>
            <a:r>
              <a:rPr lang="en-GB" sz="2100" b="1" dirty="0">
                <a:solidFill>
                  <a:schemeClr val="tx2"/>
                </a:solidFill>
              </a:rPr>
              <a:t>Reach out overseas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2"/>
                </a:solidFill>
              </a:rPr>
              <a:t>Rise in number of overseas suppliers taking part in survey (8% - 16%)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2"/>
                </a:solidFill>
              </a:rPr>
              <a:t>Large proportion unaware of 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2"/>
                </a:solidFill>
              </a:rPr>
              <a:t>Big push to provide more information working with trade associations, retailers and UK Government bodies</a:t>
            </a:r>
          </a:p>
          <a:p>
            <a:pPr marL="285750" indent="-285750"/>
            <a:r>
              <a:rPr lang="en-GB" sz="2000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476320" y="5346323"/>
            <a:ext cx="8238376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002060"/>
                </a:solidFill>
              </a:rPr>
              <a:t>Continue to press home the message on Code training for direct suppliers, working with trainers and trade associations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2971801"/>
            <a:ext cx="4038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 Annual Report</a:t>
            </a:r>
          </a:p>
          <a:p>
            <a:r>
              <a:rPr lang="en-GB" sz="2800" dirty="0">
                <a:solidFill>
                  <a:schemeClr val="bg1"/>
                </a:solidFill>
              </a:rPr>
              <a:t>March 2015</a:t>
            </a:r>
          </a:p>
        </p:txBody>
      </p:sp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9696" y="5570400"/>
            <a:ext cx="2020925" cy="1143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371600" y="2602469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Working Together, Making Progress</a:t>
            </a:r>
          </a:p>
        </p:txBody>
      </p:sp>
      <p:pic>
        <p:nvPicPr>
          <p:cNvPr id="9" name="Picture 8" descr="Screen Shot 2016-06-13 at 17.13.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602469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67544" y="2362201"/>
            <a:ext cx="8590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Building Fairness and Securing Change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					 New Top 5 Issues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4923466"/>
            <a:ext cx="2818421" cy="1587753"/>
          </a:xfrm>
          <a:prstGeom prst="rect">
            <a:avLst/>
          </a:prstGeom>
        </p:spPr>
      </p:pic>
      <p:pic>
        <p:nvPicPr>
          <p:cNvPr id="13" name="Picture 2" descr="\\op2pdrv02\users$\dodds\Desktop\twitter-bird-white-on-blue-150x150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2" y="6224184"/>
            <a:ext cx="507240" cy="41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93042" y="6224184"/>
            <a:ext cx="2586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#GCA2016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812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10549-Top 5 issues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728728" y="620688"/>
            <a:ext cx="7587687" cy="55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8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Artwork and design services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4963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>
                <a:solidFill>
                  <a:srgbClr val="002060"/>
                </a:solidFill>
              </a:rPr>
              <a:t>    </a:t>
            </a:r>
            <a:endParaRPr lang="en-GB" i="1" dirty="0">
              <a:solidFill>
                <a:srgbClr val="002060"/>
              </a:solidFill>
            </a:endParaRPr>
          </a:p>
          <a:p>
            <a:endParaRPr lang="en-GB" sz="2800" dirty="0">
              <a:solidFill>
                <a:srgbClr val="002060"/>
              </a:solidFill>
            </a:endParaRPr>
          </a:p>
          <a:p>
            <a:r>
              <a:rPr lang="en-GB" sz="2800" dirty="0">
                <a:solidFill>
                  <a:srgbClr val="002060"/>
                </a:solidFill>
              </a:rPr>
              <a:t>Following supplier workshop this is focused on artwork and design only</a:t>
            </a:r>
          </a:p>
          <a:p>
            <a:r>
              <a:rPr lang="en-GB" sz="2800" dirty="0">
                <a:solidFill>
                  <a:srgbClr val="002060"/>
                </a:solidFill>
              </a:rPr>
              <a:t>GCA passing rate card analysis back to CCOs: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Concern over simplicity, transparency and predictability 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Feeding back on comparative charges (anonymised)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7" name="Picture 6" descr="Art&amp;desig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110749"/>
            <a:ext cx="1447800" cy="14519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7544" y="1828800"/>
            <a:ext cx="8020296" cy="990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i="1" dirty="0">
                <a:solidFill>
                  <a:srgbClr val="002060"/>
                </a:solidFill>
              </a:rPr>
              <a:t>No obligation to contribute to marketing costs and no tying of 3</a:t>
            </a:r>
            <a:r>
              <a:rPr lang="en-GB" sz="2400" i="1" baseline="30000" dirty="0">
                <a:solidFill>
                  <a:srgbClr val="002060"/>
                </a:solidFill>
              </a:rPr>
              <a:t>rd</a:t>
            </a:r>
            <a:r>
              <a:rPr lang="en-GB" sz="2400" i="1" dirty="0">
                <a:solidFill>
                  <a:srgbClr val="002060"/>
                </a:solidFill>
              </a:rPr>
              <a:t> party goods and services for payment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Delay in payments 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9" y="1550367"/>
            <a:ext cx="8563296" cy="45757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/>
              <a:buNone/>
            </a:pPr>
            <a:r>
              <a:rPr lang="en-GB" sz="2400" i="1" dirty="0"/>
              <a:t> </a:t>
            </a:r>
            <a:endParaRPr lang="en-US" sz="2400" i="1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/>
              <a:buNone/>
            </a:pPr>
            <a:endParaRPr lang="en-US" sz="3000" i="1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</a:pPr>
            <a:endParaRPr lang="en-US" sz="30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</a:rPr>
              <a:t>In my report into the Tesco investigation I set out clearly what I interpret as delay in payments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</a:rPr>
              <a:t>Tesco is responding to the recommendations which are directed only to them and I will monitor how other retailers act on my interpretation of the Code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</a:rPr>
              <a:t>The issue remains live while I ensure there is </a:t>
            </a:r>
            <a:r>
              <a:rPr lang="en-GB" sz="2800" dirty="0">
                <a:solidFill>
                  <a:srgbClr val="002060"/>
                </a:solidFill>
              </a:rPr>
              <a:t>Code compliance by all retailers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7" name="Picture 6" descr="Delay in payme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123056"/>
            <a:ext cx="1419225" cy="14273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2360" y="1752600"/>
            <a:ext cx="7725840" cy="838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i="1" dirty="0"/>
              <a:t> </a:t>
            </a:r>
            <a:r>
              <a:rPr lang="en-GB" sz="2400" i="1" dirty="0">
                <a:solidFill>
                  <a:srgbClr val="002060"/>
                </a:solidFill>
              </a:rPr>
              <a:t>A retailer must pay a supplier for groceries delivered </a:t>
            </a:r>
            <a:r>
              <a:rPr lang="en-US" sz="2400" i="1" dirty="0">
                <a:solidFill>
                  <a:srgbClr val="002060"/>
                </a:solidFill>
              </a:rPr>
              <a:t>….. in accordance with the relevant Supply Agreement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3955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Margin maintenance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>
              <a:solidFill>
                <a:schemeClr val="tx2"/>
              </a:solidFill>
            </a:endParaRPr>
          </a:p>
          <a:p>
            <a:endParaRPr lang="en-GB" dirty="0">
              <a:solidFill>
                <a:schemeClr val="tx2"/>
              </a:solidFill>
            </a:endParaRPr>
          </a:p>
          <a:p>
            <a:endParaRPr lang="en-GB" sz="2800" dirty="0">
              <a:solidFill>
                <a:schemeClr val="tx2"/>
              </a:solidFill>
            </a:endParaRPr>
          </a:p>
          <a:p>
            <a:r>
              <a:rPr lang="en-GB" sz="2800" dirty="0">
                <a:solidFill>
                  <a:schemeClr val="tx2"/>
                </a:solidFill>
              </a:rPr>
              <a:t>Following my investigation into Tesco I set out clearly that requests for margin maintenance need to be unambiguously supported by the Supply Agreement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7" name="Picture 6" descr="Mar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70370"/>
            <a:ext cx="1524000" cy="15326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2360" y="1828800"/>
            <a:ext cx="7725840" cy="11401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i="1" dirty="0">
                <a:solidFill>
                  <a:schemeClr val="tx2"/>
                </a:solidFill>
              </a:rPr>
              <a:t>A retailer must not vary any Supply Agreement retrospectively unless the Supply Agreement sets out clearly [the] circumstances…and rules calculating the adjustment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Pay to stay arrangements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400" i="1" dirty="0">
                <a:solidFill>
                  <a:schemeClr val="tx2"/>
                </a:solidFill>
              </a:rPr>
              <a:t>    </a:t>
            </a:r>
          </a:p>
          <a:p>
            <a:pPr>
              <a:buNone/>
            </a:pPr>
            <a:endParaRPr lang="en-GB" sz="2400" i="1" dirty="0">
              <a:solidFill>
                <a:schemeClr val="tx2"/>
              </a:solidFill>
            </a:endParaRPr>
          </a:p>
          <a:p>
            <a:endParaRPr lang="en-GB" dirty="0">
              <a:solidFill>
                <a:schemeClr val="tx2"/>
              </a:solidFill>
            </a:endParaRPr>
          </a:p>
          <a:p>
            <a:endParaRPr lang="en-GB" sz="2800" dirty="0">
              <a:solidFill>
                <a:schemeClr val="tx2"/>
              </a:solidFill>
            </a:endParaRPr>
          </a:p>
          <a:p>
            <a:r>
              <a:rPr lang="en-GB" sz="2800" dirty="0">
                <a:solidFill>
                  <a:schemeClr val="tx2"/>
                </a:solidFill>
              </a:rPr>
              <a:t>An emerging issue in which it appears that suppliers may be indirectly required to pay lump sums to keep their business with a retailer, not part of normal commercial negotiations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7" name="Picture 6" descr="pay to st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91989"/>
            <a:ext cx="1503939" cy="15082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2360" y="1752600"/>
            <a:ext cx="7802040" cy="1524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i="1" dirty="0">
                <a:solidFill>
                  <a:schemeClr val="tx2"/>
                </a:solidFill>
              </a:rPr>
              <a:t>A retailer must not require a supplier to make any payment as a condition of stocking that supplier’s groceries unless in relation to a promotion or products which have not been stocked during the preceding 365 days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3955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Payments for better positioning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626270"/>
            <a:ext cx="8458200" cy="4683050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buFont typeface="Arial"/>
              <a:buNone/>
            </a:pPr>
            <a:r>
              <a:rPr lang="en-GB" sz="3000" dirty="0"/>
              <a:t>    </a:t>
            </a:r>
            <a:endParaRPr lang="en-GB" sz="2595" i="1" dirty="0">
              <a:solidFill>
                <a:srgbClr val="002060"/>
              </a:solidFill>
            </a:endParaRPr>
          </a:p>
          <a:p>
            <a:endParaRPr lang="en-GB" sz="2800" dirty="0">
              <a:solidFill>
                <a:srgbClr val="002060"/>
              </a:solidFill>
            </a:endParaRPr>
          </a:p>
          <a:p>
            <a:pPr>
              <a:spcAft>
                <a:spcPts val="600"/>
              </a:spcAft>
            </a:pPr>
            <a:endParaRPr lang="en-GB" sz="2800" dirty="0">
              <a:solidFill>
                <a:srgbClr val="002060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2800" dirty="0">
                <a:solidFill>
                  <a:srgbClr val="002060"/>
                </a:solidFill>
              </a:rPr>
              <a:t>My investigation into Tesco identified a range of practices relating to payments for better positioning or increased share of shelf space that gave me concern</a:t>
            </a:r>
          </a:p>
          <a:p>
            <a:pPr>
              <a:spcAft>
                <a:spcPts val="600"/>
              </a:spcAft>
            </a:pPr>
            <a:r>
              <a:rPr lang="en-GB" sz="2800" dirty="0">
                <a:solidFill>
                  <a:srgbClr val="002060"/>
                </a:solidFill>
              </a:rPr>
              <a:t>These practices may amount to indirect requirements for payments for more space or better positioning and merit further scrutiny</a:t>
            </a:r>
          </a:p>
          <a:p>
            <a:endParaRPr lang="en-GB" sz="3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8" name="Picture 7" descr="Better positioning ico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295" y="140751"/>
            <a:ext cx="1498105" cy="150548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2360" y="1828800"/>
            <a:ext cx="7802040" cy="1295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i="1" dirty="0">
                <a:solidFill>
                  <a:srgbClr val="002060"/>
                </a:solidFill>
              </a:rPr>
              <a:t>A retailer must not directly or indirectly require a supplier to make any payment in order to secure better positioning or an increase in allocation of shelf space</a:t>
            </a:r>
            <a:r>
              <a:rPr lang="en-US" sz="2400" i="1" dirty="0">
                <a:solidFill>
                  <a:srgbClr val="002060"/>
                </a:solidFill>
              </a:rPr>
              <a:t>….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395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</a:t>
            </a:r>
            <a:br>
              <a:rPr lang="en-GB" sz="4000" dirty="0">
                <a:solidFill>
                  <a:srgbClr val="002060"/>
                </a:solidFill>
              </a:rPr>
            </a:br>
            <a:r>
              <a:rPr lang="en-GB" sz="4000" dirty="0">
                <a:solidFill>
                  <a:srgbClr val="002060"/>
                </a:solidFill>
              </a:rPr>
              <a:t> </a:t>
            </a:r>
            <a:r>
              <a:rPr lang="en-GB" dirty="0">
                <a:solidFill>
                  <a:srgbClr val="002060"/>
                </a:solidFill>
              </a:rPr>
              <a:t>Consultation </a:t>
            </a:r>
            <a:r>
              <a:rPr lang="en-GB" sz="4000" dirty="0">
                <a:solidFill>
                  <a:srgbClr val="002060"/>
                </a:solidFill>
              </a:rPr>
              <a:t/>
            </a:r>
            <a:br>
              <a:rPr lang="en-GB" sz="4000" dirty="0">
                <a:solidFill>
                  <a:srgbClr val="002060"/>
                </a:solidFill>
              </a:rPr>
            </a:b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952" y="1642070"/>
            <a:ext cx="7953176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GB" sz="3000" i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11" name="Picture 10" descr="Screen Shot 2016-06-18 at 22.04.0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1354"/>
            <a:ext cx="1612297" cy="1610716"/>
          </a:xfrm>
          <a:prstGeom prst="rect">
            <a:avLst/>
          </a:prstGeom>
        </p:spPr>
      </p:pic>
      <p:pic>
        <p:nvPicPr>
          <p:cNvPr id="1026" name="Picture 2" descr="\\op2pdrv02\users$\dodds\Desktop\Screen Shot 2016-06-23 at 13_50_3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519421"/>
            <a:ext cx="6362700" cy="466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5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Future resourcing </a:t>
            </a:r>
            <a:r>
              <a:rPr lang="en-US" sz="4000" dirty="0">
                <a:solidFill>
                  <a:srgbClr val="002060"/>
                </a:solidFill>
              </a:rPr>
              <a:t>–</a:t>
            </a:r>
            <a:r>
              <a:rPr lang="en-GB" sz="4000" dirty="0">
                <a:solidFill>
                  <a:srgbClr val="002060"/>
                </a:solidFill>
              </a:rPr>
              <a:t> variable levy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12" name="Picture 11" descr="Screen Shot 2016-06-18 at 22.04.0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65684"/>
            <a:ext cx="1612297" cy="1610716"/>
          </a:xfrm>
          <a:prstGeom prst="rect">
            <a:avLst/>
          </a:prstGeom>
        </p:spPr>
      </p:pic>
      <p:pic>
        <p:nvPicPr>
          <p:cNvPr id="1026" name="Picture 2" descr="\\op2pdrv02\users$\dodds\Desktop\Jigsaw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513" y="1305122"/>
            <a:ext cx="5670974" cy="47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5580112" y="4695527"/>
            <a:ext cx="3024336" cy="11079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Levy contributions range from 7.7% to 17% of the total amount (largest net payment £302k)</a:t>
            </a:r>
            <a:endParaRPr lang="en-US" b="1" dirty="0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599952" y="1412776"/>
            <a:ext cx="3178695" cy="11807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Total levy £2 million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(including £1 million to ensure sufficient funds for any future investigation)  </a:t>
            </a:r>
          </a:p>
        </p:txBody>
      </p:sp>
    </p:spTree>
    <p:extLst>
      <p:ext uri="{BB962C8B-B14F-4D97-AF65-F5344CB8AC3E}">
        <p14:creationId xmlns:p14="http://schemas.microsoft.com/office/powerpoint/2010/main" val="424395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BIS review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r>
              <a:rPr lang="en-GB" sz="3000" dirty="0">
                <a:solidFill>
                  <a:schemeClr val="tx2"/>
                </a:solidFill>
              </a:rPr>
              <a:t>GCA welcomes the statutory review of its effectiveness in performing its statutory functions and ensuring that the role is still required </a:t>
            </a:r>
          </a:p>
          <a:p>
            <a:r>
              <a:rPr lang="en-GB" sz="3000" dirty="0">
                <a:solidFill>
                  <a:schemeClr val="tx2"/>
                </a:solidFill>
              </a:rPr>
              <a:t>Still a way to go to get suppliers to tell me of their issues.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538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6868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Make sure you tell me what  is going on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Give me the information and I will act swiftly</a:t>
            </a:r>
          </a:p>
          <a:p>
            <a:r>
              <a:rPr lang="en-GB" dirty="0">
                <a:solidFill>
                  <a:schemeClr val="tx2"/>
                </a:solidFill>
              </a:rPr>
              <a:t>Give me the information and I will fix problems</a:t>
            </a:r>
          </a:p>
          <a:p>
            <a:r>
              <a:rPr lang="en-GB" dirty="0">
                <a:solidFill>
                  <a:schemeClr val="tx2"/>
                </a:solidFill>
              </a:rPr>
              <a:t>Give me the information and you will benefit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14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9392"/>
            <a:ext cx="8686800" cy="1143000"/>
          </a:xfrm>
        </p:spPr>
        <p:txBody>
          <a:bodyPr>
            <a:normAutofit/>
          </a:bodyPr>
          <a:lstStyle/>
          <a:p>
            <a:pPr algn="l"/>
            <a:r>
              <a:rPr lang="en-GB" sz="4000" dirty="0">
                <a:solidFill>
                  <a:srgbClr val="002060"/>
                </a:solidFill>
              </a:rPr>
              <a:t> Make sure you know what is going on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6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GB" sz="6000" dirty="0">
                <a:solidFill>
                  <a:schemeClr val="tx2"/>
                </a:solidFill>
              </a:rPr>
              <a:t>www.gov.uk/GCA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5157192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0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2168</TotalTime>
  <Words>715</Words>
  <Application>Microsoft Office PowerPoint</Application>
  <PresentationFormat>On-screen Show (4:3)</PresentationFormat>
  <Paragraphs>140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 </vt:lpstr>
      <vt:lpstr>Forward look</vt:lpstr>
      <vt:lpstr> Delivered on 2015 survey</vt:lpstr>
      <vt:lpstr> Acting on 2016 Survey </vt:lpstr>
      <vt:lpstr>PowerPoint Presentation</vt:lpstr>
      <vt:lpstr>PowerPoint Presentation</vt:lpstr>
      <vt:lpstr> Artwork and design services</vt:lpstr>
      <vt:lpstr> Delay in payments </vt:lpstr>
      <vt:lpstr> Margin maintenance</vt:lpstr>
      <vt:lpstr> Pay to stay arrangements</vt:lpstr>
      <vt:lpstr> Payments for better positioning</vt:lpstr>
      <vt:lpstr>   Consultation  </vt:lpstr>
      <vt:lpstr> Future resourcing – variable levy</vt:lpstr>
      <vt:lpstr> BIS review</vt:lpstr>
      <vt:lpstr> Make sure you tell me what  is going on</vt:lpstr>
      <vt:lpstr> Make sure you know what is going on</vt:lpstr>
    </vt:vector>
  </TitlesOfParts>
  <Company>scdodd comms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Sheree Dodd</dc:creator>
  <cp:lastModifiedBy>Dodd Sheree (GCA)</cp:lastModifiedBy>
  <cp:revision>93</cp:revision>
  <dcterms:created xsi:type="dcterms:W3CDTF">2016-06-24T11:18:19Z</dcterms:created>
  <dcterms:modified xsi:type="dcterms:W3CDTF">2016-06-26T13:16:10Z</dcterms:modified>
</cp:coreProperties>
</file>