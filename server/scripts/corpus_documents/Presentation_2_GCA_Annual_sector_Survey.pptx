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drawings/drawing1.xml" ContentType="application/vnd.openxmlformats-officedocument.drawingml.chartshapes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27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28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charts/chart29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30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notesSlides/notesSlide1.xml" ContentType="application/vnd.openxmlformats-officedocument.presentationml.notesSlide+xml"/>
  <Override PartName="/ppt/charts/chart31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03" r:id="rId1"/>
  </p:sldMasterIdLst>
  <p:notesMasterIdLst>
    <p:notesMasterId r:id="rId31"/>
  </p:notesMasterIdLst>
  <p:handoutMasterIdLst>
    <p:handoutMasterId r:id="rId32"/>
  </p:handoutMasterIdLst>
  <p:sldIdLst>
    <p:sldId id="256" r:id="rId2"/>
    <p:sldId id="341" r:id="rId3"/>
    <p:sldId id="268" r:id="rId4"/>
    <p:sldId id="332" r:id="rId5"/>
    <p:sldId id="276" r:id="rId6"/>
    <p:sldId id="281" r:id="rId7"/>
    <p:sldId id="278" r:id="rId8"/>
    <p:sldId id="359" r:id="rId9"/>
    <p:sldId id="360" r:id="rId10"/>
    <p:sldId id="361" r:id="rId11"/>
    <p:sldId id="362" r:id="rId12"/>
    <p:sldId id="348" r:id="rId13"/>
    <p:sldId id="355" r:id="rId14"/>
    <p:sldId id="356" r:id="rId15"/>
    <p:sldId id="358" r:id="rId16"/>
    <p:sldId id="364" r:id="rId17"/>
    <p:sldId id="365" r:id="rId18"/>
    <p:sldId id="366" r:id="rId19"/>
    <p:sldId id="291" r:id="rId20"/>
    <p:sldId id="367" r:id="rId21"/>
    <p:sldId id="374" r:id="rId22"/>
    <p:sldId id="368" r:id="rId23"/>
    <p:sldId id="369" r:id="rId24"/>
    <p:sldId id="373" r:id="rId25"/>
    <p:sldId id="307" r:id="rId26"/>
    <p:sldId id="371" r:id="rId27"/>
    <p:sldId id="370" r:id="rId28"/>
    <p:sldId id="343" r:id="rId29"/>
    <p:sldId id="372" r:id="rId30"/>
  </p:sldIdLst>
  <p:sldSz cx="9144000" cy="6858000" type="screen4x3"/>
  <p:notesSz cx="6797675" cy="9926638"/>
  <p:embeddedFontLst>
    <p:embeddedFont>
      <p:font typeface="Calibri" panose="020F0502020204030204" pitchFamily="34" charset="0"/>
      <p:regular r:id="rId33"/>
      <p:bold r:id="rId34"/>
      <p:italic r:id="rId35"/>
      <p:boldItalic r:id="rId36"/>
    </p:embeddedFont>
  </p:embeddedFontLst>
  <p:custDataLst>
    <p:tags r:id="rId37"/>
  </p:custDataLst>
  <p:defaultTextStyle>
    <a:defPPr>
      <a:defRPr lang="da-DK"/>
    </a:defPPr>
    <a:lvl1pPr marL="0" algn="l" defTabSz="984033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92017" algn="l" defTabSz="984033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84033" algn="l" defTabSz="984033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476050" algn="l" defTabSz="984033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968068" algn="l" defTabSz="984033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460085" algn="l" defTabSz="984033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952102" algn="l" defTabSz="984033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444119" algn="l" defTabSz="984033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936135" algn="l" defTabSz="984033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19">
          <p15:clr>
            <a:srgbClr val="A4A3A4"/>
          </p15:clr>
        </p15:guide>
        <p15:guide id="4" orient="horz" pos="1071">
          <p15:clr>
            <a:srgbClr val="A4A3A4"/>
          </p15:clr>
        </p15:guide>
        <p15:guide id="5" orient="horz" pos="867">
          <p15:clr>
            <a:srgbClr val="A4A3A4"/>
          </p15:clr>
        </p15:guide>
        <p15:guide id="6" orient="horz" pos="640">
          <p15:clr>
            <a:srgbClr val="A4A3A4"/>
          </p15:clr>
        </p15:guide>
        <p15:guide id="7" orient="horz" pos="3294">
          <p15:clr>
            <a:srgbClr val="A4A3A4"/>
          </p15:clr>
        </p15:guide>
        <p15:guide id="8" orient="horz" pos="2500">
          <p15:clr>
            <a:srgbClr val="A4A3A4"/>
          </p15:clr>
        </p15:guide>
        <p15:guide id="9" orient="horz" pos="1275">
          <p15:clr>
            <a:srgbClr val="A4A3A4"/>
          </p15:clr>
        </p15:guide>
        <p15:guide id="10" orient="horz" pos="3583">
          <p15:clr>
            <a:srgbClr val="A4A3A4"/>
          </p15:clr>
        </p15:guide>
        <p15:guide id="11" orient="horz" pos="4319">
          <p15:clr>
            <a:srgbClr val="A4A3A4"/>
          </p15:clr>
        </p15:guide>
        <p15:guide id="12" orient="horz" pos="3807">
          <p15:clr>
            <a:srgbClr val="A4A3A4"/>
          </p15:clr>
        </p15:guide>
        <p15:guide id="13" orient="horz" pos="4255">
          <p15:clr>
            <a:srgbClr val="A4A3A4"/>
          </p15:clr>
        </p15:guide>
        <p15:guide id="14" pos="2879">
          <p15:clr>
            <a:srgbClr val="A4A3A4"/>
          </p15:clr>
        </p15:guide>
        <p15:guide id="15">
          <p15:clr>
            <a:srgbClr val="A4A3A4"/>
          </p15:clr>
        </p15:guide>
        <p15:guide id="16" pos="178">
          <p15:clr>
            <a:srgbClr val="A4A3A4"/>
          </p15:clr>
        </p15:guide>
        <p15:guide id="17" pos="5759">
          <p15:clr>
            <a:srgbClr val="A4A3A4"/>
          </p15:clr>
        </p15:guide>
        <p15:guide id="18" pos="5583">
          <p15:clr>
            <a:srgbClr val="A4A3A4"/>
          </p15:clr>
        </p15:guide>
        <p15:guide id="19" orient="horz" pos="4062">
          <p15:clr>
            <a:srgbClr val="A4A3A4"/>
          </p15:clr>
        </p15:guide>
        <p15:guide id="20" orient="horz" pos="37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2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Harriet Kaol" initials="HK" lastIdx="1" clrIdx="0"/>
  <p:cmAuthor id="1" name="Ian Neale" initials="IN" lastIdx="1" clrIdx="1">
    <p:extLst>
      <p:ext uri="{19B8F6BF-5375-455C-9EA6-DF929625EA0E}">
        <p15:presenceInfo xmlns:p15="http://schemas.microsoft.com/office/powerpoint/2012/main" userId="S-1-5-21-4244500858-2814365586-1643306958-1129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FFFFFF"/>
    <a:srgbClr val="7F7F7F"/>
    <a:srgbClr val="885788"/>
    <a:srgbClr val="6699FF"/>
    <a:srgbClr val="C00000"/>
    <a:srgbClr val="B37130"/>
    <a:srgbClr val="0D5D95"/>
    <a:srgbClr val="53ACAF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622" autoAdjust="0"/>
    <p:restoredTop sz="94649" autoAdjust="0"/>
  </p:normalViewPr>
  <p:slideViewPr>
    <p:cSldViewPr snapToGrid="0">
      <p:cViewPr varScale="1">
        <p:scale>
          <a:sx n="113" d="100"/>
          <a:sy n="113" d="100"/>
        </p:scale>
        <p:origin x="1362" y="96"/>
      </p:cViewPr>
      <p:guideLst>
        <p:guide orient="horz" pos="2160"/>
        <p:guide pos="2880"/>
        <p:guide orient="horz" pos="119"/>
        <p:guide orient="horz" pos="1071"/>
        <p:guide orient="horz" pos="867"/>
        <p:guide orient="horz" pos="640"/>
        <p:guide orient="horz" pos="3294"/>
        <p:guide orient="horz" pos="2500"/>
        <p:guide orient="horz" pos="1275"/>
        <p:guide orient="horz" pos="3583"/>
        <p:guide orient="horz" pos="4319"/>
        <p:guide orient="horz" pos="3807"/>
        <p:guide orient="horz" pos="4255"/>
        <p:guide pos="2879"/>
        <p:guide/>
        <p:guide pos="178"/>
        <p:guide pos="5759"/>
        <p:guide pos="5583"/>
        <p:guide orient="horz" pos="4062"/>
        <p:guide orient="horz" pos="37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98" d="100"/>
        <a:sy n="198" d="100"/>
      </p:scale>
      <p:origin x="0" y="0"/>
    </p:cViewPr>
  </p:sorterViewPr>
  <p:notesViewPr>
    <p:cSldViewPr snapToGrid="0">
      <p:cViewPr varScale="1">
        <p:scale>
          <a:sx n="76" d="100"/>
          <a:sy n="76" d="100"/>
        </p:scale>
        <p:origin x="2448" y="108"/>
      </p:cViewPr>
      <p:guideLst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gs" Target="tags/tag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chartUserShapes" Target="../drawings/drawing1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5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6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7.xlsx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8.xlsx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9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0.xlsx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1.xlsx"/><Relationship Id="rId2" Type="http://schemas.microsoft.com/office/2011/relationships/chartColorStyle" Target="colors31.xml"/><Relationship Id="rId1" Type="http://schemas.microsoft.com/office/2011/relationships/chartStyle" Target="style3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103605226061328E-2"/>
          <c:y val="7.0526779500424339E-2"/>
          <c:w val="0.8476741987620644"/>
          <c:h val="0.8342757240300351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Own label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Pet food</c:v>
                </c:pt>
                <c:pt idx="1">
                  <c:v>Cleaning products</c:v>
                </c:pt>
                <c:pt idx="2">
                  <c:v>Toiletries</c:v>
                </c:pt>
                <c:pt idx="3">
                  <c:v>Non-alcoholic drinks</c:v>
                </c:pt>
                <c:pt idx="4">
                  <c:v>Alcoholic drinks</c:v>
                </c:pt>
                <c:pt idx="5">
                  <c:v>Household goods</c:v>
                </c:pt>
                <c:pt idx="6">
                  <c:v>Frozen foods</c:v>
                </c:pt>
                <c:pt idx="7">
                  <c:v>Fruit / Vegetables</c:v>
                </c:pt>
                <c:pt idx="8">
                  <c:v>Meat / fish / poultry</c:v>
                </c:pt>
                <c:pt idx="9">
                  <c:v>Chilled dairy / ready meals</c:v>
                </c:pt>
                <c:pt idx="10">
                  <c:v>Ambient</c:v>
                </c:pt>
              </c:strCache>
            </c:strRef>
          </c:cat>
          <c:val>
            <c:numRef>
              <c:f>Sheet1!$B$2:$B$12</c:f>
              <c:numCache>
                <c:formatCode>0%</c:formatCode>
                <c:ptCount val="11"/>
                <c:pt idx="0">
                  <c:v>0.01</c:v>
                </c:pt>
                <c:pt idx="1">
                  <c:v>0.02</c:v>
                </c:pt>
                <c:pt idx="2">
                  <c:v>0.03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0.09</c:v>
                </c:pt>
                <c:pt idx="7">
                  <c:v>0.11</c:v>
                </c:pt>
                <c:pt idx="8">
                  <c:v>0.12</c:v>
                </c:pt>
                <c:pt idx="9">
                  <c:v>0.14000000000000001</c:v>
                </c:pt>
                <c:pt idx="10">
                  <c:v>0.24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Branded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Pet food</c:v>
                </c:pt>
                <c:pt idx="1">
                  <c:v>Cleaning products</c:v>
                </c:pt>
                <c:pt idx="2">
                  <c:v>Toiletries</c:v>
                </c:pt>
                <c:pt idx="3">
                  <c:v>Non-alcoholic drinks</c:v>
                </c:pt>
                <c:pt idx="4">
                  <c:v>Alcoholic drinks</c:v>
                </c:pt>
                <c:pt idx="5">
                  <c:v>Household goods</c:v>
                </c:pt>
                <c:pt idx="6">
                  <c:v>Frozen foods</c:v>
                </c:pt>
                <c:pt idx="7">
                  <c:v>Fruit / Vegetables</c:v>
                </c:pt>
                <c:pt idx="8">
                  <c:v>Meat / fish / poultry</c:v>
                </c:pt>
                <c:pt idx="9">
                  <c:v>Chilled dairy / ready meals</c:v>
                </c:pt>
                <c:pt idx="10">
                  <c:v>Ambient</c:v>
                </c:pt>
              </c:strCache>
            </c:strRef>
          </c:cat>
          <c:val>
            <c:numRef>
              <c:f>Sheet1!$C$2:$C$12</c:f>
              <c:numCache>
                <c:formatCode>0%</c:formatCode>
                <c:ptCount val="11"/>
                <c:pt idx="0">
                  <c:v>0.02</c:v>
                </c:pt>
                <c:pt idx="1">
                  <c:v>0.02</c:v>
                </c:pt>
                <c:pt idx="2">
                  <c:v>0.05</c:v>
                </c:pt>
                <c:pt idx="3">
                  <c:v>0.06</c:v>
                </c:pt>
                <c:pt idx="4">
                  <c:v>0.06</c:v>
                </c:pt>
                <c:pt idx="5">
                  <c:v>0.06</c:v>
                </c:pt>
                <c:pt idx="6">
                  <c:v>0.08</c:v>
                </c:pt>
                <c:pt idx="7">
                  <c:v>0.04</c:v>
                </c:pt>
                <c:pt idx="8">
                  <c:v>0.11</c:v>
                </c:pt>
                <c:pt idx="9">
                  <c:v>0.13</c:v>
                </c:pt>
                <c:pt idx="10">
                  <c:v>0.28999999999999998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71817496"/>
        <c:axId val="371762224"/>
      </c:barChart>
      <c:catAx>
        <c:axId val="371817496"/>
        <c:scaling>
          <c:orientation val="maxMin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1762224"/>
        <c:crosses val="autoZero"/>
        <c:auto val="1"/>
        <c:lblAlgn val="ctr"/>
        <c:lblOffset val="100"/>
        <c:noMultiLvlLbl val="0"/>
      </c:catAx>
      <c:valAx>
        <c:axId val="371762224"/>
        <c:scaling>
          <c:orientation val="minMax"/>
        </c:scaling>
        <c:delete val="1"/>
        <c:axPos val="r"/>
        <c:numFmt formatCode="0%" sourceLinked="1"/>
        <c:majorTickMark val="none"/>
        <c:minorTickMark val="none"/>
        <c:tickLblPos val="none"/>
        <c:crossAx val="3718174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7889489896618076"/>
          <c:y val="0.37538413646123514"/>
          <c:w val="0.28568651240533444"/>
          <c:h val="0.1671205057681534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rgbClr val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25400">
      <a:solidFill>
        <a:schemeClr val="tx2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642216521396615"/>
          <c:y val="0.2676183179565137"/>
          <c:w val="0.68259738816899129"/>
          <c:h val="0.4497372733569982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5.8626153736405631E-2"/>
                  <c:y val="0.1177967405331031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-0.17573653432446903"/>
                  <c:y val="-0.1336425543040270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In the UK</c:v>
                </c:pt>
                <c:pt idx="1">
                  <c:v>Outside the UK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0.84</c:v>
                </c:pt>
                <c:pt idx="1">
                  <c:v>0.16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3.2745959254629774E-2"/>
          <c:y val="0.61389386222043707"/>
          <c:w val="0.28507921628577165"/>
          <c:h val="0.3521889661832445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642216521396615"/>
          <c:y val="0.2676183179565137"/>
          <c:w val="0.68259738816899129"/>
          <c:h val="0.4497372733569982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9.4800775519342406E-2"/>
                  <c:y val="0.117796740533103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-0.17573653432446903"/>
                  <c:y val="-0.1336425543040270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In the UK</c:v>
                </c:pt>
                <c:pt idx="1">
                  <c:v>Outside the UK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0.92</c:v>
                </c:pt>
                <c:pt idx="1">
                  <c:v>0.08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dirty="0" smtClean="0">
                <a:solidFill>
                  <a:schemeClr val="tx1">
                    <a:lumMod val="50000"/>
                  </a:schemeClr>
                </a:solidFill>
              </a:rPr>
              <a:t>Size</a:t>
            </a:r>
            <a:endParaRPr lang="en-US" sz="1400" b="1" dirty="0">
              <a:solidFill>
                <a:schemeClr val="tx1">
                  <a:lumMod val="50000"/>
                </a:schemeClr>
              </a:solidFill>
            </a:endParaRPr>
          </a:p>
        </c:rich>
      </c:tx>
      <c:layout>
        <c:manualLayout>
          <c:xMode val="edge"/>
          <c:yMode val="edge"/>
          <c:x val="0.27006190313851269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8531757829932586"/>
          <c:y val="0.11836109944618231"/>
          <c:w val="0.37786090686754825"/>
          <c:h val="0.83074425648908135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2016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£100m+</c:v>
                </c:pt>
                <c:pt idx="1">
                  <c:v>£50m-£99m</c:v>
                </c:pt>
                <c:pt idx="2">
                  <c:v>£20m-£49m</c:v>
                </c:pt>
                <c:pt idx="3">
                  <c:v>£10m-£19m</c:v>
                </c:pt>
                <c:pt idx="4">
                  <c:v>£6m-£9m</c:v>
                </c:pt>
                <c:pt idx="5">
                  <c:v>Up to £5m</c:v>
                </c:pt>
              </c:strCache>
            </c:strRef>
          </c:cat>
          <c:val>
            <c:numRef>
              <c:f>Sheet1!$C$2:$C$7</c:f>
              <c:numCache>
                <c:formatCode>0%</c:formatCode>
                <c:ptCount val="6"/>
                <c:pt idx="0">
                  <c:v>0.32</c:v>
                </c:pt>
                <c:pt idx="1">
                  <c:v>0.15</c:v>
                </c:pt>
                <c:pt idx="2">
                  <c:v>0.19</c:v>
                </c:pt>
                <c:pt idx="3">
                  <c:v>0.1</c:v>
                </c:pt>
                <c:pt idx="4">
                  <c:v>0.06</c:v>
                </c:pt>
                <c:pt idx="5">
                  <c:v>0.1</c:v>
                </c:pt>
              </c:numCache>
            </c:numRef>
          </c:val>
        </c:ser>
        <c:ser>
          <c:idx val="0"/>
          <c:order val="1"/>
          <c:tx>
            <c:strRef>
              <c:f>Sheet1!$B$1</c:f>
              <c:strCache>
                <c:ptCount val="1"/>
                <c:pt idx="0">
                  <c:v>2015</c:v>
                </c:pt>
              </c:strCache>
            </c:strRef>
          </c:tx>
          <c:spPr>
            <a:solidFill>
              <a:srgbClr val="6699F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GB" sz="1050" b="0" i="0" u="none" strike="noStrike" kern="1200" baseline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£100m+</c:v>
                </c:pt>
                <c:pt idx="1">
                  <c:v>£50m-£99m</c:v>
                </c:pt>
                <c:pt idx="2">
                  <c:v>£20m-£49m</c:v>
                </c:pt>
                <c:pt idx="3">
                  <c:v>£10m-£19m</c:v>
                </c:pt>
                <c:pt idx="4">
                  <c:v>£6m-£9m</c:v>
                </c:pt>
                <c:pt idx="5">
                  <c:v>Up to £5m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0.37</c:v>
                </c:pt>
                <c:pt idx="1">
                  <c:v>0.14000000000000001</c:v>
                </c:pt>
                <c:pt idx="2">
                  <c:v>0.21</c:v>
                </c:pt>
                <c:pt idx="3">
                  <c:v>0.08</c:v>
                </c:pt>
                <c:pt idx="4">
                  <c:v>0.03</c:v>
                </c:pt>
                <c:pt idx="5">
                  <c:v>0.13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448566280"/>
        <c:axId val="448563144"/>
      </c:barChart>
      <c:catAx>
        <c:axId val="4485662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8563144"/>
        <c:crosses val="autoZero"/>
        <c:auto val="1"/>
        <c:lblAlgn val="ctr"/>
        <c:lblOffset val="100"/>
        <c:noMultiLvlLbl val="0"/>
      </c:catAx>
      <c:valAx>
        <c:axId val="448563144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one"/>
        <c:crossAx val="448566280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65657971835291717"/>
          <c:y val="0.3625506887054562"/>
          <c:w val="0.11728272883335551"/>
          <c:h val="0.2400285009361944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25400">
      <a:solidFill>
        <a:schemeClr val="tx2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5392897219482757"/>
          <c:y val="4.178285746028218E-2"/>
          <c:w val="0.73429108805804"/>
          <c:h val="0.8866471185741268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Tesco</c:v>
                </c:pt>
                <c:pt idx="1">
                  <c:v>Morrisons</c:v>
                </c:pt>
                <c:pt idx="2">
                  <c:v>Sainsbury's</c:v>
                </c:pt>
                <c:pt idx="3">
                  <c:v>Asda</c:v>
                </c:pt>
                <c:pt idx="4">
                  <c:v>Aldi</c:v>
                </c:pt>
                <c:pt idx="5">
                  <c:v>Waitrose</c:v>
                </c:pt>
                <c:pt idx="6">
                  <c:v>Lidl</c:v>
                </c:pt>
                <c:pt idx="7">
                  <c:v>Co-operative</c:v>
                </c:pt>
                <c:pt idx="8">
                  <c:v>Iceland</c:v>
                </c:pt>
                <c:pt idx="9">
                  <c:v>Marks and Spencer</c:v>
                </c:pt>
              </c:strCache>
            </c:strRef>
          </c:cat>
          <c:val>
            <c:numRef>
              <c:f>Sheet1!$B$2:$B$11</c:f>
              <c:numCache>
                <c:formatCode>0%</c:formatCode>
                <c:ptCount val="10"/>
                <c:pt idx="0">
                  <c:v>0.69</c:v>
                </c:pt>
                <c:pt idx="1">
                  <c:v>0.64</c:v>
                </c:pt>
                <c:pt idx="2">
                  <c:v>0.59</c:v>
                </c:pt>
                <c:pt idx="3">
                  <c:v>0.56999999999999995</c:v>
                </c:pt>
                <c:pt idx="4">
                  <c:v>0.53</c:v>
                </c:pt>
                <c:pt idx="5">
                  <c:v>0.52</c:v>
                </c:pt>
                <c:pt idx="6">
                  <c:v>0.52</c:v>
                </c:pt>
                <c:pt idx="7">
                  <c:v>0.48</c:v>
                </c:pt>
                <c:pt idx="8">
                  <c:v>0.28000000000000003</c:v>
                </c:pt>
                <c:pt idx="9">
                  <c:v>0.28000000000000003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2015</c:v>
                </c:pt>
              </c:strCache>
            </c:strRef>
          </c:tx>
          <c:spPr>
            <a:solidFill>
              <a:schemeClr val="accent4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Tesco</c:v>
                </c:pt>
                <c:pt idx="1">
                  <c:v>Morrisons</c:v>
                </c:pt>
                <c:pt idx="2">
                  <c:v>Sainsbury's</c:v>
                </c:pt>
                <c:pt idx="3">
                  <c:v>Asda</c:v>
                </c:pt>
                <c:pt idx="4">
                  <c:v>Aldi</c:v>
                </c:pt>
                <c:pt idx="5">
                  <c:v>Waitrose</c:v>
                </c:pt>
                <c:pt idx="6">
                  <c:v>Lidl</c:v>
                </c:pt>
                <c:pt idx="7">
                  <c:v>Co-operative</c:v>
                </c:pt>
                <c:pt idx="8">
                  <c:v>Iceland</c:v>
                </c:pt>
                <c:pt idx="9">
                  <c:v>Marks and Spencer</c:v>
                </c:pt>
              </c:strCache>
            </c:strRef>
          </c:cat>
          <c:val>
            <c:numRef>
              <c:f>Sheet1!$C$2:$C$11</c:f>
              <c:numCache>
                <c:formatCode>0%</c:formatCode>
                <c:ptCount val="10"/>
                <c:pt idx="0">
                  <c:v>0.75</c:v>
                </c:pt>
                <c:pt idx="1">
                  <c:v>0.63</c:v>
                </c:pt>
                <c:pt idx="2">
                  <c:v>0.66</c:v>
                </c:pt>
                <c:pt idx="3">
                  <c:v>0.63</c:v>
                </c:pt>
                <c:pt idx="4">
                  <c:v>0.47</c:v>
                </c:pt>
                <c:pt idx="5">
                  <c:v>0.56999999999999995</c:v>
                </c:pt>
                <c:pt idx="6">
                  <c:v>0.39</c:v>
                </c:pt>
                <c:pt idx="7">
                  <c:v>0.56000000000000005</c:v>
                </c:pt>
                <c:pt idx="8">
                  <c:v>0.3</c:v>
                </c:pt>
                <c:pt idx="9">
                  <c:v>0.28999999999999998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448568632"/>
        <c:axId val="448556480"/>
      </c:barChart>
      <c:catAx>
        <c:axId val="44856863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8556480"/>
        <c:crosses val="autoZero"/>
        <c:auto val="1"/>
        <c:lblAlgn val="ctr"/>
        <c:lblOffset val="100"/>
        <c:noMultiLvlLbl val="0"/>
      </c:catAx>
      <c:valAx>
        <c:axId val="448556480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one"/>
        <c:crossAx val="4485686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3541204570737681"/>
          <c:y val="0.94479343565000706"/>
          <c:w val="0.28644483984656177"/>
          <c:h val="5.520656434999286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rgbClr val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830134373003366"/>
          <c:y val="3.6124884759393204E-2"/>
          <c:w val="0.76815244923715742"/>
          <c:h val="0.82307229021336814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Good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2016</c:v>
                </c:pt>
                <c:pt idx="1">
                  <c:v>2015</c:v>
                </c:pt>
                <c:pt idx="3">
                  <c:v>2016</c:v>
                </c:pt>
                <c:pt idx="4">
                  <c:v>2015</c:v>
                </c:pt>
                <c:pt idx="6">
                  <c:v>2016</c:v>
                </c:pt>
                <c:pt idx="7">
                  <c:v>2015</c:v>
                </c:pt>
              </c:numCache>
            </c:numRef>
          </c:cat>
          <c:val>
            <c:numRef>
              <c:f>Sheet1!$B$2:$B$9</c:f>
              <c:numCache>
                <c:formatCode>0%</c:formatCode>
                <c:ptCount val="8"/>
                <c:pt idx="0">
                  <c:v>0.31</c:v>
                </c:pt>
                <c:pt idx="1">
                  <c:v>0.24</c:v>
                </c:pt>
                <c:pt idx="3">
                  <c:v>0.2</c:v>
                </c:pt>
                <c:pt idx="4">
                  <c:v>0.19</c:v>
                </c:pt>
                <c:pt idx="6">
                  <c:v>0.38</c:v>
                </c:pt>
                <c:pt idx="7">
                  <c:v>0.23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Fair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2016</c:v>
                </c:pt>
                <c:pt idx="1">
                  <c:v>2015</c:v>
                </c:pt>
                <c:pt idx="3">
                  <c:v>2016</c:v>
                </c:pt>
                <c:pt idx="4">
                  <c:v>2015</c:v>
                </c:pt>
                <c:pt idx="6">
                  <c:v>2016</c:v>
                </c:pt>
                <c:pt idx="7">
                  <c:v>2015</c:v>
                </c:pt>
              </c:numCache>
            </c:numRef>
          </c:cat>
          <c:val>
            <c:numRef>
              <c:f>Sheet1!$C$2:$C$9</c:f>
              <c:numCache>
                <c:formatCode>0%</c:formatCode>
                <c:ptCount val="8"/>
                <c:pt idx="0">
                  <c:v>0.41</c:v>
                </c:pt>
                <c:pt idx="1">
                  <c:v>0.48</c:v>
                </c:pt>
                <c:pt idx="3">
                  <c:v>0.47</c:v>
                </c:pt>
                <c:pt idx="4">
                  <c:v>0.39</c:v>
                </c:pt>
                <c:pt idx="6">
                  <c:v>0.33</c:v>
                </c:pt>
                <c:pt idx="7">
                  <c:v>0.32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Poor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2016</c:v>
                </c:pt>
                <c:pt idx="1">
                  <c:v>2015</c:v>
                </c:pt>
                <c:pt idx="3">
                  <c:v>2016</c:v>
                </c:pt>
                <c:pt idx="4">
                  <c:v>2015</c:v>
                </c:pt>
                <c:pt idx="6">
                  <c:v>2016</c:v>
                </c:pt>
                <c:pt idx="7">
                  <c:v>2015</c:v>
                </c:pt>
              </c:numCache>
            </c:numRef>
          </c:cat>
          <c:val>
            <c:numRef>
              <c:f>Sheet1!$D$2:$D$9</c:f>
              <c:numCache>
                <c:formatCode>0%</c:formatCode>
                <c:ptCount val="8"/>
                <c:pt idx="0">
                  <c:v>0.08</c:v>
                </c:pt>
                <c:pt idx="1">
                  <c:v>0.14000000000000001</c:v>
                </c:pt>
                <c:pt idx="3">
                  <c:v>0.14000000000000001</c:v>
                </c:pt>
                <c:pt idx="4">
                  <c:v>0.19</c:v>
                </c:pt>
                <c:pt idx="6">
                  <c:v>0.08</c:v>
                </c:pt>
                <c:pt idx="7">
                  <c:v>0.16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Unaware</c:v>
                </c:pt>
              </c:strCache>
            </c:strRef>
          </c:tx>
          <c:spPr>
            <a:solidFill>
              <a:srgbClr val="EE2D2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2016</c:v>
                </c:pt>
                <c:pt idx="1">
                  <c:v>2015</c:v>
                </c:pt>
                <c:pt idx="3">
                  <c:v>2016</c:v>
                </c:pt>
                <c:pt idx="4">
                  <c:v>2015</c:v>
                </c:pt>
                <c:pt idx="6">
                  <c:v>2016</c:v>
                </c:pt>
                <c:pt idx="7">
                  <c:v>2015</c:v>
                </c:pt>
              </c:numCache>
            </c:numRef>
          </c:cat>
          <c:val>
            <c:numRef>
              <c:f>Sheet1!$E$2:$E$9</c:f>
              <c:numCache>
                <c:formatCode>0%</c:formatCode>
                <c:ptCount val="8"/>
                <c:pt idx="0">
                  <c:v>0.2</c:v>
                </c:pt>
                <c:pt idx="1">
                  <c:v>0.14000000000000001</c:v>
                </c:pt>
                <c:pt idx="3">
                  <c:v>0.19</c:v>
                </c:pt>
                <c:pt idx="4">
                  <c:v>0.22</c:v>
                </c:pt>
                <c:pt idx="6">
                  <c:v>0.21</c:v>
                </c:pt>
                <c:pt idx="7">
                  <c:v>0.28999999999999998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"/>
        <c:overlap val="100"/>
        <c:axId val="448557656"/>
        <c:axId val="448560008"/>
      </c:barChart>
      <c:catAx>
        <c:axId val="44855765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8560008"/>
        <c:crosses val="autoZero"/>
        <c:auto val="1"/>
        <c:lblAlgn val="ctr"/>
        <c:lblOffset val="100"/>
        <c:noMultiLvlLbl val="0"/>
      </c:catAx>
      <c:valAx>
        <c:axId val="448560008"/>
        <c:scaling>
          <c:orientation val="minMax"/>
          <c:max val="1"/>
        </c:scaling>
        <c:delete val="1"/>
        <c:axPos val="t"/>
        <c:numFmt formatCode="0%" sourceLinked="1"/>
        <c:majorTickMark val="out"/>
        <c:minorTickMark val="none"/>
        <c:tickLblPos val="none"/>
        <c:crossAx val="448557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13907366774062138"/>
          <c:y val="0.85899986136188788"/>
          <c:w val="0.86092633225937876"/>
          <c:h val="0.1021390989840815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8267229567085139"/>
          <c:y val="3.6124884759393204E-2"/>
          <c:w val="0.78378154742065698"/>
          <c:h val="0.78796102726145678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Good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2016</c:v>
                </c:pt>
                <c:pt idx="1">
                  <c:v>2015</c:v>
                </c:pt>
                <c:pt idx="3">
                  <c:v>2016</c:v>
                </c:pt>
                <c:pt idx="4">
                  <c:v>2015</c:v>
                </c:pt>
                <c:pt idx="6">
                  <c:v>2016</c:v>
                </c:pt>
                <c:pt idx="7">
                  <c:v>2015</c:v>
                </c:pt>
              </c:numCache>
            </c:numRef>
          </c:cat>
          <c:val>
            <c:numRef>
              <c:f>Sheet1!$B$2:$B$9</c:f>
              <c:numCache>
                <c:formatCode>0%</c:formatCode>
                <c:ptCount val="8"/>
                <c:pt idx="0">
                  <c:v>0.3</c:v>
                </c:pt>
                <c:pt idx="1">
                  <c:v>0.23</c:v>
                </c:pt>
                <c:pt idx="3">
                  <c:v>0.22</c:v>
                </c:pt>
                <c:pt idx="4">
                  <c:v>0.13</c:v>
                </c:pt>
                <c:pt idx="6">
                  <c:v>0.44</c:v>
                </c:pt>
                <c:pt idx="7">
                  <c:v>0.33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Fair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2016</c:v>
                </c:pt>
                <c:pt idx="1">
                  <c:v>2015</c:v>
                </c:pt>
                <c:pt idx="3">
                  <c:v>2016</c:v>
                </c:pt>
                <c:pt idx="4">
                  <c:v>2015</c:v>
                </c:pt>
                <c:pt idx="6">
                  <c:v>2016</c:v>
                </c:pt>
                <c:pt idx="7">
                  <c:v>2015</c:v>
                </c:pt>
              </c:numCache>
            </c:numRef>
          </c:cat>
          <c:val>
            <c:numRef>
              <c:f>Sheet1!$C$2:$C$9</c:f>
              <c:numCache>
                <c:formatCode>0%</c:formatCode>
                <c:ptCount val="8"/>
                <c:pt idx="0">
                  <c:v>0.36</c:v>
                </c:pt>
                <c:pt idx="1">
                  <c:v>0.4</c:v>
                </c:pt>
                <c:pt idx="3">
                  <c:v>0.38</c:v>
                </c:pt>
                <c:pt idx="4">
                  <c:v>0.43</c:v>
                </c:pt>
                <c:pt idx="6">
                  <c:v>0.28000000000000003</c:v>
                </c:pt>
                <c:pt idx="7">
                  <c:v>0.25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Poor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9394882050143654E-3"/>
                  <c:y val="1.8783685017137295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2016</c:v>
                </c:pt>
                <c:pt idx="1">
                  <c:v>2015</c:v>
                </c:pt>
                <c:pt idx="3">
                  <c:v>2016</c:v>
                </c:pt>
                <c:pt idx="4">
                  <c:v>2015</c:v>
                </c:pt>
                <c:pt idx="6">
                  <c:v>2016</c:v>
                </c:pt>
                <c:pt idx="7">
                  <c:v>2015</c:v>
                </c:pt>
              </c:numCache>
            </c:numRef>
          </c:cat>
          <c:val>
            <c:numRef>
              <c:f>Sheet1!$D$2:$D$9</c:f>
              <c:numCache>
                <c:formatCode>0%</c:formatCode>
                <c:ptCount val="8"/>
                <c:pt idx="0">
                  <c:v>0.05</c:v>
                </c:pt>
                <c:pt idx="1">
                  <c:v>0.15</c:v>
                </c:pt>
                <c:pt idx="3">
                  <c:v>7.0000000000000007E-2</c:v>
                </c:pt>
                <c:pt idx="4">
                  <c:v>0.19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Unaware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2016</c:v>
                </c:pt>
                <c:pt idx="1">
                  <c:v>2015</c:v>
                </c:pt>
                <c:pt idx="3">
                  <c:v>2016</c:v>
                </c:pt>
                <c:pt idx="4">
                  <c:v>2015</c:v>
                </c:pt>
                <c:pt idx="6">
                  <c:v>2016</c:v>
                </c:pt>
                <c:pt idx="7">
                  <c:v>2015</c:v>
                </c:pt>
              </c:numCache>
            </c:numRef>
          </c:cat>
          <c:val>
            <c:numRef>
              <c:f>Sheet1!$E$2:$E$9</c:f>
              <c:numCache>
                <c:formatCode>0%</c:formatCode>
                <c:ptCount val="8"/>
                <c:pt idx="0">
                  <c:v>0.28999999999999998</c:v>
                </c:pt>
                <c:pt idx="1">
                  <c:v>0.23</c:v>
                </c:pt>
                <c:pt idx="3">
                  <c:v>0.33</c:v>
                </c:pt>
                <c:pt idx="4">
                  <c:v>0.24</c:v>
                </c:pt>
                <c:pt idx="6">
                  <c:v>0.28000000000000003</c:v>
                </c:pt>
                <c:pt idx="7">
                  <c:v>0.42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"/>
        <c:overlap val="100"/>
        <c:axId val="371759480"/>
        <c:axId val="371766536"/>
      </c:barChart>
      <c:catAx>
        <c:axId val="37175948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1766536"/>
        <c:crosses val="autoZero"/>
        <c:auto val="1"/>
        <c:lblAlgn val="ctr"/>
        <c:lblOffset val="100"/>
        <c:noMultiLvlLbl val="0"/>
      </c:catAx>
      <c:valAx>
        <c:axId val="371766536"/>
        <c:scaling>
          <c:orientation val="minMax"/>
          <c:max val="1"/>
        </c:scaling>
        <c:delete val="1"/>
        <c:axPos val="t"/>
        <c:numFmt formatCode="0%" sourceLinked="1"/>
        <c:majorTickMark val="out"/>
        <c:minorTickMark val="none"/>
        <c:tickLblPos val="none"/>
        <c:crossAx val="3717594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23754652260859907"/>
          <c:y val="0.85696712235260397"/>
          <c:w val="0.67396168944191381"/>
          <c:h val="9.164100358852164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149076028589418"/>
          <c:y val="3.6125002169898376E-2"/>
          <c:w val="0.7720235946006001"/>
          <c:h val="0.84177806880423833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Yes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Sheet1!$A$2:$A$11</c:f>
              <c:numCache>
                <c:formatCode>General</c:formatCode>
                <c:ptCount val="8"/>
                <c:pt idx="0">
                  <c:v>2016</c:v>
                </c:pt>
                <c:pt idx="1">
                  <c:v>2015</c:v>
                </c:pt>
                <c:pt idx="3">
                  <c:v>2016</c:v>
                </c:pt>
                <c:pt idx="4">
                  <c:v>2015</c:v>
                </c:pt>
                <c:pt idx="6">
                  <c:v>2016</c:v>
                </c:pt>
                <c:pt idx="7">
                  <c:v>2015</c:v>
                </c:pt>
              </c:numCache>
            </c:numRef>
          </c:cat>
          <c:val>
            <c:numRef>
              <c:f>Sheet1!$B$2:$B$11</c:f>
              <c:numCache>
                <c:formatCode>0%</c:formatCode>
                <c:ptCount val="8"/>
                <c:pt idx="0">
                  <c:v>0.47</c:v>
                </c:pt>
                <c:pt idx="1">
                  <c:v>0.47</c:v>
                </c:pt>
                <c:pt idx="3">
                  <c:v>0.62</c:v>
                </c:pt>
                <c:pt idx="4">
                  <c:v>0.41</c:v>
                </c:pt>
                <c:pt idx="6">
                  <c:v>0.77</c:v>
                </c:pt>
                <c:pt idx="7">
                  <c:v>0.64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 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Sheet1!$A$2:$A$11</c:f>
              <c:numCache>
                <c:formatCode>General</c:formatCode>
                <c:ptCount val="8"/>
                <c:pt idx="0">
                  <c:v>2016</c:v>
                </c:pt>
                <c:pt idx="1">
                  <c:v>2015</c:v>
                </c:pt>
                <c:pt idx="3">
                  <c:v>2016</c:v>
                </c:pt>
                <c:pt idx="4">
                  <c:v>2015</c:v>
                </c:pt>
                <c:pt idx="6">
                  <c:v>2016</c:v>
                </c:pt>
                <c:pt idx="7">
                  <c:v>2015</c:v>
                </c:pt>
              </c:numCache>
            </c:numRef>
          </c:cat>
          <c:val>
            <c:numRef>
              <c:f>Sheet1!$C$2:$C$11</c:f>
              <c:numCache>
                <c:formatCode>0%</c:formatCode>
                <c:ptCount val="8"/>
                <c:pt idx="0">
                  <c:v>0.17</c:v>
                </c:pt>
                <c:pt idx="1">
                  <c:v>0.18</c:v>
                </c:pt>
                <c:pt idx="3">
                  <c:v>0.13</c:v>
                </c:pt>
                <c:pt idx="4">
                  <c:v>0.19</c:v>
                </c:pt>
                <c:pt idx="6">
                  <c:v>0.08</c:v>
                </c:pt>
                <c:pt idx="7">
                  <c:v>0.14000000000000001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Don't know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Sheet1!$A$2:$A$11</c:f>
              <c:numCache>
                <c:formatCode>General</c:formatCode>
                <c:ptCount val="8"/>
                <c:pt idx="0">
                  <c:v>2016</c:v>
                </c:pt>
                <c:pt idx="1">
                  <c:v>2015</c:v>
                </c:pt>
                <c:pt idx="3">
                  <c:v>2016</c:v>
                </c:pt>
                <c:pt idx="4">
                  <c:v>2015</c:v>
                </c:pt>
                <c:pt idx="6">
                  <c:v>2016</c:v>
                </c:pt>
                <c:pt idx="7">
                  <c:v>2015</c:v>
                </c:pt>
              </c:numCache>
            </c:numRef>
          </c:cat>
          <c:val>
            <c:numRef>
              <c:f>Sheet1!$D$2:$D$11</c:f>
              <c:numCache>
                <c:formatCode>0%</c:formatCode>
                <c:ptCount val="8"/>
                <c:pt idx="0">
                  <c:v>0.36</c:v>
                </c:pt>
                <c:pt idx="1">
                  <c:v>0.36</c:v>
                </c:pt>
                <c:pt idx="3">
                  <c:v>0.25</c:v>
                </c:pt>
                <c:pt idx="4">
                  <c:v>0.41</c:v>
                </c:pt>
                <c:pt idx="6">
                  <c:v>0.15</c:v>
                </c:pt>
                <c:pt idx="7">
                  <c:v>0.21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"/>
        <c:overlap val="100"/>
        <c:axId val="448561968"/>
        <c:axId val="448558048"/>
      </c:barChart>
      <c:catAx>
        <c:axId val="44856196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8558048"/>
        <c:crosses val="autoZero"/>
        <c:auto val="1"/>
        <c:lblAlgn val="ctr"/>
        <c:lblOffset val="100"/>
        <c:noMultiLvlLbl val="0"/>
      </c:catAx>
      <c:valAx>
        <c:axId val="448558048"/>
        <c:scaling>
          <c:orientation val="minMax"/>
          <c:max val="1"/>
        </c:scaling>
        <c:delete val="1"/>
        <c:axPos val="t"/>
        <c:numFmt formatCode="0%" sourceLinked="1"/>
        <c:majorTickMark val="none"/>
        <c:minorTickMark val="none"/>
        <c:tickLblPos val="none"/>
        <c:crossAx val="4485619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30662449542643411"/>
          <c:y val="0.93410372514798701"/>
          <c:w val="0.46120014442839669"/>
          <c:h val="6.250455678657412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5125027584395665"/>
          <c:y val="0"/>
          <c:w val="0.50050113400184759"/>
          <c:h val="0.9490839877219368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Sheet1!$A$2:$A$19</c:f>
              <c:strCache>
                <c:ptCount val="12"/>
                <c:pt idx="0">
                  <c:v>You fear that your relationship with the retailer could be damaged </c:v>
                </c:pt>
                <c:pt idx="1">
                  <c:v>You fear retribution (e.g. delisting) from the groceries retailer</c:v>
                </c:pt>
                <c:pt idx="2">
                  <c:v>You fear your reputation in the wider retail sector will be affected </c:v>
                </c:pt>
                <c:pt idx="3">
                  <c:v> Raising the issue with the GCA would depend on the situation/ Code breach</c:v>
                </c:pt>
                <c:pt idx="4">
                  <c:v>Not confident the GCA will maintain confidentiality</c:v>
                </c:pt>
                <c:pt idx="5">
                  <c:v>You can address the concerns yourself</c:v>
                </c:pt>
                <c:pt idx="6">
                  <c:v>Don't think the GCA will be able to do anything</c:v>
                </c:pt>
                <c:pt idx="7">
                  <c:v>Don't think concerns are important enough</c:v>
                </c:pt>
                <c:pt idx="8">
                  <c:v>You haven’t yet experienced any Code breaches</c:v>
                </c:pt>
                <c:pt idx="9">
                  <c:v>Think GCA already aware of the issue</c:v>
                </c:pt>
                <c:pt idx="10">
                  <c:v>You don’t know if your issue is covered by the Code </c:v>
                </c:pt>
                <c:pt idx="11">
                  <c:v>See this issue as a normal part of doing business </c:v>
                </c:pt>
              </c:strCache>
            </c:strRef>
          </c:cat>
          <c:val>
            <c:numRef>
              <c:f>Sheet1!$B$2:$B$19</c:f>
              <c:numCache>
                <c:formatCode>0%</c:formatCode>
                <c:ptCount val="12"/>
                <c:pt idx="0">
                  <c:v>0.55679999999999996</c:v>
                </c:pt>
                <c:pt idx="1">
                  <c:v>0.47</c:v>
                </c:pt>
                <c:pt idx="2">
                  <c:v>0.29549999999999998</c:v>
                </c:pt>
                <c:pt idx="3">
                  <c:v>0.17050000000000001</c:v>
                </c:pt>
                <c:pt idx="4">
                  <c:v>0.27</c:v>
                </c:pt>
                <c:pt idx="5">
                  <c:v>0.16</c:v>
                </c:pt>
                <c:pt idx="6">
                  <c:v>0.2</c:v>
                </c:pt>
                <c:pt idx="7">
                  <c:v>0.08</c:v>
                </c:pt>
                <c:pt idx="8">
                  <c:v>0.34089999999999998</c:v>
                </c:pt>
                <c:pt idx="9">
                  <c:v>0.08</c:v>
                </c:pt>
                <c:pt idx="10">
                  <c:v>9.0899999999999995E-2</c:v>
                </c:pt>
                <c:pt idx="11">
                  <c:v>0.09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Not sure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Sheet1!$A$2:$A$19</c:f>
              <c:strCache>
                <c:ptCount val="12"/>
                <c:pt idx="0">
                  <c:v>You fear that your relationship with the retailer could be damaged </c:v>
                </c:pt>
                <c:pt idx="1">
                  <c:v>You fear retribution (e.g. delisting) from the groceries retailer</c:v>
                </c:pt>
                <c:pt idx="2">
                  <c:v>You fear your reputation in the wider retail sector will be affected </c:v>
                </c:pt>
                <c:pt idx="3">
                  <c:v> Raising the issue with the GCA would depend on the situation/ Code breach</c:v>
                </c:pt>
                <c:pt idx="4">
                  <c:v>Not confident the GCA will maintain confidentiality</c:v>
                </c:pt>
                <c:pt idx="5">
                  <c:v>You can address the concerns yourself</c:v>
                </c:pt>
                <c:pt idx="6">
                  <c:v>Don't think the GCA will be able to do anything</c:v>
                </c:pt>
                <c:pt idx="7">
                  <c:v>Don't think concerns are important enough</c:v>
                </c:pt>
                <c:pt idx="8">
                  <c:v>You haven’t yet experienced any Code breaches</c:v>
                </c:pt>
                <c:pt idx="9">
                  <c:v>Think GCA already aware of the issue</c:v>
                </c:pt>
                <c:pt idx="10">
                  <c:v>You don’t know if your issue is covered by the Code </c:v>
                </c:pt>
                <c:pt idx="11">
                  <c:v>See this issue as a normal part of doing business </c:v>
                </c:pt>
              </c:strCache>
            </c:strRef>
          </c:cat>
          <c:val>
            <c:numRef>
              <c:f>Sheet1!$C$2:$C$19</c:f>
              <c:numCache>
                <c:formatCode>0%</c:formatCode>
                <c:ptCount val="12"/>
                <c:pt idx="0">
                  <c:v>0.68</c:v>
                </c:pt>
                <c:pt idx="1">
                  <c:v>0.56999999999999995</c:v>
                </c:pt>
                <c:pt idx="2">
                  <c:v>0.44</c:v>
                </c:pt>
                <c:pt idx="3">
                  <c:v>0.38</c:v>
                </c:pt>
                <c:pt idx="4">
                  <c:v>0.33</c:v>
                </c:pt>
                <c:pt idx="5">
                  <c:v>0.28000000000000003</c:v>
                </c:pt>
                <c:pt idx="6">
                  <c:v>0.18</c:v>
                </c:pt>
                <c:pt idx="7">
                  <c:v>0.15</c:v>
                </c:pt>
                <c:pt idx="8">
                  <c:v>0.14000000000000001</c:v>
                </c:pt>
                <c:pt idx="9">
                  <c:v>0.14000000000000001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448561184"/>
        <c:axId val="448569808"/>
      </c:barChart>
      <c:catAx>
        <c:axId val="44856118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8569808"/>
        <c:crosses val="autoZero"/>
        <c:auto val="1"/>
        <c:lblAlgn val="ctr"/>
        <c:lblOffset val="100"/>
        <c:noMultiLvlLbl val="0"/>
      </c:catAx>
      <c:valAx>
        <c:axId val="448569808"/>
        <c:scaling>
          <c:orientation val="minMax"/>
          <c:max val="1"/>
        </c:scaling>
        <c:delete val="1"/>
        <c:axPos val="t"/>
        <c:numFmt formatCode="0%" sourceLinked="1"/>
        <c:majorTickMark val="out"/>
        <c:minorTickMark val="none"/>
        <c:tickLblPos val="nextTo"/>
        <c:crossAx val="4485611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6558037910307291E-2"/>
          <c:y val="2.6912595518523069E-2"/>
          <c:w val="0.90688392417938546"/>
          <c:h val="0.84544656992516487"/>
        </c:manualLayout>
      </c:layout>
      <c:barChart>
        <c:barDir val="col"/>
        <c:grouping val="percentStacked"/>
        <c:varyColors val="0"/>
        <c:ser>
          <c:idx val="1"/>
          <c:order val="1"/>
          <c:tx>
            <c:strRef>
              <c:f>Sheet1!$B$1</c:f>
              <c:strCache>
                <c:ptCount val="1"/>
                <c:pt idx="0">
                  <c:v>Not sure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Sheet1!$A$3:$A$4</c:f>
              <c:numCache>
                <c:formatCode>General</c:formatCode>
                <c:ptCount val="2"/>
                <c:pt idx="0">
                  <c:v>2015</c:v>
                </c:pt>
                <c:pt idx="1">
                  <c:v>2016</c:v>
                </c:pt>
              </c:numCache>
            </c:numRef>
          </c:cat>
          <c:val>
            <c:numRef>
              <c:f>Sheet1!$B$2:$B$4</c:f>
              <c:numCache>
                <c:formatCode>0%</c:formatCode>
                <c:ptCount val="2"/>
                <c:pt idx="0">
                  <c:v>0.36</c:v>
                </c:pt>
                <c:pt idx="1">
                  <c:v>0.36</c:v>
                </c:pt>
              </c:numCache>
            </c:numRef>
          </c:val>
        </c:ser>
        <c:ser>
          <c:idx val="2"/>
          <c:order val="2"/>
          <c:tx>
            <c:strRef>
              <c:f>Sheet1!$C$1</c:f>
              <c:strCache>
                <c:ptCount val="1"/>
                <c:pt idx="0">
                  <c:v>No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Sheet1!$A$3:$A$4</c:f>
              <c:numCache>
                <c:formatCode>General</c:formatCode>
                <c:ptCount val="2"/>
                <c:pt idx="0">
                  <c:v>2015</c:v>
                </c:pt>
                <c:pt idx="1">
                  <c:v>2016</c:v>
                </c:pt>
              </c:numCache>
            </c:numRef>
          </c:cat>
          <c:val>
            <c:numRef>
              <c:f>Sheet1!$C$2:$C$4</c:f>
              <c:numCache>
                <c:formatCode>0%</c:formatCode>
                <c:ptCount val="2"/>
                <c:pt idx="0">
                  <c:v>0.18</c:v>
                </c:pt>
                <c:pt idx="1">
                  <c:v>0.17</c:v>
                </c:pt>
              </c:numCache>
            </c:numRef>
          </c:val>
        </c:ser>
        <c:ser>
          <c:idx val="3"/>
          <c:order val="3"/>
          <c:tx>
            <c:strRef>
              <c:f>Sheet1!$D$1</c:f>
              <c:strCache>
                <c:ptCount val="1"/>
                <c:pt idx="0">
                  <c:v>Yes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Sheet1!$A$3:$A$4</c:f>
              <c:numCache>
                <c:formatCode>General</c:formatCode>
                <c:ptCount val="2"/>
                <c:pt idx="0">
                  <c:v>2015</c:v>
                </c:pt>
                <c:pt idx="1">
                  <c:v>2016</c:v>
                </c:pt>
              </c:numCache>
            </c:numRef>
          </c:cat>
          <c:val>
            <c:numRef>
              <c:f>Sheet1!$D$2:$D$4</c:f>
              <c:numCache>
                <c:formatCode>0%</c:formatCode>
                <c:ptCount val="2"/>
                <c:pt idx="0">
                  <c:v>0.47</c:v>
                </c:pt>
                <c:pt idx="1">
                  <c:v>0.47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6"/>
        <c:overlap val="100"/>
        <c:axId val="371767712"/>
        <c:axId val="371768104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Sheet1!$B$1:$D$1</c15:sqref>
                        </c15:formulaRef>
                      </c:ext>
                    </c:extLst>
                    <c:strCache>
                      <c:ptCount val="1"/>
                      <c:pt idx="0">
                        <c:v>Not sure No Yes</c:v>
                      </c:pt>
                    </c:strCache>
                  </c:strRef>
                </c:tx>
                <c:spPr>
                  <a:solidFill>
                    <a:schemeClr val="bg2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numRef>
                    <c:extLst>
                      <c:ext uri="{02D57815-91ED-43cb-92C2-25804820EDAC}">
                        <c15:formulaRef>
                          <c15:sqref>Sheet1!$A$3:$A$4</c15:sqref>
                        </c15:formulaRef>
                      </c:ext>
                    </c:extLst>
                    <c:numCache>
                      <c:formatCode>General</c:formatCode>
                      <c:ptCount val="2"/>
                      <c:pt idx="0">
                        <c:v>2015</c:v>
                      </c:pt>
                      <c:pt idx="1">
                        <c:v>2016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Sheet1!$A$3:$A$4</c15:sqref>
                        </c15:formulaRef>
                      </c:ext>
                    </c:extLst>
                    <c:numCache>
                      <c:formatCode>General</c:formatCode>
                      <c:ptCount val="2"/>
                      <c:pt idx="0">
                        <c:v>2015</c:v>
                      </c:pt>
                      <c:pt idx="1">
                        <c:v>2016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371767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1768104"/>
        <c:crosses val="autoZero"/>
        <c:auto val="1"/>
        <c:lblAlgn val="ctr"/>
        <c:lblOffset val="100"/>
        <c:noMultiLvlLbl val="0"/>
      </c:catAx>
      <c:valAx>
        <c:axId val="371768104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one"/>
        <c:crossAx val="3717677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6528370075412691"/>
          <c:y val="0.92306764371482486"/>
          <c:w val="0.56785109159769065"/>
          <c:h val="5.948997280407373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9764778703393375"/>
          <c:y val="4.178285746028218E-2"/>
          <c:w val="0.44097843003438458"/>
          <c:h val="0.9438480183883474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The culture has changed to a more collaborative approach</c:v>
                </c:pt>
                <c:pt idx="1">
                  <c:v>Suppliers feel able to raise issues with retailers / CCOs when they feel treated unfairly</c:v>
                </c:pt>
                <c:pt idx="2">
                  <c:v>Suppliers feel they have a greater influence over their terms of supply</c:v>
                </c:pt>
                <c:pt idx="3">
                  <c:v>Retailers have been fined for breaking the Code</c:v>
                </c:pt>
                <c:pt idx="4">
                  <c:v>Advice and guidance published</c:v>
                </c:pt>
                <c:pt idx="5">
                  <c:v>The whole supply chain is working more efficiently</c:v>
                </c:pt>
                <c:pt idx="6">
                  <c:v>The cost of doing business with retailers is reduced</c:v>
                </c:pt>
                <c:pt idx="7">
                  <c:v>By the number of investigations carried out</c:v>
                </c:pt>
                <c:pt idx="8">
                  <c:v>By the number of arbitrations the GCA is asked to carry out</c:v>
                </c:pt>
                <c:pt idx="9">
                  <c:v>Other</c:v>
                </c:pt>
                <c:pt idx="10">
                  <c:v>Don’t know</c:v>
                </c:pt>
              </c:strCache>
            </c:strRef>
          </c:cat>
          <c:val>
            <c:numRef>
              <c:f>Sheet1!$B$2:$B$12</c:f>
              <c:numCache>
                <c:formatCode>0%</c:formatCode>
                <c:ptCount val="11"/>
                <c:pt idx="0">
                  <c:v>0.72</c:v>
                </c:pt>
                <c:pt idx="1">
                  <c:v>0.6</c:v>
                </c:pt>
                <c:pt idx="2">
                  <c:v>0.51</c:v>
                </c:pt>
                <c:pt idx="3">
                  <c:v>0.39</c:v>
                </c:pt>
                <c:pt idx="4">
                  <c:v>0.28999999999999998</c:v>
                </c:pt>
                <c:pt idx="5">
                  <c:v>0.26</c:v>
                </c:pt>
                <c:pt idx="6">
                  <c:v>0.22</c:v>
                </c:pt>
                <c:pt idx="7">
                  <c:v>0.17</c:v>
                </c:pt>
                <c:pt idx="8">
                  <c:v>0.05</c:v>
                </c:pt>
                <c:pt idx="9">
                  <c:v>0.02</c:v>
                </c:pt>
                <c:pt idx="10">
                  <c:v>0.04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2015</c:v>
                </c:pt>
              </c:strCache>
            </c:strRef>
          </c:tx>
          <c:spPr>
            <a:solidFill>
              <a:schemeClr val="accent4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The culture has changed to a more collaborative approach</c:v>
                </c:pt>
                <c:pt idx="1">
                  <c:v>Suppliers feel able to raise issues with retailers / CCOs when they feel treated unfairly</c:v>
                </c:pt>
                <c:pt idx="2">
                  <c:v>Suppliers feel they have a greater influence over their terms of supply</c:v>
                </c:pt>
                <c:pt idx="3">
                  <c:v>Retailers have been fined for breaking the Code</c:v>
                </c:pt>
                <c:pt idx="4">
                  <c:v>Advice and guidance published</c:v>
                </c:pt>
                <c:pt idx="5">
                  <c:v>The whole supply chain is working more efficiently</c:v>
                </c:pt>
                <c:pt idx="6">
                  <c:v>The cost of doing business with retailers is reduced</c:v>
                </c:pt>
                <c:pt idx="7">
                  <c:v>By the number of investigations carried out</c:v>
                </c:pt>
                <c:pt idx="8">
                  <c:v>By the number of arbitrations the GCA is asked to carry out</c:v>
                </c:pt>
                <c:pt idx="9">
                  <c:v>Other</c:v>
                </c:pt>
                <c:pt idx="10">
                  <c:v>Don’t know</c:v>
                </c:pt>
              </c:strCache>
            </c:strRef>
          </c:cat>
          <c:val>
            <c:numRef>
              <c:f>Sheet1!$C$2:$C$12</c:f>
              <c:numCache>
                <c:formatCode>0%</c:formatCode>
                <c:ptCount val="11"/>
                <c:pt idx="0">
                  <c:v>0.74</c:v>
                </c:pt>
                <c:pt idx="1">
                  <c:v>0.65</c:v>
                </c:pt>
                <c:pt idx="2">
                  <c:v>0.46</c:v>
                </c:pt>
                <c:pt idx="3">
                  <c:v>0.46</c:v>
                </c:pt>
                <c:pt idx="4">
                  <c:v>0.27</c:v>
                </c:pt>
                <c:pt idx="5">
                  <c:v>0.23</c:v>
                </c:pt>
                <c:pt idx="6">
                  <c:v>0.27</c:v>
                </c:pt>
                <c:pt idx="7">
                  <c:v>0.22</c:v>
                </c:pt>
                <c:pt idx="8">
                  <c:v>0.09</c:v>
                </c:pt>
                <c:pt idx="9">
                  <c:v>0.04</c:v>
                </c:pt>
                <c:pt idx="10">
                  <c:v>0.03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2014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The culture has changed to a more collaborative approach</c:v>
                </c:pt>
                <c:pt idx="1">
                  <c:v>Suppliers feel able to raise issues with retailers / CCOs when they feel treated unfairly</c:v>
                </c:pt>
                <c:pt idx="2">
                  <c:v>Suppliers feel they have a greater influence over their terms of supply</c:v>
                </c:pt>
                <c:pt idx="3">
                  <c:v>Retailers have been fined for breaking the Code</c:v>
                </c:pt>
                <c:pt idx="4">
                  <c:v>Advice and guidance published</c:v>
                </c:pt>
                <c:pt idx="5">
                  <c:v>The whole supply chain is working more efficiently</c:v>
                </c:pt>
                <c:pt idx="6">
                  <c:v>The cost of doing business with retailers is reduced</c:v>
                </c:pt>
                <c:pt idx="7">
                  <c:v>By the number of investigations carried out</c:v>
                </c:pt>
                <c:pt idx="8">
                  <c:v>By the number of arbitrations the GCA is asked to carry out</c:v>
                </c:pt>
                <c:pt idx="9">
                  <c:v>Other</c:v>
                </c:pt>
                <c:pt idx="10">
                  <c:v>Don’t know</c:v>
                </c:pt>
              </c:strCache>
            </c:strRef>
          </c:cat>
          <c:val>
            <c:numRef>
              <c:f>Sheet1!$D$2:$D$12</c:f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71758696"/>
        <c:axId val="371761048"/>
      </c:barChart>
      <c:catAx>
        <c:axId val="37175869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1761048"/>
        <c:crosses val="autoZero"/>
        <c:auto val="1"/>
        <c:lblAlgn val="ctr"/>
        <c:lblOffset val="100"/>
        <c:noMultiLvlLbl val="0"/>
      </c:catAx>
      <c:valAx>
        <c:axId val="371761048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one"/>
        <c:crossAx val="3717586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8198681482436971"/>
          <c:y val="0.48880792524554328"/>
          <c:w val="7.1257634110248713E-2"/>
          <c:h val="0.1092487471362040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2015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C00000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rgbClr val="7F7F7F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2"/>
              <c:layout>
                <c:manualLayout>
                  <c:x val="3.7267148190845731E-3"/>
                  <c:y val="0.1289982761923003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Yes</c:v>
                </c:pt>
                <c:pt idx="1">
                  <c:v>No</c:v>
                </c:pt>
                <c:pt idx="2">
                  <c:v>dk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0.28999999999999998</c:v>
                </c:pt>
                <c:pt idx="1">
                  <c:v>0.68</c:v>
                </c:pt>
                <c:pt idx="2">
                  <c:v>0.03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41399073849810969"/>
          <c:y val="0.1395253584021516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00" b="0" i="0" u="none" strike="noStrike" kern="1200" spc="0" baseline="0">
              <a:solidFill>
                <a:schemeClr val="tx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2016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C00000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rgbClr val="7F7F7F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2"/>
              <c:layout>
                <c:manualLayout>
                  <c:x val="0"/>
                  <c:y val="-3.05627296416125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Yes</c:v>
                </c:pt>
                <c:pt idx="1">
                  <c:v>No</c:v>
                </c:pt>
                <c:pt idx="2">
                  <c:v>Don't know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0.35</c:v>
                </c:pt>
                <c:pt idx="1">
                  <c:v>0.62</c:v>
                </c:pt>
                <c:pt idx="2">
                  <c:v>0.03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9775343617118525E-2"/>
          <c:y val="0.83186191036793677"/>
          <c:w val="0.87825760577183731"/>
          <c:h val="7.6449900707226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1664029845754119"/>
          <c:y val="1.7063582261242868E-2"/>
          <c:w val="0.58335970154245886"/>
          <c:h val="0.9490839877219368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2016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An external agency/ consultancy</c:v>
                </c:pt>
                <c:pt idx="1">
                  <c:v>My organisation (internal training)</c:v>
                </c:pt>
                <c:pt idx="2">
                  <c:v>A trade association</c:v>
                </c:pt>
                <c:pt idx="3">
                  <c:v>Other</c:v>
                </c:pt>
                <c:pt idx="4">
                  <c:v>Can’t remember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0.42420000000000002</c:v>
                </c:pt>
                <c:pt idx="1">
                  <c:v>0.34849999999999998</c:v>
                </c:pt>
                <c:pt idx="2">
                  <c:v>0.2626</c:v>
                </c:pt>
                <c:pt idx="3">
                  <c:v>4.0399999999999998E-2</c:v>
                </c:pt>
                <c:pt idx="4">
                  <c:v>3.0300000000000001E-2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448570592"/>
        <c:axId val="448572160"/>
      </c:barChart>
      <c:catAx>
        <c:axId val="44857059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8572160"/>
        <c:crosses val="autoZero"/>
        <c:auto val="1"/>
        <c:lblAlgn val="ctr"/>
        <c:lblOffset val="100"/>
        <c:noMultiLvlLbl val="0"/>
      </c:catAx>
      <c:valAx>
        <c:axId val="448572160"/>
        <c:scaling>
          <c:orientation val="minMax"/>
          <c:max val="0.8"/>
        </c:scaling>
        <c:delete val="1"/>
        <c:axPos val="t"/>
        <c:numFmt formatCode="0%" sourceLinked="1"/>
        <c:majorTickMark val="out"/>
        <c:minorTickMark val="none"/>
        <c:tickLblPos val="nextTo"/>
        <c:crossAx val="4485705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2015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C00000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rgbClr val="7F7F7F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2"/>
              <c:layout>
                <c:manualLayout>
                  <c:x val="3.7267148190845731E-3"/>
                  <c:y val="0.1289982761923003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Yes</c:v>
                </c:pt>
                <c:pt idx="1">
                  <c:v>No</c:v>
                </c:pt>
                <c:pt idx="2">
                  <c:v>dk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0.28999999999999998</c:v>
                </c:pt>
                <c:pt idx="1">
                  <c:v>0.68</c:v>
                </c:pt>
                <c:pt idx="2">
                  <c:v>0.03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41399073849810969"/>
          <c:y val="0.1395253584021516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00" b="0" i="0" u="none" strike="noStrike" kern="1200" spc="0" baseline="0">
              <a:solidFill>
                <a:schemeClr val="tx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2016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C00000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rgbClr val="7F7F7F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2"/>
              <c:layout>
                <c:manualLayout>
                  <c:x val="4.0741625911674077E-3"/>
                  <c:y val="-3.05627296416125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Yes</c:v>
                </c:pt>
                <c:pt idx="1">
                  <c:v>No</c:v>
                </c:pt>
                <c:pt idx="2">
                  <c:v>Don' know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0.35</c:v>
                </c:pt>
                <c:pt idx="1">
                  <c:v>0.62</c:v>
                </c:pt>
                <c:pt idx="2">
                  <c:v>0.03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9775343617118525E-2"/>
          <c:y val="0.83186191036793677"/>
          <c:w val="0.87825760577183731"/>
          <c:h val="7.6449900707226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53813521228757977"/>
          <c:y val="2.2766058137700593E-2"/>
          <c:w val="0.58335970154245886"/>
          <c:h val="0.9490839877219368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2016</c:v>
                </c:pt>
              </c:strCache>
            </c:strRef>
          </c:tx>
          <c:spPr>
            <a:solidFill>
              <a:srgbClr val="53ACA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I didn’t know there was any training on the Code</c:v>
                </c:pt>
                <c:pt idx="1">
                  <c:v>Don’t know how to access it/ who provides it</c:v>
                </c:pt>
                <c:pt idx="2">
                  <c:v>Lack of time</c:v>
                </c:pt>
                <c:pt idx="3">
                  <c:v>Budget/ cost</c:v>
                </c:pt>
                <c:pt idx="4">
                  <c:v>I don’t think it will make a difference to me</c:v>
                </c:pt>
                <c:pt idx="5">
                  <c:v>I don’t need it as I already have a good knowledge of the Code</c:v>
                </c:pt>
                <c:pt idx="6">
                  <c:v>Other</c:v>
                </c:pt>
                <c:pt idx="7">
                  <c:v>Don’t know</c:v>
                </c:pt>
              </c:strCache>
            </c:strRef>
          </c:cat>
          <c:val>
            <c:numRef>
              <c:f>Sheet1!$B$2:$B$9</c:f>
              <c:numCache>
                <c:formatCode>0%</c:formatCode>
                <c:ptCount val="8"/>
                <c:pt idx="0">
                  <c:v>0.38779999999999998</c:v>
                </c:pt>
                <c:pt idx="1">
                  <c:v>0.309</c:v>
                </c:pt>
                <c:pt idx="2">
                  <c:v>0.19</c:v>
                </c:pt>
                <c:pt idx="3">
                  <c:v>0.1</c:v>
                </c:pt>
                <c:pt idx="4">
                  <c:v>8.1600000000000006E-2</c:v>
                </c:pt>
                <c:pt idx="5">
                  <c:v>7.0000000000000007E-2</c:v>
                </c:pt>
                <c:pt idx="6">
                  <c:v>0.06</c:v>
                </c:pt>
                <c:pt idx="7">
                  <c:v>0.17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371761832"/>
        <c:axId val="371780256"/>
      </c:barChart>
      <c:catAx>
        <c:axId val="37176183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1780256"/>
        <c:crosses val="autoZero"/>
        <c:auto val="1"/>
        <c:lblAlgn val="ctr"/>
        <c:lblOffset val="100"/>
        <c:noMultiLvlLbl val="0"/>
      </c:catAx>
      <c:valAx>
        <c:axId val="371780256"/>
        <c:scaling>
          <c:orientation val="minMax"/>
          <c:max val="0.8"/>
        </c:scaling>
        <c:delete val="1"/>
        <c:axPos val="t"/>
        <c:numFmt formatCode="0%" sourceLinked="1"/>
        <c:majorTickMark val="out"/>
        <c:minorTickMark val="none"/>
        <c:tickLblPos val="nextTo"/>
        <c:crossAx val="3717618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</a:rPr>
              <a:t>Does your trade association provide or facilitate/ organise training on the Code?</a:t>
            </a:r>
          </a:p>
        </c:rich>
      </c:tx>
      <c:layout>
        <c:manualLayout>
          <c:xMode val="edge"/>
          <c:yMode val="edge"/>
          <c:x val="0.1000042068205617"/>
          <c:y val="2.9697655755913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55012115850450227"/>
          <c:y val="0.17162226367564296"/>
          <c:w val="0.44987884149549778"/>
          <c:h val="0.7523135936691087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2016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Pt>
            <c:idx val="4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Yes, I have been on it</c:v>
                </c:pt>
                <c:pt idx="1">
                  <c:v>Yes, but I have not been on it</c:v>
                </c:pt>
                <c:pt idx="2">
                  <c:v>No, I think it would be useful if they did</c:v>
                </c:pt>
                <c:pt idx="3">
                  <c:v>No, it is not what I expect them to do</c:v>
                </c:pt>
                <c:pt idx="4">
                  <c:v>Don’t know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0.14000000000000001</c:v>
                </c:pt>
                <c:pt idx="1">
                  <c:v>0.14000000000000001</c:v>
                </c:pt>
                <c:pt idx="2">
                  <c:v>0.21</c:v>
                </c:pt>
                <c:pt idx="3">
                  <c:v>7.0000000000000007E-2</c:v>
                </c:pt>
                <c:pt idx="4">
                  <c:v>0.44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71777120"/>
        <c:axId val="371773984"/>
      </c:barChart>
      <c:catAx>
        <c:axId val="3717771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1773984"/>
        <c:crosses val="autoZero"/>
        <c:auto val="1"/>
        <c:lblAlgn val="ctr"/>
        <c:lblOffset val="100"/>
        <c:noMultiLvlLbl val="0"/>
      </c:catAx>
      <c:valAx>
        <c:axId val="371773984"/>
        <c:scaling>
          <c:orientation val="minMax"/>
          <c:max val="1"/>
        </c:scaling>
        <c:delete val="1"/>
        <c:axPos val="b"/>
        <c:numFmt formatCode="0%" sourceLinked="1"/>
        <c:majorTickMark val="out"/>
        <c:minorTickMark val="none"/>
        <c:tickLblPos val="nextTo"/>
        <c:crossAx val="371777120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25400">
      <a:solidFill>
        <a:schemeClr val="tx2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sz="1400" b="1" dirty="0" smtClean="0">
                <a:solidFill>
                  <a:schemeClr val="tx1">
                    <a:lumMod val="50000"/>
                  </a:schemeClr>
                </a:solidFill>
              </a:rPr>
              <a:t>What format of training on the Code, if any, do you think would be useful to you?</a:t>
            </a:r>
            <a:endParaRPr lang="en-GB" sz="1400" b="1" dirty="0">
              <a:solidFill>
                <a:schemeClr val="tx1">
                  <a:lumMod val="50000"/>
                </a:schemeClr>
              </a:solidFill>
            </a:endParaRPr>
          </a:p>
        </c:rich>
      </c:tx>
      <c:layout>
        <c:manualLayout>
          <c:xMode val="edge"/>
          <c:yMode val="edge"/>
          <c:x val="8.0012303149606293E-2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46825110831575895"/>
          <c:y val="0.22228362244991814"/>
          <c:w val="0.46982859113365122"/>
          <c:h val="0.7731093124201039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What format of training on the Code, if any, do you think would be useful to you?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Online tutorials</c:v>
                </c:pt>
                <c:pt idx="1">
                  <c:v>Classroom based training (in-house or external)</c:v>
                </c:pt>
                <c:pt idx="2">
                  <c:v>Don’t know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0.63249999999999995</c:v>
                </c:pt>
                <c:pt idx="1">
                  <c:v>0.41980000000000001</c:v>
                </c:pt>
                <c:pt idx="2">
                  <c:v>0.1045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71777512"/>
        <c:axId val="371769672"/>
      </c:barChart>
      <c:catAx>
        <c:axId val="37177751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1769672"/>
        <c:crosses val="autoZero"/>
        <c:auto val="1"/>
        <c:lblAlgn val="ctr"/>
        <c:lblOffset val="100"/>
        <c:noMultiLvlLbl val="0"/>
      </c:catAx>
      <c:valAx>
        <c:axId val="371769672"/>
        <c:scaling>
          <c:orientation val="minMax"/>
          <c:max val="1"/>
        </c:scaling>
        <c:delete val="1"/>
        <c:axPos val="b"/>
        <c:numFmt formatCode="0%" sourceLinked="1"/>
        <c:majorTickMark val="out"/>
        <c:minorTickMark val="none"/>
        <c:tickLblPos val="nextTo"/>
        <c:crossAx val="371777512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25400">
      <a:solidFill>
        <a:schemeClr val="tx2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sz="1600" b="1" dirty="0" smtClean="0">
                <a:solidFill>
                  <a:schemeClr val="tx1">
                    <a:lumMod val="50000"/>
                  </a:schemeClr>
                </a:solidFill>
              </a:rPr>
              <a:t>Which, if any, of the following types of training on the Code would be useful to you?</a:t>
            </a:r>
            <a:endParaRPr lang="en-GB" sz="1600" b="1" dirty="0">
              <a:solidFill>
                <a:schemeClr val="tx1">
                  <a:lumMod val="50000"/>
                </a:schemeClr>
              </a:solidFill>
            </a:endParaRPr>
          </a:p>
        </c:rich>
      </c:tx>
      <c:layout>
        <c:manualLayout>
          <c:xMode val="edge"/>
          <c:yMode val="edge"/>
          <c:x val="9.3793103448275864E-2"/>
          <c:y val="1.575860301845493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51100188668337876"/>
          <c:y val="0.20571543826033198"/>
          <c:w val="0.46195284868168651"/>
          <c:h val="0.7226627823539486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Which, if any, of the following types of training on the Code would be useful to you?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Commercial training on the Code (how to use it)</c:v>
                </c:pt>
                <c:pt idx="1">
                  <c:v>Practical examples/ case studies</c:v>
                </c:pt>
                <c:pt idx="2">
                  <c:v>Legal training on the Code (what it means)</c:v>
                </c:pt>
                <c:pt idx="3">
                  <c:v>Don’t know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0.7127</c:v>
                </c:pt>
                <c:pt idx="1">
                  <c:v>0.70520000000000005</c:v>
                </c:pt>
                <c:pt idx="2">
                  <c:v>0.50190000000000001</c:v>
                </c:pt>
                <c:pt idx="3">
                  <c:v>9.7000000000000003E-2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71774376"/>
        <c:axId val="371781040"/>
      </c:barChart>
      <c:catAx>
        <c:axId val="37177437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1781040"/>
        <c:crosses val="autoZero"/>
        <c:auto val="1"/>
        <c:lblAlgn val="ctr"/>
        <c:lblOffset val="100"/>
        <c:noMultiLvlLbl val="0"/>
      </c:catAx>
      <c:valAx>
        <c:axId val="371781040"/>
        <c:scaling>
          <c:orientation val="minMax"/>
          <c:max val="1"/>
        </c:scaling>
        <c:delete val="1"/>
        <c:axPos val="b"/>
        <c:numFmt formatCode="0%" sourceLinked="1"/>
        <c:majorTickMark val="out"/>
        <c:minorTickMark val="none"/>
        <c:tickLblPos val="nextTo"/>
        <c:crossAx val="371774376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25400">
      <a:solidFill>
        <a:schemeClr val="tx2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1114652309398205"/>
          <c:y val="4.178285746028218E-2"/>
          <c:w val="0.55914382289175324"/>
          <c:h val="0.8866471185741268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2016</c:v>
                </c:pt>
              </c:strCache>
            </c:strRef>
          </c:tx>
          <c:spPr>
            <a:solidFill>
              <a:srgbClr val="53ACA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Aldi</c:v>
                </c:pt>
                <c:pt idx="1">
                  <c:v>Lidl</c:v>
                </c:pt>
                <c:pt idx="2">
                  <c:v>Tesco</c:v>
                </c:pt>
                <c:pt idx="3">
                  <c:v>Marks and Spencer</c:v>
                </c:pt>
                <c:pt idx="4">
                  <c:v>Waitrose</c:v>
                </c:pt>
                <c:pt idx="5">
                  <c:v>Morrisons</c:v>
                </c:pt>
                <c:pt idx="6">
                  <c:v>Asda</c:v>
                </c:pt>
                <c:pt idx="7">
                  <c:v>Sainsbury's</c:v>
                </c:pt>
                <c:pt idx="8">
                  <c:v>Co-operative</c:v>
                </c:pt>
                <c:pt idx="9">
                  <c:v>Iceland</c:v>
                </c:pt>
              </c:strCache>
            </c:strRef>
          </c:cat>
          <c:val>
            <c:numRef>
              <c:f>Sheet1!$B$2:$B$11</c:f>
              <c:numCache>
                <c:formatCode>0%</c:formatCode>
                <c:ptCount val="10"/>
                <c:pt idx="0">
                  <c:v>0.69</c:v>
                </c:pt>
                <c:pt idx="1">
                  <c:v>0.68</c:v>
                </c:pt>
                <c:pt idx="2">
                  <c:v>0.65</c:v>
                </c:pt>
                <c:pt idx="3">
                  <c:v>0.48</c:v>
                </c:pt>
                <c:pt idx="4">
                  <c:v>0.47</c:v>
                </c:pt>
                <c:pt idx="5">
                  <c:v>0.47</c:v>
                </c:pt>
                <c:pt idx="6">
                  <c:v>0.46</c:v>
                </c:pt>
                <c:pt idx="7">
                  <c:v>0.46</c:v>
                </c:pt>
                <c:pt idx="8">
                  <c:v>0.45</c:v>
                </c:pt>
                <c:pt idx="9">
                  <c:v>0.42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2015</c:v>
                </c:pt>
              </c:strCache>
            </c:strRef>
          </c:tx>
          <c:spPr>
            <a:solidFill>
              <a:srgbClr val="0D5D9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Aldi</c:v>
                </c:pt>
                <c:pt idx="1">
                  <c:v>Lidl</c:v>
                </c:pt>
                <c:pt idx="2">
                  <c:v>Tesco</c:v>
                </c:pt>
                <c:pt idx="3">
                  <c:v>Marks and Spencer</c:v>
                </c:pt>
                <c:pt idx="4">
                  <c:v>Waitrose</c:v>
                </c:pt>
                <c:pt idx="5">
                  <c:v>Morrisons</c:v>
                </c:pt>
                <c:pt idx="6">
                  <c:v>Asda</c:v>
                </c:pt>
                <c:pt idx="7">
                  <c:v>Sainsbury's</c:v>
                </c:pt>
                <c:pt idx="8">
                  <c:v>Co-operative</c:v>
                </c:pt>
                <c:pt idx="9">
                  <c:v>Iceland</c:v>
                </c:pt>
              </c:strCache>
            </c:strRef>
          </c:cat>
          <c:val>
            <c:numRef>
              <c:f>Sheet1!$C$2:$C$11</c:f>
              <c:numCache>
                <c:formatCode>0%</c:formatCode>
                <c:ptCount val="10"/>
                <c:pt idx="0">
                  <c:v>0.66</c:v>
                </c:pt>
                <c:pt idx="1">
                  <c:v>0.61</c:v>
                </c:pt>
                <c:pt idx="2">
                  <c:v>0.53</c:v>
                </c:pt>
                <c:pt idx="3">
                  <c:v>0.49</c:v>
                </c:pt>
                <c:pt idx="4">
                  <c:v>0.41</c:v>
                </c:pt>
                <c:pt idx="5">
                  <c:v>0.39</c:v>
                </c:pt>
                <c:pt idx="6">
                  <c:v>0.42</c:v>
                </c:pt>
                <c:pt idx="7">
                  <c:v>0.4</c:v>
                </c:pt>
                <c:pt idx="8">
                  <c:v>0.36</c:v>
                </c:pt>
                <c:pt idx="9">
                  <c:v>0.33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2014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Aldi</c:v>
                </c:pt>
                <c:pt idx="1">
                  <c:v>Lidl</c:v>
                </c:pt>
                <c:pt idx="2">
                  <c:v>Tesco</c:v>
                </c:pt>
                <c:pt idx="3">
                  <c:v>Marks and Spencer</c:v>
                </c:pt>
                <c:pt idx="4">
                  <c:v>Waitrose</c:v>
                </c:pt>
                <c:pt idx="5">
                  <c:v>Morrisons</c:v>
                </c:pt>
                <c:pt idx="6">
                  <c:v>Asda</c:v>
                </c:pt>
                <c:pt idx="7">
                  <c:v>Sainsbury's</c:v>
                </c:pt>
                <c:pt idx="8">
                  <c:v>Co-operative</c:v>
                </c:pt>
                <c:pt idx="9">
                  <c:v>Iceland</c:v>
                </c:pt>
              </c:strCache>
            </c:strRef>
          </c:cat>
          <c:val>
            <c:numRef>
              <c:f>Sheet1!$D$2:$D$11</c:f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71770848"/>
        <c:axId val="371771632"/>
      </c:barChart>
      <c:catAx>
        <c:axId val="3717708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1771632"/>
        <c:crosses val="autoZero"/>
        <c:auto val="1"/>
        <c:lblAlgn val="ctr"/>
        <c:lblOffset val="100"/>
        <c:noMultiLvlLbl val="0"/>
      </c:catAx>
      <c:valAx>
        <c:axId val="371771632"/>
        <c:scaling>
          <c:orientation val="minMax"/>
          <c:max val="1"/>
        </c:scaling>
        <c:delete val="1"/>
        <c:axPos val="t"/>
        <c:numFmt formatCode="0%" sourceLinked="1"/>
        <c:majorTickMark val="out"/>
        <c:minorTickMark val="none"/>
        <c:tickLblPos val="nextTo"/>
        <c:crossAx val="3717708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0827762927370097"/>
          <c:y val="0.34509578300823718"/>
          <c:w val="6.6437717871112897E-2"/>
          <c:h val="0.1033198692208802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1114652309398205"/>
          <c:y val="2.206871367156182E-2"/>
          <c:w val="0.64160872632274968"/>
          <c:h val="0.946674179750531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2016</c:v>
                </c:pt>
              </c:strCache>
            </c:strRef>
          </c:tx>
          <c:spPr>
            <a:solidFill>
              <a:srgbClr val="53ACA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Tesco</c:v>
                </c:pt>
                <c:pt idx="1">
                  <c:v>Aldi</c:v>
                </c:pt>
                <c:pt idx="2">
                  <c:v>Sainsbury's</c:v>
                </c:pt>
                <c:pt idx="3">
                  <c:v>Marks and Spencer</c:v>
                </c:pt>
                <c:pt idx="4">
                  <c:v>Iceland</c:v>
                </c:pt>
                <c:pt idx="5">
                  <c:v>Asda</c:v>
                </c:pt>
                <c:pt idx="6">
                  <c:v>Waitrose</c:v>
                </c:pt>
                <c:pt idx="7">
                  <c:v>Lidl</c:v>
                </c:pt>
                <c:pt idx="8">
                  <c:v>Morrisons</c:v>
                </c:pt>
                <c:pt idx="9">
                  <c:v>Co-operative</c:v>
                </c:pt>
              </c:strCache>
            </c:strRef>
          </c:cat>
          <c:val>
            <c:numRef>
              <c:f>Sheet1!$B$2:$B$11</c:f>
              <c:numCache>
                <c:formatCode>0%</c:formatCode>
                <c:ptCount val="10"/>
                <c:pt idx="0">
                  <c:v>0.57999999999999996</c:v>
                </c:pt>
                <c:pt idx="1">
                  <c:v>0.53</c:v>
                </c:pt>
                <c:pt idx="2">
                  <c:v>0.47</c:v>
                </c:pt>
                <c:pt idx="3">
                  <c:v>0.45</c:v>
                </c:pt>
                <c:pt idx="4">
                  <c:v>0.45</c:v>
                </c:pt>
                <c:pt idx="5">
                  <c:v>0.44</c:v>
                </c:pt>
                <c:pt idx="6">
                  <c:v>0.44</c:v>
                </c:pt>
                <c:pt idx="7">
                  <c:v>0.43</c:v>
                </c:pt>
                <c:pt idx="8">
                  <c:v>0.42</c:v>
                </c:pt>
                <c:pt idx="9">
                  <c:v>0.39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2015</c:v>
                </c:pt>
              </c:strCache>
            </c:strRef>
          </c:tx>
          <c:spPr>
            <a:solidFill>
              <a:srgbClr val="0D5D9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Tesco</c:v>
                </c:pt>
                <c:pt idx="1">
                  <c:v>Aldi</c:v>
                </c:pt>
                <c:pt idx="2">
                  <c:v>Sainsbury's</c:v>
                </c:pt>
                <c:pt idx="3">
                  <c:v>Marks and Spencer</c:v>
                </c:pt>
                <c:pt idx="4">
                  <c:v>Iceland</c:v>
                </c:pt>
                <c:pt idx="5">
                  <c:v>Asda</c:v>
                </c:pt>
                <c:pt idx="6">
                  <c:v>Waitrose</c:v>
                </c:pt>
                <c:pt idx="7">
                  <c:v>Lidl</c:v>
                </c:pt>
                <c:pt idx="8">
                  <c:v>Morrisons</c:v>
                </c:pt>
                <c:pt idx="9">
                  <c:v>Co-operative</c:v>
                </c:pt>
              </c:strCache>
            </c:strRef>
          </c:cat>
          <c:val>
            <c:numRef>
              <c:f>Sheet1!$C$2:$C$11</c:f>
              <c:numCache>
                <c:formatCode>0%</c:formatCode>
                <c:ptCount val="10"/>
                <c:pt idx="0">
                  <c:v>0.51</c:v>
                </c:pt>
                <c:pt idx="1">
                  <c:v>0.44</c:v>
                </c:pt>
                <c:pt idx="2">
                  <c:v>0.43</c:v>
                </c:pt>
                <c:pt idx="3">
                  <c:v>0.37</c:v>
                </c:pt>
                <c:pt idx="4">
                  <c:v>0.28000000000000003</c:v>
                </c:pt>
                <c:pt idx="5">
                  <c:v>0.36</c:v>
                </c:pt>
                <c:pt idx="6">
                  <c:v>0.33</c:v>
                </c:pt>
                <c:pt idx="7">
                  <c:v>0.34</c:v>
                </c:pt>
                <c:pt idx="8">
                  <c:v>0.34</c:v>
                </c:pt>
                <c:pt idx="9">
                  <c:v>0.32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71772416"/>
        <c:axId val="371773200"/>
      </c:barChart>
      <c:catAx>
        <c:axId val="37177241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1773200"/>
        <c:crosses val="autoZero"/>
        <c:auto val="1"/>
        <c:lblAlgn val="ctr"/>
        <c:lblOffset val="100"/>
        <c:noMultiLvlLbl val="0"/>
      </c:catAx>
      <c:valAx>
        <c:axId val="371773200"/>
        <c:scaling>
          <c:orientation val="minMax"/>
          <c:max val="1"/>
        </c:scaling>
        <c:delete val="1"/>
        <c:axPos val="t"/>
        <c:numFmt formatCode="0%" sourceLinked="1"/>
        <c:majorTickMark val="out"/>
        <c:minorTickMark val="none"/>
        <c:tickLblPos val="none"/>
        <c:crossAx val="3717724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522592389118842"/>
          <c:y val="0.32474237806179512"/>
          <c:w val="0.11869980230005243"/>
          <c:h val="0.1635897598679512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9764778703393375"/>
          <c:y val="2.9185050867363949E-2"/>
          <c:w val="0.44097843003438458"/>
          <c:h val="0.899244925167044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2016</c:v>
                </c:pt>
              </c:strCache>
            </c:strRef>
          </c:tx>
          <c:spPr>
            <a:solidFill>
              <a:srgbClr val="53ACAF"/>
            </a:solidFill>
            <a:ln>
              <a:noFill/>
            </a:ln>
            <a:effectLst/>
          </c:spPr>
          <c:invertIfNegative val="0"/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00" b="1" i="0" u="none" strike="noStrike" kern="1200" baseline="0">
                      <a:solidFill>
                        <a:schemeClr val="tx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00" b="1" i="0" u="none" strike="noStrike" kern="1200" baseline="0">
                      <a:solidFill>
                        <a:schemeClr val="tx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Sheet1!$A$2:$A$18</c:f>
              <c:strCache>
                <c:ptCount val="17"/>
                <c:pt idx="0">
                  <c:v>Net: any issues</c:v>
                </c:pt>
                <c:pt idx="1">
                  <c:v>No issues with the Code</c:v>
                </c:pt>
                <c:pt idx="3">
                  <c:v>Delay in payments</c:v>
                </c:pt>
                <c:pt idx="4">
                  <c:v>Variation of supply agreements and terms of supply</c:v>
                </c:pt>
                <c:pt idx="5">
                  <c:v>No compensation for forecasting errors</c:v>
                </c:pt>
                <c:pt idx="6">
                  <c:v>Unjustified charges for consumer complaints</c:v>
                </c:pt>
                <c:pt idx="7">
                  <c:v>Obligation to contribute to marketing costs</c:v>
                </c:pt>
                <c:pt idx="8">
                  <c:v>Variation of supply chain procedures</c:v>
                </c:pt>
                <c:pt idx="9">
                  <c:v>Not meeting duties to relation to de-listing</c:v>
                </c:pt>
                <c:pt idx="10">
                  <c:v>Not applying due care when ordering for promotions</c:v>
                </c:pt>
                <c:pt idx="11">
                  <c:v>Tying of third party goods and services to payment</c:v>
                </c:pt>
                <c:pt idx="12">
                  <c:v>Payment for wastage</c:v>
                </c:pt>
                <c:pt idx="13">
                  <c:v>Payment as a condition of being supplier</c:v>
                </c:pt>
                <c:pt idx="14">
                  <c:v>Payment for better positioning of goods unless in relation to promotions</c:v>
                </c:pt>
                <c:pt idx="15">
                  <c:v>Not escalating concerns over breaches of the Code to senior buyer </c:v>
                </c:pt>
                <c:pt idx="16">
                  <c:v>Payment for shrinkage</c:v>
                </c:pt>
              </c:strCache>
            </c:strRef>
          </c:cat>
          <c:val>
            <c:numRef>
              <c:f>Sheet1!$B$2:$B$18</c:f>
              <c:numCache>
                <c:formatCode>0%</c:formatCode>
                <c:ptCount val="17"/>
                <c:pt idx="0">
                  <c:v>0.62</c:v>
                </c:pt>
                <c:pt idx="1">
                  <c:v>0.38</c:v>
                </c:pt>
                <c:pt idx="3">
                  <c:v>0.3</c:v>
                </c:pt>
                <c:pt idx="4">
                  <c:v>0.26</c:v>
                </c:pt>
                <c:pt idx="5">
                  <c:v>0.25</c:v>
                </c:pt>
                <c:pt idx="6">
                  <c:v>0.21</c:v>
                </c:pt>
                <c:pt idx="7">
                  <c:v>0.2</c:v>
                </c:pt>
                <c:pt idx="8">
                  <c:v>0.18</c:v>
                </c:pt>
                <c:pt idx="9">
                  <c:v>0.16</c:v>
                </c:pt>
                <c:pt idx="10">
                  <c:v>0.15</c:v>
                </c:pt>
                <c:pt idx="11">
                  <c:v>0.15</c:v>
                </c:pt>
                <c:pt idx="12">
                  <c:v>0.1</c:v>
                </c:pt>
                <c:pt idx="13">
                  <c:v>0.09</c:v>
                </c:pt>
                <c:pt idx="14">
                  <c:v>0.06</c:v>
                </c:pt>
                <c:pt idx="15">
                  <c:v>0.04</c:v>
                </c:pt>
                <c:pt idx="16">
                  <c:v>0.04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2015</c:v>
                </c:pt>
              </c:strCache>
            </c:strRef>
          </c:tx>
          <c:spPr>
            <a:solidFill>
              <a:srgbClr val="0D5D95"/>
            </a:solidFill>
            <a:ln>
              <a:noFill/>
            </a:ln>
            <a:effectLst/>
          </c:spPr>
          <c:invertIfNegative val="0"/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00" b="1" i="0" u="none" strike="noStrike" kern="1200" baseline="0">
                      <a:solidFill>
                        <a:schemeClr val="tx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00" b="1" i="0" u="none" strike="noStrike" kern="1200" baseline="0">
                      <a:solidFill>
                        <a:schemeClr val="tx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Sheet1!$A$2:$A$18</c:f>
              <c:strCache>
                <c:ptCount val="17"/>
                <c:pt idx="0">
                  <c:v>Net: any issues</c:v>
                </c:pt>
                <c:pt idx="1">
                  <c:v>No issues with the Code</c:v>
                </c:pt>
                <c:pt idx="3">
                  <c:v>Delay in payments</c:v>
                </c:pt>
                <c:pt idx="4">
                  <c:v>Variation of supply agreements and terms of supply</c:v>
                </c:pt>
                <c:pt idx="5">
                  <c:v>No compensation for forecasting errors</c:v>
                </c:pt>
                <c:pt idx="6">
                  <c:v>Unjustified charges for consumer complaints</c:v>
                </c:pt>
                <c:pt idx="7">
                  <c:v>Obligation to contribute to marketing costs</c:v>
                </c:pt>
                <c:pt idx="8">
                  <c:v>Variation of supply chain procedures</c:v>
                </c:pt>
                <c:pt idx="9">
                  <c:v>Not meeting duties to relation to de-listing</c:v>
                </c:pt>
                <c:pt idx="10">
                  <c:v>Not applying due care when ordering for promotions</c:v>
                </c:pt>
                <c:pt idx="11">
                  <c:v>Tying of third party goods and services to payment</c:v>
                </c:pt>
                <c:pt idx="12">
                  <c:v>Payment for wastage</c:v>
                </c:pt>
                <c:pt idx="13">
                  <c:v>Payment as a condition of being supplier</c:v>
                </c:pt>
                <c:pt idx="14">
                  <c:v>Payment for better positioning of goods unless in relation to promotions</c:v>
                </c:pt>
                <c:pt idx="15">
                  <c:v>Not escalating concerns over breaches of the Code to senior buyer </c:v>
                </c:pt>
                <c:pt idx="16">
                  <c:v>Payment for shrinkage</c:v>
                </c:pt>
              </c:strCache>
            </c:strRef>
          </c:cat>
          <c:val>
            <c:numRef>
              <c:f>Sheet1!$C$2:$C$18</c:f>
              <c:numCache>
                <c:formatCode>0%</c:formatCode>
                <c:ptCount val="17"/>
                <c:pt idx="0">
                  <c:v>0.7</c:v>
                </c:pt>
                <c:pt idx="1">
                  <c:v>0.3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371778296"/>
        <c:axId val="371774768"/>
      </c:barChart>
      <c:catAx>
        <c:axId val="37177829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1774768"/>
        <c:crosses val="autoZero"/>
        <c:auto val="1"/>
        <c:lblAlgn val="ctr"/>
        <c:lblOffset val="100"/>
        <c:noMultiLvlLbl val="0"/>
      </c:catAx>
      <c:valAx>
        <c:axId val="371774768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one"/>
        <c:crossAx val="3717782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92825295321995049"/>
          <c:y val="1.9012092819160057E-2"/>
          <c:w val="6.4336572313627147E-2"/>
          <c:h val="0.1050111752057710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52439345442212504"/>
          <c:y val="4.6833427218247334E-2"/>
          <c:w val="0.45415593479284566"/>
          <c:h val="0.9405826803311138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2016</c:v>
                </c:pt>
              </c:strCache>
            </c:strRef>
          </c:tx>
          <c:spPr>
            <a:solidFill>
              <a:srgbClr val="53ACA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Sheet1!$A$2:$A$17</c:f>
              <c:strCache>
                <c:ptCount val="15"/>
                <c:pt idx="0">
                  <c:v>Incorrect deductions from invoices with or without notice</c:v>
                </c:pt>
                <c:pt idx="1">
                  <c:v> Excessive retailer charges for artwork/ design</c:v>
                </c:pt>
                <c:pt idx="2">
                  <c:v>No compensation/ incurring penalty charges for inaccurate forecasting </c:v>
                </c:pt>
                <c:pt idx="3">
                  <c:v>De-listing without reasonable notice</c:v>
                </c:pt>
                <c:pt idx="4">
                  <c:v>Unjustified payments for consumer complaints</c:v>
                </c:pt>
                <c:pt idx="5">
                  <c:v>Drop and drive: delivery performance </c:v>
                </c:pt>
                <c:pt idx="6">
                  <c:v>Requirement for lump-sum payments over and above those agreed at start </c:v>
                </c:pt>
                <c:pt idx="7">
                  <c:v>Requirement to fund retailer margin shortfall not agreed at start </c:v>
                </c:pt>
                <c:pt idx="8">
                  <c:v>Forensics: third party audits which have been abusive or excessive in nature</c:v>
                </c:pt>
                <c:pt idx="9">
                  <c:v>Requirement to pay listing fees</c:v>
                </c:pt>
                <c:pt idx="10">
                  <c:v>Overbuying at promotional price and subsequently selling at full price</c:v>
                </c:pt>
                <c:pt idx="11">
                  <c:v>Requirement for marketing payments over and above those agreed at start</c:v>
                </c:pt>
                <c:pt idx="12">
                  <c:v>Excessive retailer charges for packaging</c:v>
                </c:pt>
                <c:pt idx="13">
                  <c:v>Other</c:v>
                </c:pt>
                <c:pt idx="14">
                  <c:v>None of these</c:v>
                </c:pt>
              </c:strCache>
            </c:strRef>
          </c:cat>
          <c:val>
            <c:numRef>
              <c:f>Sheet1!$B$2:$B$17</c:f>
              <c:numCache>
                <c:formatCode>0%</c:formatCode>
                <c:ptCount val="15"/>
                <c:pt idx="0">
                  <c:v>0.3</c:v>
                </c:pt>
                <c:pt idx="1">
                  <c:v>0.27960000000000002</c:v>
                </c:pt>
                <c:pt idx="2">
                  <c:v>0.222</c:v>
                </c:pt>
                <c:pt idx="3">
                  <c:v>0.22</c:v>
                </c:pt>
                <c:pt idx="4">
                  <c:v>0.22</c:v>
                </c:pt>
                <c:pt idx="5">
                  <c:v>0.19</c:v>
                </c:pt>
                <c:pt idx="6">
                  <c:v>0.13</c:v>
                </c:pt>
                <c:pt idx="7">
                  <c:v>0.13</c:v>
                </c:pt>
                <c:pt idx="8">
                  <c:v>0.13</c:v>
                </c:pt>
                <c:pt idx="9">
                  <c:v>0.11</c:v>
                </c:pt>
                <c:pt idx="10">
                  <c:v>0.11</c:v>
                </c:pt>
                <c:pt idx="11">
                  <c:v>0.1</c:v>
                </c:pt>
                <c:pt idx="12">
                  <c:v>9.2100000000000001E-2</c:v>
                </c:pt>
                <c:pt idx="13">
                  <c:v>0.05</c:v>
                </c:pt>
                <c:pt idx="14">
                  <c:v>0.25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2015</c:v>
                </c:pt>
              </c:strCache>
            </c:strRef>
          </c:tx>
          <c:spPr>
            <a:solidFill>
              <a:srgbClr val="0D5D9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Sheet1!$A$2:$A$17</c:f>
              <c:strCache>
                <c:ptCount val="15"/>
                <c:pt idx="0">
                  <c:v>Incorrect deductions from invoices with or without notice</c:v>
                </c:pt>
                <c:pt idx="1">
                  <c:v> Excessive retailer charges for artwork/ design</c:v>
                </c:pt>
                <c:pt idx="2">
                  <c:v>No compensation/ incurring penalty charges for inaccurate forecasting </c:v>
                </c:pt>
                <c:pt idx="3">
                  <c:v>De-listing without reasonable notice</c:v>
                </c:pt>
                <c:pt idx="4">
                  <c:v>Unjustified payments for consumer complaints</c:v>
                </c:pt>
                <c:pt idx="5">
                  <c:v>Drop and drive: delivery performance </c:v>
                </c:pt>
                <c:pt idx="6">
                  <c:v>Requirement for lump-sum payments over and above those agreed at start </c:v>
                </c:pt>
                <c:pt idx="7">
                  <c:v>Requirement to fund retailer margin shortfall not agreed at start </c:v>
                </c:pt>
                <c:pt idx="8">
                  <c:v>Forensics: third party audits which have been abusive or excessive in nature</c:v>
                </c:pt>
                <c:pt idx="9">
                  <c:v>Requirement to pay listing fees</c:v>
                </c:pt>
                <c:pt idx="10">
                  <c:v>Overbuying at promotional price and subsequently selling at full price</c:v>
                </c:pt>
                <c:pt idx="11">
                  <c:v>Requirement for marketing payments over and above those agreed at start</c:v>
                </c:pt>
                <c:pt idx="12">
                  <c:v>Excessive retailer charges for packaging</c:v>
                </c:pt>
                <c:pt idx="13">
                  <c:v>Other</c:v>
                </c:pt>
                <c:pt idx="14">
                  <c:v>None of these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5"/>
                <c:pt idx="0" formatCode="0%">
                  <c:v>0.47</c:v>
                </c:pt>
                <c:pt idx="3" formatCode="0%">
                  <c:v>0.34</c:v>
                </c:pt>
                <c:pt idx="4" formatCode="0%">
                  <c:v>0.3</c:v>
                </c:pt>
                <c:pt idx="5" formatCode="0%">
                  <c:v>0.28000000000000003</c:v>
                </c:pt>
                <c:pt idx="6" formatCode="0%">
                  <c:v>0.32</c:v>
                </c:pt>
                <c:pt idx="7" formatCode="0%">
                  <c:v>0.34</c:v>
                </c:pt>
                <c:pt idx="8" formatCode="0%">
                  <c:v>0.3</c:v>
                </c:pt>
                <c:pt idx="9" formatCode="0%">
                  <c:v>0.35</c:v>
                </c:pt>
                <c:pt idx="10" formatCode="0%">
                  <c:v>0.18</c:v>
                </c:pt>
                <c:pt idx="11" formatCode="0%">
                  <c:v>0.22</c:v>
                </c:pt>
                <c:pt idx="12" formatCode="0%">
                  <c:v>0.3</c:v>
                </c:pt>
                <c:pt idx="13" formatCode="0%">
                  <c:v>0.05</c:v>
                </c:pt>
                <c:pt idx="14" formatCode="0%">
                  <c:v>0.12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2014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Sheet1!$A$2:$A$17</c:f>
              <c:strCache>
                <c:ptCount val="15"/>
                <c:pt idx="0">
                  <c:v>Incorrect deductions from invoices with or without notice</c:v>
                </c:pt>
                <c:pt idx="1">
                  <c:v> Excessive retailer charges for artwork/ design</c:v>
                </c:pt>
                <c:pt idx="2">
                  <c:v>No compensation/ incurring penalty charges for inaccurate forecasting </c:v>
                </c:pt>
                <c:pt idx="3">
                  <c:v>De-listing without reasonable notice</c:v>
                </c:pt>
                <c:pt idx="4">
                  <c:v>Unjustified payments for consumer complaints</c:v>
                </c:pt>
                <c:pt idx="5">
                  <c:v>Drop and drive: delivery performance </c:v>
                </c:pt>
                <c:pt idx="6">
                  <c:v>Requirement for lump-sum payments over and above those agreed at start </c:v>
                </c:pt>
                <c:pt idx="7">
                  <c:v>Requirement to fund retailer margin shortfall not agreed at start </c:v>
                </c:pt>
                <c:pt idx="8">
                  <c:v>Forensics: third party audits which have been abusive or excessive in nature</c:v>
                </c:pt>
                <c:pt idx="9">
                  <c:v>Requirement to pay listing fees</c:v>
                </c:pt>
                <c:pt idx="10">
                  <c:v>Overbuying at promotional price and subsequently selling at full price</c:v>
                </c:pt>
                <c:pt idx="11">
                  <c:v>Requirement for marketing payments over and above those agreed at start</c:v>
                </c:pt>
                <c:pt idx="12">
                  <c:v>Excessive retailer charges for packaging</c:v>
                </c:pt>
                <c:pt idx="13">
                  <c:v>Other</c:v>
                </c:pt>
                <c:pt idx="14">
                  <c:v>None of these</c:v>
                </c:pt>
              </c:strCache>
            </c:strRef>
          </c:cat>
          <c:val>
            <c:numRef>
              <c:f>Sheet1!$D$2:$D$17</c:f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71782608"/>
        <c:axId val="371790056"/>
      </c:barChart>
      <c:catAx>
        <c:axId val="37178260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1790056"/>
        <c:crosses val="autoZero"/>
        <c:auto val="1"/>
        <c:lblAlgn val="ctr"/>
        <c:lblOffset val="100"/>
        <c:noMultiLvlLbl val="0"/>
      </c:catAx>
      <c:valAx>
        <c:axId val="371790056"/>
        <c:scaling>
          <c:orientation val="minMax"/>
          <c:max val="0.8"/>
        </c:scaling>
        <c:delete val="1"/>
        <c:axPos val="t"/>
        <c:numFmt formatCode="0%" sourceLinked="1"/>
        <c:majorTickMark val="out"/>
        <c:minorTickMark val="none"/>
        <c:tickLblPos val="nextTo"/>
        <c:crossAx val="3717826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41399073849810969"/>
          <c:y val="0.1395253584021516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2016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C00000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Yes</c:v>
                </c:pt>
                <c:pt idx="1">
                  <c:v>No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0.13</c:v>
                </c:pt>
                <c:pt idx="1">
                  <c:v>0.88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9607670336726927"/>
          <c:y val="0.83186191036793677"/>
          <c:w val="0.41380319469156784"/>
          <c:h val="7.6449900707226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2015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C00000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Yes</c:v>
                </c:pt>
                <c:pt idx="1">
                  <c:v>No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0.17</c:v>
                </c:pt>
                <c:pt idx="1">
                  <c:v>0.83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 smtClean="0">
                <a:solidFill>
                  <a:schemeClr val="tx1">
                    <a:lumMod val="50000"/>
                  </a:schemeClr>
                </a:solidFill>
              </a:rPr>
              <a:t>About which</a:t>
            </a:r>
            <a:r>
              <a:rPr lang="en-US" sz="1400" baseline="0" dirty="0" smtClean="0">
                <a:solidFill>
                  <a:schemeClr val="tx1">
                    <a:lumMod val="50000"/>
                  </a:schemeClr>
                </a:solidFill>
              </a:rPr>
              <a:t> retailer? (as a % of their suppliers)</a:t>
            </a:r>
            <a:endParaRPr lang="en-US" sz="1400" dirty="0">
              <a:solidFill>
                <a:schemeClr val="tx1">
                  <a:lumMod val="50000"/>
                </a:scheme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50867862227194394"/>
          <c:y val="0.18837114637535721"/>
          <c:w val="0.57184150081515495"/>
          <c:h val="0.7963477646381732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2016</c:v>
                </c:pt>
              </c:strCache>
            </c:strRef>
          </c:tx>
          <c:spPr>
            <a:solidFill>
              <a:srgbClr val="53ACAF"/>
            </a:solidFill>
            <a:ln>
              <a:noFill/>
            </a:ln>
            <a:effectLst/>
          </c:spPr>
          <c:invertIfNegative val="0"/>
          <c:dLbls>
            <c:dLbl>
              <c:idx val="8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Asda</c:v>
                </c:pt>
                <c:pt idx="1">
                  <c:v>Tesco</c:v>
                </c:pt>
                <c:pt idx="2">
                  <c:v>Morrisons</c:v>
                </c:pt>
                <c:pt idx="3">
                  <c:v>Co-operative</c:v>
                </c:pt>
                <c:pt idx="4">
                  <c:v>Iceland</c:v>
                </c:pt>
                <c:pt idx="5">
                  <c:v>Sainsbury's</c:v>
                </c:pt>
                <c:pt idx="6">
                  <c:v>Lidl</c:v>
                </c:pt>
                <c:pt idx="7">
                  <c:v>Waitrose</c:v>
                </c:pt>
                <c:pt idx="8">
                  <c:v>Marks and Spencer</c:v>
                </c:pt>
                <c:pt idx="9">
                  <c:v>Aldi</c:v>
                </c:pt>
              </c:strCache>
            </c:strRef>
          </c:cat>
          <c:val>
            <c:numRef>
              <c:f>Sheet1!$B$2:$B$11</c:f>
              <c:numCache>
                <c:formatCode>0%</c:formatCode>
                <c:ptCount val="10"/>
                <c:pt idx="0">
                  <c:v>7.0000000000000007E-2</c:v>
                </c:pt>
                <c:pt idx="1">
                  <c:v>0.05</c:v>
                </c:pt>
                <c:pt idx="2">
                  <c:v>0.04</c:v>
                </c:pt>
                <c:pt idx="3">
                  <c:v>0.03</c:v>
                </c:pt>
                <c:pt idx="4">
                  <c:v>0.03</c:v>
                </c:pt>
                <c:pt idx="5">
                  <c:v>0.02</c:v>
                </c:pt>
                <c:pt idx="6">
                  <c:v>0.02</c:v>
                </c:pt>
                <c:pt idx="7">
                  <c:v>0.01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2015</c:v>
                </c:pt>
              </c:strCache>
            </c:strRef>
          </c:tx>
          <c:spPr>
            <a:solidFill>
              <a:srgbClr val="0D5D95"/>
            </a:solidFill>
            <a:ln>
              <a:noFill/>
            </a:ln>
            <a:effectLst/>
          </c:spPr>
          <c:invertIfNegative val="0"/>
          <c:dLbls>
            <c:dLbl>
              <c:idx val="6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Asda</c:v>
                </c:pt>
                <c:pt idx="1">
                  <c:v>Tesco</c:v>
                </c:pt>
                <c:pt idx="2">
                  <c:v>Morrisons</c:v>
                </c:pt>
                <c:pt idx="3">
                  <c:v>Co-operative</c:v>
                </c:pt>
                <c:pt idx="4">
                  <c:v>Iceland</c:v>
                </c:pt>
                <c:pt idx="5">
                  <c:v>Sainsbury's</c:v>
                </c:pt>
                <c:pt idx="6">
                  <c:v>Lidl</c:v>
                </c:pt>
                <c:pt idx="7">
                  <c:v>Waitrose</c:v>
                </c:pt>
                <c:pt idx="8">
                  <c:v>Marks and Spencer</c:v>
                </c:pt>
                <c:pt idx="9">
                  <c:v>Aldi</c:v>
                </c:pt>
              </c:strCache>
            </c:strRef>
          </c:cat>
          <c:val>
            <c:numRef>
              <c:f>Sheet1!$C$2:$C$11</c:f>
              <c:numCache>
                <c:formatCode>0%</c:formatCode>
                <c:ptCount val="10"/>
                <c:pt idx="0">
                  <c:v>0.04</c:v>
                </c:pt>
                <c:pt idx="1">
                  <c:v>0.11</c:v>
                </c:pt>
                <c:pt idx="2">
                  <c:v>0.06</c:v>
                </c:pt>
                <c:pt idx="3">
                  <c:v>0.04</c:v>
                </c:pt>
                <c:pt idx="4">
                  <c:v>0.03</c:v>
                </c:pt>
                <c:pt idx="5">
                  <c:v>0.03</c:v>
                </c:pt>
                <c:pt idx="6">
                  <c:v>0</c:v>
                </c:pt>
                <c:pt idx="7">
                  <c:v>0</c:v>
                </c:pt>
                <c:pt idx="8">
                  <c:v>0.01</c:v>
                </c:pt>
                <c:pt idx="9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71783784"/>
        <c:axId val="371784176"/>
      </c:barChart>
      <c:catAx>
        <c:axId val="37178378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1784176"/>
        <c:crosses val="autoZero"/>
        <c:auto val="1"/>
        <c:lblAlgn val="ctr"/>
        <c:lblOffset val="100"/>
        <c:noMultiLvlLbl val="0"/>
      </c:catAx>
      <c:valAx>
        <c:axId val="371784176"/>
        <c:scaling>
          <c:orientation val="minMax"/>
          <c:max val="0.5"/>
        </c:scaling>
        <c:delete val="1"/>
        <c:axPos val="t"/>
        <c:numFmt formatCode="0%" sourceLinked="1"/>
        <c:majorTickMark val="out"/>
        <c:minorTickMark val="none"/>
        <c:tickLblPos val="none"/>
        <c:crossAx val="3717837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5.7315982978635664E-3"/>
          <c:y val="0.15269452766116512"/>
          <c:w val="0.17804772337957281"/>
          <c:h val="0.1209083431650954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 smtClean="0">
                <a:solidFill>
                  <a:schemeClr val="tx1">
                    <a:lumMod val="50000"/>
                  </a:schemeClr>
                </a:solidFill>
              </a:rPr>
              <a:t>About which</a:t>
            </a:r>
            <a:r>
              <a:rPr lang="en-US" sz="1400" baseline="0" dirty="0" smtClean="0">
                <a:solidFill>
                  <a:schemeClr val="tx1">
                    <a:lumMod val="50000"/>
                  </a:schemeClr>
                </a:solidFill>
              </a:rPr>
              <a:t> retailer? (as % of  those who raised issues in the last 12 months)</a:t>
            </a:r>
            <a:endParaRPr lang="en-US" sz="1400" dirty="0">
              <a:solidFill>
                <a:schemeClr val="tx1">
                  <a:lumMod val="50000"/>
                </a:schemeClr>
              </a:solidFill>
            </a:endParaRPr>
          </a:p>
        </c:rich>
      </c:tx>
      <c:layout>
        <c:manualLayout>
          <c:xMode val="edge"/>
          <c:yMode val="edge"/>
          <c:x val="0.2738064633645359"/>
          <c:y val="2.331488030929850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35359637042912551"/>
          <c:y val="0.19767851717361223"/>
          <c:w val="0.62106079434246664"/>
          <c:h val="0.7844151498990757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2016</c:v>
                </c:pt>
              </c:strCache>
            </c:strRef>
          </c:tx>
          <c:spPr>
            <a:solidFill>
              <a:srgbClr val="53ACAF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5.388695746812766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Tesco</c:v>
                </c:pt>
                <c:pt idx="1">
                  <c:v>Asda</c:v>
                </c:pt>
                <c:pt idx="2">
                  <c:v>Morrisons</c:v>
                </c:pt>
                <c:pt idx="3">
                  <c:v>Co-operative</c:v>
                </c:pt>
                <c:pt idx="4">
                  <c:v>Sainsbury's</c:v>
                </c:pt>
                <c:pt idx="5">
                  <c:v>Lidl</c:v>
                </c:pt>
                <c:pt idx="6">
                  <c:v>Iceland</c:v>
                </c:pt>
                <c:pt idx="7">
                  <c:v>Waitrose</c:v>
                </c:pt>
                <c:pt idx="8">
                  <c:v>Marks and Spencer</c:v>
                </c:pt>
                <c:pt idx="9">
                  <c:v>Aldi</c:v>
                </c:pt>
              </c:strCache>
            </c:strRef>
          </c:cat>
          <c:val>
            <c:numRef>
              <c:f>Sheet1!$B$2:$B$11</c:f>
              <c:numCache>
                <c:formatCode>0%</c:formatCode>
                <c:ptCount val="10"/>
                <c:pt idx="0">
                  <c:v>0.31879999999999997</c:v>
                </c:pt>
                <c:pt idx="1">
                  <c:v>0.31879999999999997</c:v>
                </c:pt>
                <c:pt idx="2">
                  <c:v>0.18840000000000001</c:v>
                </c:pt>
                <c:pt idx="3">
                  <c:v>0.1159</c:v>
                </c:pt>
                <c:pt idx="4">
                  <c:v>0.1159</c:v>
                </c:pt>
                <c:pt idx="5">
                  <c:v>8.6999999999999994E-2</c:v>
                </c:pt>
                <c:pt idx="6">
                  <c:v>7.2499999999999995E-2</c:v>
                </c:pt>
                <c:pt idx="7">
                  <c:v>2.9000000000000001E-2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2015</c:v>
                </c:pt>
              </c:strCache>
            </c:strRef>
          </c:tx>
          <c:spPr>
            <a:solidFill>
              <a:srgbClr val="0D5D95"/>
            </a:solidFill>
            <a:ln>
              <a:noFill/>
            </a:ln>
            <a:effectLst/>
          </c:spPr>
          <c:invertIfNegative val="0"/>
          <c:dLbls>
            <c:dLbl>
              <c:idx val="9"/>
              <c:delete val="1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Tesco</c:v>
                </c:pt>
                <c:pt idx="1">
                  <c:v>Asda</c:v>
                </c:pt>
                <c:pt idx="2">
                  <c:v>Morrisons</c:v>
                </c:pt>
                <c:pt idx="3">
                  <c:v>Co-operative</c:v>
                </c:pt>
                <c:pt idx="4">
                  <c:v>Sainsbury's</c:v>
                </c:pt>
                <c:pt idx="5">
                  <c:v>Lidl</c:v>
                </c:pt>
                <c:pt idx="6">
                  <c:v>Iceland</c:v>
                </c:pt>
                <c:pt idx="7">
                  <c:v>Waitrose</c:v>
                </c:pt>
                <c:pt idx="8">
                  <c:v>Marks and Spencer</c:v>
                </c:pt>
                <c:pt idx="9">
                  <c:v>Aldi</c:v>
                </c:pt>
              </c:strCache>
            </c:strRef>
          </c:cat>
          <c:val>
            <c:numRef>
              <c:f>Sheet1!$C$2:$C$11</c:f>
              <c:numCache>
                <c:formatCode>0%</c:formatCode>
                <c:ptCount val="10"/>
                <c:pt idx="0">
                  <c:v>0.54</c:v>
                </c:pt>
                <c:pt idx="1">
                  <c:v>0.15</c:v>
                </c:pt>
                <c:pt idx="2">
                  <c:v>0.26</c:v>
                </c:pt>
                <c:pt idx="3">
                  <c:v>0.14000000000000001</c:v>
                </c:pt>
                <c:pt idx="4">
                  <c:v>0.13</c:v>
                </c:pt>
                <c:pt idx="5">
                  <c:v>0.01</c:v>
                </c:pt>
                <c:pt idx="6">
                  <c:v>0.05</c:v>
                </c:pt>
                <c:pt idx="7">
                  <c:v>0.01</c:v>
                </c:pt>
                <c:pt idx="8">
                  <c:v>0.01</c:v>
                </c:pt>
                <c:pt idx="9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71785744"/>
        <c:axId val="371787312"/>
      </c:barChart>
      <c:catAx>
        <c:axId val="37178574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1787312"/>
        <c:crosses val="autoZero"/>
        <c:auto val="1"/>
        <c:lblAlgn val="ctr"/>
        <c:lblOffset val="100"/>
        <c:noMultiLvlLbl val="0"/>
      </c:catAx>
      <c:valAx>
        <c:axId val="371787312"/>
        <c:scaling>
          <c:orientation val="minMax"/>
          <c:max val="0.70000000000000018"/>
        </c:scaling>
        <c:delete val="1"/>
        <c:axPos val="t"/>
        <c:numFmt formatCode="0%" sourceLinked="1"/>
        <c:majorTickMark val="out"/>
        <c:minorTickMark val="none"/>
        <c:tickLblPos val="none"/>
        <c:crossAx val="3717857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5029447267858002"/>
          <c:y val="2.1626366911612994E-2"/>
          <c:w val="0.70246076200495489"/>
          <c:h val="0.87908843461837616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dLbl>
              <c:idx val="27"/>
              <c:layout>
                <c:manualLayout>
                  <c:x val="5.136969678665693E-3"/>
                  <c:y val="2.51956131858355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Sheet1!$A$2:$A$40</c:f>
              <c:strCache>
                <c:ptCount val="29"/>
                <c:pt idx="0">
                  <c:v>2016 (n=352)</c:v>
                </c:pt>
                <c:pt idx="1">
                  <c:v>2015 (n=360)</c:v>
                </c:pt>
                <c:pt idx="3">
                  <c:v>2016 (n=234)</c:v>
                </c:pt>
                <c:pt idx="4">
                  <c:v>2015 (n=197)</c:v>
                </c:pt>
                <c:pt idx="6">
                  <c:v>2016 (n=217)</c:v>
                </c:pt>
                <c:pt idx="7">
                  <c:v>2015 (n=256)</c:v>
                </c:pt>
                <c:pt idx="9">
                  <c:v>2016 (n=208)</c:v>
                </c:pt>
                <c:pt idx="10">
                  <c:v>2015 (n=158)</c:v>
                </c:pt>
                <c:pt idx="12">
                  <c:v>2016 (n=110)</c:v>
                </c:pt>
                <c:pt idx="13">
                  <c:v>2015 (n=115)</c:v>
                </c:pt>
                <c:pt idx="15">
                  <c:v>2016 (n=282)</c:v>
                </c:pt>
                <c:pt idx="16">
                  <c:v>2015 (n=307)</c:v>
                </c:pt>
                <c:pt idx="18">
                  <c:v>2016 (n=290)</c:v>
                </c:pt>
                <c:pt idx="19">
                  <c:v>2015 (n=289)</c:v>
                </c:pt>
                <c:pt idx="21">
                  <c:v>2016 (n=248)</c:v>
                </c:pt>
                <c:pt idx="22">
                  <c:v>2015 (n=252)</c:v>
                </c:pt>
                <c:pt idx="24">
                  <c:v>2016 (n=115)</c:v>
                </c:pt>
                <c:pt idx="25">
                  <c:v>2015 (n=115)</c:v>
                </c:pt>
                <c:pt idx="27">
                  <c:v>2016 (n=276)</c:v>
                </c:pt>
                <c:pt idx="28">
                  <c:v>2015 (n=290)</c:v>
                </c:pt>
              </c:strCache>
            </c:strRef>
          </c:cat>
          <c:val>
            <c:numRef>
              <c:f>Sheet1!$B$2:$B$40</c:f>
              <c:numCache>
                <c:formatCode>0%</c:formatCode>
                <c:ptCount val="29"/>
                <c:pt idx="0">
                  <c:v>0.65</c:v>
                </c:pt>
                <c:pt idx="1">
                  <c:v>0.37</c:v>
                </c:pt>
                <c:pt idx="3">
                  <c:v>0.24</c:v>
                </c:pt>
                <c:pt idx="4">
                  <c:v>0.23</c:v>
                </c:pt>
                <c:pt idx="6">
                  <c:v>0.24</c:v>
                </c:pt>
                <c:pt idx="7">
                  <c:v>0.12</c:v>
                </c:pt>
                <c:pt idx="9">
                  <c:v>0.18</c:v>
                </c:pt>
                <c:pt idx="10">
                  <c:v>0.15</c:v>
                </c:pt>
                <c:pt idx="12">
                  <c:v>0.26</c:v>
                </c:pt>
                <c:pt idx="13">
                  <c:v>0.03</c:v>
                </c:pt>
                <c:pt idx="15">
                  <c:v>0.18</c:v>
                </c:pt>
                <c:pt idx="16">
                  <c:v>0.18</c:v>
                </c:pt>
                <c:pt idx="18">
                  <c:v>0.23</c:v>
                </c:pt>
                <c:pt idx="19">
                  <c:v>0.13</c:v>
                </c:pt>
                <c:pt idx="21">
                  <c:v>0.1</c:v>
                </c:pt>
                <c:pt idx="22">
                  <c:v>0.1</c:v>
                </c:pt>
                <c:pt idx="24">
                  <c:v>0.15</c:v>
                </c:pt>
                <c:pt idx="25">
                  <c:v>0.12</c:v>
                </c:pt>
                <c:pt idx="27">
                  <c:v>0.14000000000000001</c:v>
                </c:pt>
                <c:pt idx="28">
                  <c:v>0.18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The same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Sheet1!$A$2:$A$40</c:f>
              <c:strCache>
                <c:ptCount val="29"/>
                <c:pt idx="0">
                  <c:v>2016 (n=352)</c:v>
                </c:pt>
                <c:pt idx="1">
                  <c:v>2015 (n=360)</c:v>
                </c:pt>
                <c:pt idx="3">
                  <c:v>2016 (n=234)</c:v>
                </c:pt>
                <c:pt idx="4">
                  <c:v>2015 (n=197)</c:v>
                </c:pt>
                <c:pt idx="6">
                  <c:v>2016 (n=217)</c:v>
                </c:pt>
                <c:pt idx="7">
                  <c:v>2015 (n=256)</c:v>
                </c:pt>
                <c:pt idx="9">
                  <c:v>2016 (n=208)</c:v>
                </c:pt>
                <c:pt idx="10">
                  <c:v>2015 (n=158)</c:v>
                </c:pt>
                <c:pt idx="12">
                  <c:v>2016 (n=110)</c:v>
                </c:pt>
                <c:pt idx="13">
                  <c:v>2015 (n=115)</c:v>
                </c:pt>
                <c:pt idx="15">
                  <c:v>2016 (n=282)</c:v>
                </c:pt>
                <c:pt idx="16">
                  <c:v>2015 (n=307)</c:v>
                </c:pt>
                <c:pt idx="18">
                  <c:v>2016 (n=290)</c:v>
                </c:pt>
                <c:pt idx="19">
                  <c:v>2015 (n=289)</c:v>
                </c:pt>
                <c:pt idx="21">
                  <c:v>2016 (n=248)</c:v>
                </c:pt>
                <c:pt idx="22">
                  <c:v>2015 (n=252)</c:v>
                </c:pt>
                <c:pt idx="24">
                  <c:v>2016 (n=115)</c:v>
                </c:pt>
                <c:pt idx="25">
                  <c:v>2015 (n=115)</c:v>
                </c:pt>
                <c:pt idx="27">
                  <c:v>2016 (n=276)</c:v>
                </c:pt>
                <c:pt idx="28">
                  <c:v>2015 (n=290)</c:v>
                </c:pt>
              </c:strCache>
            </c:strRef>
          </c:cat>
          <c:val>
            <c:numRef>
              <c:f>Sheet1!$C$2:$C$40</c:f>
              <c:numCache>
                <c:formatCode>0%</c:formatCode>
                <c:ptCount val="29"/>
                <c:pt idx="0">
                  <c:v>0.3</c:v>
                </c:pt>
                <c:pt idx="1">
                  <c:v>0.41</c:v>
                </c:pt>
                <c:pt idx="3">
                  <c:v>0.7</c:v>
                </c:pt>
                <c:pt idx="4">
                  <c:v>0.72</c:v>
                </c:pt>
                <c:pt idx="6">
                  <c:v>0.67</c:v>
                </c:pt>
                <c:pt idx="7">
                  <c:v>0.74</c:v>
                </c:pt>
                <c:pt idx="9">
                  <c:v>0.77</c:v>
                </c:pt>
                <c:pt idx="10">
                  <c:v>0.81</c:v>
                </c:pt>
                <c:pt idx="12">
                  <c:v>0.61</c:v>
                </c:pt>
                <c:pt idx="13">
                  <c:v>0.76</c:v>
                </c:pt>
                <c:pt idx="15">
                  <c:v>0.76</c:v>
                </c:pt>
                <c:pt idx="16">
                  <c:v>0.69</c:v>
                </c:pt>
                <c:pt idx="18">
                  <c:v>0.55000000000000004</c:v>
                </c:pt>
                <c:pt idx="19">
                  <c:v>0.54</c:v>
                </c:pt>
                <c:pt idx="21">
                  <c:v>0.8</c:v>
                </c:pt>
                <c:pt idx="22">
                  <c:v>0.81</c:v>
                </c:pt>
                <c:pt idx="24">
                  <c:v>0.7</c:v>
                </c:pt>
                <c:pt idx="25">
                  <c:v>0.77</c:v>
                </c:pt>
                <c:pt idx="27">
                  <c:v>0.62</c:v>
                </c:pt>
                <c:pt idx="28">
                  <c:v>0.73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Worsened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Sheet1!$A$2:$A$40</c:f>
              <c:strCache>
                <c:ptCount val="29"/>
                <c:pt idx="0">
                  <c:v>2016 (n=352)</c:v>
                </c:pt>
                <c:pt idx="1">
                  <c:v>2015 (n=360)</c:v>
                </c:pt>
                <c:pt idx="3">
                  <c:v>2016 (n=234)</c:v>
                </c:pt>
                <c:pt idx="4">
                  <c:v>2015 (n=197)</c:v>
                </c:pt>
                <c:pt idx="6">
                  <c:v>2016 (n=217)</c:v>
                </c:pt>
                <c:pt idx="7">
                  <c:v>2015 (n=256)</c:v>
                </c:pt>
                <c:pt idx="9">
                  <c:v>2016 (n=208)</c:v>
                </c:pt>
                <c:pt idx="10">
                  <c:v>2015 (n=158)</c:v>
                </c:pt>
                <c:pt idx="12">
                  <c:v>2016 (n=110)</c:v>
                </c:pt>
                <c:pt idx="13">
                  <c:v>2015 (n=115)</c:v>
                </c:pt>
                <c:pt idx="15">
                  <c:v>2016 (n=282)</c:v>
                </c:pt>
                <c:pt idx="16">
                  <c:v>2015 (n=307)</c:v>
                </c:pt>
                <c:pt idx="18">
                  <c:v>2016 (n=290)</c:v>
                </c:pt>
                <c:pt idx="19">
                  <c:v>2015 (n=289)</c:v>
                </c:pt>
                <c:pt idx="21">
                  <c:v>2016 (n=248)</c:v>
                </c:pt>
                <c:pt idx="22">
                  <c:v>2015 (n=252)</c:v>
                </c:pt>
                <c:pt idx="24">
                  <c:v>2016 (n=115)</c:v>
                </c:pt>
                <c:pt idx="25">
                  <c:v>2015 (n=115)</c:v>
                </c:pt>
                <c:pt idx="27">
                  <c:v>2016 (n=276)</c:v>
                </c:pt>
                <c:pt idx="28">
                  <c:v>2015 (n=290)</c:v>
                </c:pt>
              </c:strCache>
            </c:strRef>
          </c:cat>
          <c:val>
            <c:numRef>
              <c:f>Sheet1!$D$2:$D$40</c:f>
              <c:numCache>
                <c:formatCode>0%</c:formatCode>
                <c:ptCount val="29"/>
                <c:pt idx="0">
                  <c:v>0.05</c:v>
                </c:pt>
                <c:pt idx="1">
                  <c:v>0.21</c:v>
                </c:pt>
                <c:pt idx="3">
                  <c:v>0.06</c:v>
                </c:pt>
                <c:pt idx="4">
                  <c:v>0.05</c:v>
                </c:pt>
                <c:pt idx="6">
                  <c:v>0.09</c:v>
                </c:pt>
                <c:pt idx="7">
                  <c:v>0.14000000000000001</c:v>
                </c:pt>
                <c:pt idx="9">
                  <c:v>0.04</c:v>
                </c:pt>
                <c:pt idx="10">
                  <c:v>0.04</c:v>
                </c:pt>
                <c:pt idx="12">
                  <c:v>0.13</c:v>
                </c:pt>
                <c:pt idx="13">
                  <c:v>0.21</c:v>
                </c:pt>
                <c:pt idx="15">
                  <c:v>0.06</c:v>
                </c:pt>
                <c:pt idx="16">
                  <c:v>0.14000000000000001</c:v>
                </c:pt>
                <c:pt idx="18">
                  <c:v>0.22</c:v>
                </c:pt>
                <c:pt idx="19">
                  <c:v>0.33</c:v>
                </c:pt>
                <c:pt idx="21">
                  <c:v>0.1</c:v>
                </c:pt>
                <c:pt idx="22">
                  <c:v>0.1</c:v>
                </c:pt>
                <c:pt idx="24">
                  <c:v>0.16</c:v>
                </c:pt>
                <c:pt idx="25">
                  <c:v>0.1</c:v>
                </c:pt>
                <c:pt idx="27">
                  <c:v>0.24</c:v>
                </c:pt>
                <c:pt idx="28">
                  <c:v>0.09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"/>
        <c:overlap val="100"/>
        <c:axId val="405699960"/>
        <c:axId val="405701920"/>
      </c:barChart>
      <c:catAx>
        <c:axId val="40569996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5701920"/>
        <c:crosses val="autoZero"/>
        <c:auto val="1"/>
        <c:lblAlgn val="ctr"/>
        <c:lblOffset val="100"/>
        <c:noMultiLvlLbl val="0"/>
      </c:catAx>
      <c:valAx>
        <c:axId val="405701920"/>
        <c:scaling>
          <c:orientation val="minMax"/>
          <c:max val="1"/>
        </c:scaling>
        <c:delete val="0"/>
        <c:axPos val="t"/>
        <c:numFmt formatCode="0%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56999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280250924963839"/>
          <c:y val="0.93080292665894271"/>
          <c:w val="0.38218995115125121"/>
          <c:h val="5.774576634342216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76032014671244"/>
          <c:y val="1.4067682955862047E-2"/>
          <c:w val="0.7955417371078537"/>
          <c:h val="0.87908843461837616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Consistently well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Sheet1!$A$2:$A$30</c:f>
              <c:strCache>
                <c:ptCount val="29"/>
                <c:pt idx="0">
                  <c:v>2016 (n=211)</c:v>
                </c:pt>
                <c:pt idx="1">
                  <c:v>2015 (n=176)</c:v>
                </c:pt>
                <c:pt idx="3">
                  <c:v>2016 (n=248)</c:v>
                </c:pt>
                <c:pt idx="4">
                  <c:v>2015 (n=268)</c:v>
                </c:pt>
                <c:pt idx="6">
                  <c:v>2016 (n=169)</c:v>
                </c:pt>
                <c:pt idx="7">
                  <c:v>2015 (n=118)</c:v>
                </c:pt>
                <c:pt idx="9">
                  <c:v>2016 (n=216)</c:v>
                </c:pt>
                <c:pt idx="10">
                  <c:v>2015 (n=219)</c:v>
                </c:pt>
                <c:pt idx="12">
                  <c:v>2016 (n=309)</c:v>
                </c:pt>
                <c:pt idx="13">
                  <c:v>2015 (n=310)</c:v>
                </c:pt>
                <c:pt idx="15">
                  <c:v>2016 (n=98)</c:v>
                </c:pt>
                <c:pt idx="16">
                  <c:v>2015 (n=95)</c:v>
                </c:pt>
                <c:pt idx="18">
                  <c:v>2016 (n=196)</c:v>
                </c:pt>
                <c:pt idx="19">
                  <c:v>2015 (n=230)</c:v>
                </c:pt>
                <c:pt idx="21">
                  <c:v>2016 (n=243)</c:v>
                </c:pt>
                <c:pt idx="22">
                  <c:v>2015 (n=250)</c:v>
                </c:pt>
                <c:pt idx="24">
                  <c:v>2016 (n=104)</c:v>
                </c:pt>
                <c:pt idx="25">
                  <c:v>2015 (n=100)</c:v>
                </c:pt>
                <c:pt idx="27">
                  <c:v>2016 (n=255)</c:v>
                </c:pt>
                <c:pt idx="28">
                  <c:v>2015 (n=253)</c:v>
                </c:pt>
              </c:strCache>
            </c:strRef>
          </c:cat>
          <c:val>
            <c:numRef>
              <c:f>Sheet1!$B$2:$B$30</c:f>
              <c:numCache>
                <c:formatCode>0%</c:formatCode>
                <c:ptCount val="29"/>
                <c:pt idx="0">
                  <c:v>0.55000000000000004</c:v>
                </c:pt>
                <c:pt idx="1">
                  <c:v>0.44</c:v>
                </c:pt>
                <c:pt idx="3">
                  <c:v>0.38</c:v>
                </c:pt>
                <c:pt idx="4">
                  <c:v>0.25</c:v>
                </c:pt>
                <c:pt idx="6">
                  <c:v>0.46</c:v>
                </c:pt>
                <c:pt idx="7">
                  <c:v>0.26</c:v>
                </c:pt>
                <c:pt idx="9">
                  <c:v>0.36</c:v>
                </c:pt>
                <c:pt idx="10">
                  <c:v>0.36</c:v>
                </c:pt>
                <c:pt idx="12">
                  <c:v>0.36</c:v>
                </c:pt>
                <c:pt idx="13">
                  <c:v>0.12</c:v>
                </c:pt>
                <c:pt idx="15">
                  <c:v>0.34</c:v>
                </c:pt>
                <c:pt idx="16">
                  <c:v>0.31</c:v>
                </c:pt>
                <c:pt idx="18">
                  <c:v>0.21</c:v>
                </c:pt>
                <c:pt idx="19">
                  <c:v>0.12</c:v>
                </c:pt>
                <c:pt idx="21">
                  <c:v>0.17</c:v>
                </c:pt>
                <c:pt idx="22">
                  <c:v>0.2</c:v>
                </c:pt>
                <c:pt idx="24">
                  <c:v>0.13</c:v>
                </c:pt>
                <c:pt idx="25">
                  <c:v>0.08</c:v>
                </c:pt>
                <c:pt idx="27">
                  <c:v>0.14000000000000001</c:v>
                </c:pt>
                <c:pt idx="28">
                  <c:v>7.0000000000000007E-2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Mostly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Sheet1!$A$2:$A$30</c:f>
              <c:strCache>
                <c:ptCount val="29"/>
                <c:pt idx="0">
                  <c:v>2016 (n=211)</c:v>
                </c:pt>
                <c:pt idx="1">
                  <c:v>2015 (n=176)</c:v>
                </c:pt>
                <c:pt idx="3">
                  <c:v>2016 (n=248)</c:v>
                </c:pt>
                <c:pt idx="4">
                  <c:v>2015 (n=268)</c:v>
                </c:pt>
                <c:pt idx="6">
                  <c:v>2016 (n=169)</c:v>
                </c:pt>
                <c:pt idx="7">
                  <c:v>2015 (n=118)</c:v>
                </c:pt>
                <c:pt idx="9">
                  <c:v>2016 (n=216)</c:v>
                </c:pt>
                <c:pt idx="10">
                  <c:v>2015 (n=219)</c:v>
                </c:pt>
                <c:pt idx="12">
                  <c:v>2016 (n=309)</c:v>
                </c:pt>
                <c:pt idx="13">
                  <c:v>2015 (n=310)</c:v>
                </c:pt>
                <c:pt idx="15">
                  <c:v>2016 (n=98)</c:v>
                </c:pt>
                <c:pt idx="16">
                  <c:v>2015 (n=95)</c:v>
                </c:pt>
                <c:pt idx="18">
                  <c:v>2016 (n=196)</c:v>
                </c:pt>
                <c:pt idx="19">
                  <c:v>2015 (n=230)</c:v>
                </c:pt>
                <c:pt idx="21">
                  <c:v>2016 (n=243)</c:v>
                </c:pt>
                <c:pt idx="22">
                  <c:v>2015 (n=250)</c:v>
                </c:pt>
                <c:pt idx="24">
                  <c:v>2016 (n=104)</c:v>
                </c:pt>
                <c:pt idx="25">
                  <c:v>2015 (n=100)</c:v>
                </c:pt>
                <c:pt idx="27">
                  <c:v>2016 (n=255)</c:v>
                </c:pt>
                <c:pt idx="28">
                  <c:v>2015 (n=253)</c:v>
                </c:pt>
              </c:strCache>
            </c:strRef>
          </c:cat>
          <c:val>
            <c:numRef>
              <c:f>Sheet1!$C$2:$C$30</c:f>
              <c:numCache>
                <c:formatCode>0%</c:formatCode>
                <c:ptCount val="29"/>
                <c:pt idx="0">
                  <c:v>0.43</c:v>
                </c:pt>
                <c:pt idx="1">
                  <c:v>0.52</c:v>
                </c:pt>
                <c:pt idx="3">
                  <c:v>0.57999999999999996</c:v>
                </c:pt>
                <c:pt idx="4">
                  <c:v>0.64</c:v>
                </c:pt>
                <c:pt idx="6">
                  <c:v>0.5</c:v>
                </c:pt>
                <c:pt idx="7">
                  <c:v>0.64</c:v>
                </c:pt>
                <c:pt idx="9">
                  <c:v>0.59</c:v>
                </c:pt>
                <c:pt idx="10">
                  <c:v>0.53</c:v>
                </c:pt>
                <c:pt idx="12">
                  <c:v>0.57999999999999996</c:v>
                </c:pt>
                <c:pt idx="13">
                  <c:v>0.57999999999999996</c:v>
                </c:pt>
                <c:pt idx="15">
                  <c:v>0.56000000000000005</c:v>
                </c:pt>
                <c:pt idx="16">
                  <c:v>0.57999999999999996</c:v>
                </c:pt>
                <c:pt idx="18">
                  <c:v>0.67</c:v>
                </c:pt>
                <c:pt idx="19">
                  <c:v>0.67</c:v>
                </c:pt>
                <c:pt idx="21">
                  <c:v>0.64</c:v>
                </c:pt>
                <c:pt idx="22">
                  <c:v>0.66</c:v>
                </c:pt>
                <c:pt idx="24">
                  <c:v>0.67</c:v>
                </c:pt>
                <c:pt idx="25">
                  <c:v>0.54</c:v>
                </c:pt>
                <c:pt idx="27">
                  <c:v>0.66</c:v>
                </c:pt>
                <c:pt idx="28">
                  <c:v>0.62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Rarely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Sheet1!$A$2:$A$30</c:f>
              <c:strCache>
                <c:ptCount val="29"/>
                <c:pt idx="0">
                  <c:v>2016 (n=211)</c:v>
                </c:pt>
                <c:pt idx="1">
                  <c:v>2015 (n=176)</c:v>
                </c:pt>
                <c:pt idx="3">
                  <c:v>2016 (n=248)</c:v>
                </c:pt>
                <c:pt idx="4">
                  <c:v>2015 (n=268)</c:v>
                </c:pt>
                <c:pt idx="6">
                  <c:v>2016 (n=169)</c:v>
                </c:pt>
                <c:pt idx="7">
                  <c:v>2015 (n=118)</c:v>
                </c:pt>
                <c:pt idx="9">
                  <c:v>2016 (n=216)</c:v>
                </c:pt>
                <c:pt idx="10">
                  <c:v>2015 (n=219)</c:v>
                </c:pt>
                <c:pt idx="12">
                  <c:v>2016 (n=309)</c:v>
                </c:pt>
                <c:pt idx="13">
                  <c:v>2015 (n=310)</c:v>
                </c:pt>
                <c:pt idx="15">
                  <c:v>2016 (n=98)</c:v>
                </c:pt>
                <c:pt idx="16">
                  <c:v>2015 (n=95)</c:v>
                </c:pt>
                <c:pt idx="18">
                  <c:v>2016 (n=196)</c:v>
                </c:pt>
                <c:pt idx="19">
                  <c:v>2015 (n=230)</c:v>
                </c:pt>
                <c:pt idx="21">
                  <c:v>2016 (n=243)</c:v>
                </c:pt>
                <c:pt idx="22">
                  <c:v>2015 (n=250)</c:v>
                </c:pt>
                <c:pt idx="24">
                  <c:v>2016 (n=104)</c:v>
                </c:pt>
                <c:pt idx="25">
                  <c:v>2015 (n=100)</c:v>
                </c:pt>
                <c:pt idx="27">
                  <c:v>2016 (n=255)</c:v>
                </c:pt>
                <c:pt idx="28">
                  <c:v>2015 (n=253)</c:v>
                </c:pt>
              </c:strCache>
            </c:strRef>
          </c:cat>
          <c:val>
            <c:numRef>
              <c:f>Sheet1!$D$2:$D$30</c:f>
              <c:numCache>
                <c:formatCode>0%</c:formatCode>
                <c:ptCount val="29"/>
                <c:pt idx="0">
                  <c:v>0.02</c:v>
                </c:pt>
                <c:pt idx="1">
                  <c:v>0.04</c:v>
                </c:pt>
                <c:pt idx="3">
                  <c:v>0.04</c:v>
                </c:pt>
                <c:pt idx="4">
                  <c:v>0.1</c:v>
                </c:pt>
                <c:pt idx="6">
                  <c:v>0.04</c:v>
                </c:pt>
                <c:pt idx="7">
                  <c:v>0.09</c:v>
                </c:pt>
                <c:pt idx="9">
                  <c:v>0.05</c:v>
                </c:pt>
                <c:pt idx="10">
                  <c:v>0.11</c:v>
                </c:pt>
                <c:pt idx="12">
                  <c:v>0.06</c:v>
                </c:pt>
                <c:pt idx="13">
                  <c:v>0.27</c:v>
                </c:pt>
                <c:pt idx="15">
                  <c:v>0.09</c:v>
                </c:pt>
                <c:pt idx="16">
                  <c:v>0.12</c:v>
                </c:pt>
                <c:pt idx="18">
                  <c:v>0.12</c:v>
                </c:pt>
                <c:pt idx="19">
                  <c:v>0.2</c:v>
                </c:pt>
                <c:pt idx="21">
                  <c:v>0.18</c:v>
                </c:pt>
                <c:pt idx="22">
                  <c:v>0.12</c:v>
                </c:pt>
                <c:pt idx="24">
                  <c:v>0.17</c:v>
                </c:pt>
                <c:pt idx="25">
                  <c:v>0.33</c:v>
                </c:pt>
                <c:pt idx="27">
                  <c:v>0.19</c:v>
                </c:pt>
                <c:pt idx="28">
                  <c:v>0.28999999999999998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Never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Sheet1!$A$2:$A$30</c:f>
              <c:strCache>
                <c:ptCount val="29"/>
                <c:pt idx="0">
                  <c:v>2016 (n=211)</c:v>
                </c:pt>
                <c:pt idx="1">
                  <c:v>2015 (n=176)</c:v>
                </c:pt>
                <c:pt idx="3">
                  <c:v>2016 (n=248)</c:v>
                </c:pt>
                <c:pt idx="4">
                  <c:v>2015 (n=268)</c:v>
                </c:pt>
                <c:pt idx="6">
                  <c:v>2016 (n=169)</c:v>
                </c:pt>
                <c:pt idx="7">
                  <c:v>2015 (n=118)</c:v>
                </c:pt>
                <c:pt idx="9">
                  <c:v>2016 (n=216)</c:v>
                </c:pt>
                <c:pt idx="10">
                  <c:v>2015 (n=219)</c:v>
                </c:pt>
                <c:pt idx="12">
                  <c:v>2016 (n=309)</c:v>
                </c:pt>
                <c:pt idx="13">
                  <c:v>2015 (n=310)</c:v>
                </c:pt>
                <c:pt idx="15">
                  <c:v>2016 (n=98)</c:v>
                </c:pt>
                <c:pt idx="16">
                  <c:v>2015 (n=95)</c:v>
                </c:pt>
                <c:pt idx="18">
                  <c:v>2016 (n=196)</c:v>
                </c:pt>
                <c:pt idx="19">
                  <c:v>2015 (n=230)</c:v>
                </c:pt>
                <c:pt idx="21">
                  <c:v>2016 (n=243)</c:v>
                </c:pt>
                <c:pt idx="22">
                  <c:v>2015 (n=250)</c:v>
                </c:pt>
                <c:pt idx="24">
                  <c:v>2016 (n=104)</c:v>
                </c:pt>
                <c:pt idx="25">
                  <c:v>2015 (n=100)</c:v>
                </c:pt>
                <c:pt idx="27">
                  <c:v>2016 (n=255)</c:v>
                </c:pt>
                <c:pt idx="28">
                  <c:v>2015 (n=253)</c:v>
                </c:pt>
              </c:strCache>
            </c:strRef>
          </c:cat>
          <c:val>
            <c:numRef>
              <c:f>Sheet1!$E$2:$E$30</c:f>
              <c:numCache>
                <c:formatCode>0%</c:formatCode>
                <c:ptCount val="29"/>
                <c:pt idx="0">
                  <c:v>0</c:v>
                </c:pt>
                <c:pt idx="1">
                  <c:v>0.01</c:v>
                </c:pt>
                <c:pt idx="3">
                  <c:v>0</c:v>
                </c:pt>
                <c:pt idx="4">
                  <c:v>0.01</c:v>
                </c:pt>
                <c:pt idx="6">
                  <c:v>0.01</c:v>
                </c:pt>
                <c:pt idx="7">
                  <c:v>0</c:v>
                </c:pt>
                <c:pt idx="9">
                  <c:v>0</c:v>
                </c:pt>
                <c:pt idx="10">
                  <c:v>0</c:v>
                </c:pt>
                <c:pt idx="12">
                  <c:v>0.01</c:v>
                </c:pt>
                <c:pt idx="13">
                  <c:v>0.03</c:v>
                </c:pt>
                <c:pt idx="15">
                  <c:v>0.01</c:v>
                </c:pt>
                <c:pt idx="16">
                  <c:v>0</c:v>
                </c:pt>
                <c:pt idx="18">
                  <c:v>0.01</c:v>
                </c:pt>
                <c:pt idx="19">
                  <c:v>0.01</c:v>
                </c:pt>
                <c:pt idx="21">
                  <c:v>0.01</c:v>
                </c:pt>
                <c:pt idx="22">
                  <c:v>0.01</c:v>
                </c:pt>
                <c:pt idx="24">
                  <c:v>0.02</c:v>
                </c:pt>
                <c:pt idx="25">
                  <c:v>0.05</c:v>
                </c:pt>
                <c:pt idx="27">
                  <c:v>0.01</c:v>
                </c:pt>
                <c:pt idx="28">
                  <c:v>0.02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"/>
        <c:overlap val="100"/>
        <c:axId val="405692512"/>
        <c:axId val="405701136"/>
      </c:barChart>
      <c:catAx>
        <c:axId val="40569251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5701136"/>
        <c:crosses val="autoZero"/>
        <c:auto val="1"/>
        <c:lblAlgn val="ctr"/>
        <c:lblOffset val="100"/>
        <c:noMultiLvlLbl val="0"/>
      </c:catAx>
      <c:valAx>
        <c:axId val="405701136"/>
        <c:scaling>
          <c:orientation val="minMax"/>
          <c:max val="1.1000000000000001"/>
          <c:min val="0"/>
        </c:scaling>
        <c:delete val="1"/>
        <c:axPos val="t"/>
        <c:numFmt formatCode="0%" sourceLinked="1"/>
        <c:majorTickMark val="out"/>
        <c:minorTickMark val="none"/>
        <c:tickLblPos val="none"/>
        <c:crossAx val="4056925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2145163327319232"/>
          <c:y val="0.9459202945704448"/>
          <c:w val="0.39960138090414871"/>
          <c:h val="5.156014411097179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6447414894929627E-2"/>
          <c:y val="3.066695467700694E-2"/>
          <c:w val="0.74367357308962745"/>
          <c:h val="0.8477476801118323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Experienced an issue</c:v>
                </c:pt>
              </c:strCache>
            </c:strRef>
          </c:tx>
          <c:spPr>
            <a:ln w="571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79</c:v>
                </c:pt>
                <c:pt idx="1">
                  <c:v>70</c:v>
                </c:pt>
                <c:pt idx="2">
                  <c:v>62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Willing to report to GCA</c:v>
                </c:pt>
              </c:strCache>
            </c:strRef>
          </c:tx>
          <c:spPr>
            <a:ln w="571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</c:numCache>
            </c:numRef>
          </c:cat>
          <c:val>
            <c:numRef>
              <c:f>Sheet1!$C$2:$C$4</c:f>
              <c:numCache>
                <c:formatCode>General</c:formatCode>
                <c:ptCount val="3"/>
                <c:pt idx="0">
                  <c:v>38</c:v>
                </c:pt>
                <c:pt idx="1">
                  <c:v>47</c:v>
                </c:pt>
                <c:pt idx="2">
                  <c:v>47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Receiving training on the Code</c:v>
                </c:pt>
              </c:strCache>
            </c:strRef>
          </c:tx>
          <c:spPr>
            <a:ln w="571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</c:numCache>
            </c:numRef>
          </c:cat>
          <c:val>
            <c:numRef>
              <c:f>Sheet1!$D$2:$D$4</c:f>
              <c:numCache>
                <c:formatCode>General</c:formatCode>
                <c:ptCount val="3"/>
                <c:pt idx="1">
                  <c:v>29</c:v>
                </c:pt>
                <c:pt idx="2">
                  <c:v>35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Have raised an issue with retailer</c:v>
                </c:pt>
              </c:strCache>
            </c:strRef>
          </c:tx>
          <c:spPr>
            <a:ln w="571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</c:numCache>
            </c:numRef>
          </c:cat>
          <c:val>
            <c:numRef>
              <c:f>Sheet1!$E$2:$E$4</c:f>
              <c:numCache>
                <c:formatCode>General</c:formatCode>
                <c:ptCount val="3"/>
                <c:pt idx="1">
                  <c:v>17</c:v>
                </c:pt>
                <c:pt idx="2">
                  <c:v>13</c:v>
                </c:pt>
              </c:numCache>
            </c:numRef>
          </c:val>
          <c:smooth val="0"/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371788096"/>
        <c:axId val="371788488"/>
      </c:lineChart>
      <c:catAx>
        <c:axId val="3717880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1788488"/>
        <c:crosses val="autoZero"/>
        <c:auto val="1"/>
        <c:lblAlgn val="ctr"/>
        <c:lblOffset val="100"/>
        <c:noMultiLvlLbl val="0"/>
      </c:catAx>
      <c:valAx>
        <c:axId val="371788488"/>
        <c:scaling>
          <c:orientation val="minMax"/>
          <c:max val="100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371788096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7742103121641648"/>
          <c:y val="6.8722516086431193E-2"/>
          <c:w val="0.21360765156816741"/>
          <c:h val="0.787281533619938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0.67017</cdr:y>
    </cdr:from>
    <cdr:to>
      <cdr:x>0.13837</cdr:x>
      <cdr:y>0.82801</cdr:y>
    </cdr:to>
    <cdr:sp macro="" textlink="">
      <cdr:nvSpPr>
        <cdr:cNvPr id="2" name="Rectangle 1"/>
        <cdr:cNvSpPr/>
      </cdr:nvSpPr>
      <cdr:spPr>
        <a:xfrm xmlns:a="http://schemas.openxmlformats.org/drawingml/2006/main">
          <a:off x="-152400" y="2847210"/>
          <a:ext cx="1236785" cy="670560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ffectLst xmlns:a="http://schemas.openxmlformats.org/drawingml/2006/main"/>
      </cdr:spPr>
      <cdr:style>
        <a:lnRef xmlns:a="http://schemas.openxmlformats.org/drawingml/2006/main" idx="1">
          <a:schemeClr val="accent1"/>
        </a:lnRef>
        <a:fillRef xmlns:a="http://schemas.openxmlformats.org/drawingml/2006/main" idx="3">
          <a:schemeClr val="accent1"/>
        </a:fillRef>
        <a:effectRef xmlns:a="http://schemas.openxmlformats.org/drawingml/2006/main" idx="2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da-DK"/>
          </a:defPPr>
          <a:lvl1pPr marL="0" algn="l" defTabSz="984033" rtl="0" eaLnBrk="1" latinLnBrk="0" hangingPunct="1">
            <a:defRPr sz="19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92017" algn="l" defTabSz="984033" rtl="0" eaLnBrk="1" latinLnBrk="0" hangingPunct="1">
            <a:defRPr sz="19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84033" algn="l" defTabSz="984033" rtl="0" eaLnBrk="1" latinLnBrk="0" hangingPunct="1">
            <a:defRPr sz="19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476050" algn="l" defTabSz="984033" rtl="0" eaLnBrk="1" latinLnBrk="0" hangingPunct="1">
            <a:defRPr sz="19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968068" algn="l" defTabSz="984033" rtl="0" eaLnBrk="1" latinLnBrk="0" hangingPunct="1">
            <a:defRPr sz="19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460085" algn="l" defTabSz="984033" rtl="0" eaLnBrk="1" latinLnBrk="0" hangingPunct="1">
            <a:defRPr sz="19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952102" algn="l" defTabSz="984033" rtl="0" eaLnBrk="1" latinLnBrk="0" hangingPunct="1">
            <a:defRPr sz="19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444119" algn="l" defTabSz="984033" rtl="0" eaLnBrk="1" latinLnBrk="0" hangingPunct="1">
            <a:defRPr sz="19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936135" algn="l" defTabSz="984033" rtl="0" eaLnBrk="1" latinLnBrk="0" hangingPunct="1">
            <a:defRPr sz="19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GB" sz="1600" b="1" dirty="0" smtClean="0">
              <a:solidFill>
                <a:schemeClr val="tx1">
                  <a:lumMod val="50000"/>
                </a:schemeClr>
              </a:solidFill>
            </a:rPr>
            <a:t>Trade associations</a:t>
          </a:r>
          <a:endParaRPr lang="en-GB" sz="1600" b="1" dirty="0">
            <a:solidFill>
              <a:schemeClr val="tx1">
                <a:lumMod val="50000"/>
              </a:schemeClr>
            </a:solidFill>
          </a:endParaRPr>
        </a:p>
      </cdr:txBody>
    </cdr:sp>
  </cdr:relSizeAnchor>
  <cdr:relSizeAnchor xmlns:cdr="http://schemas.openxmlformats.org/drawingml/2006/chartDrawing">
    <cdr:from>
      <cdr:x>0.00898</cdr:x>
      <cdr:y>0.05108</cdr:y>
    </cdr:from>
    <cdr:to>
      <cdr:x>0.13849</cdr:x>
      <cdr:y>0.20892</cdr:y>
    </cdr:to>
    <cdr:sp macro="" textlink="">
      <cdr:nvSpPr>
        <cdr:cNvPr id="3" name="Rectangle 2"/>
        <cdr:cNvSpPr/>
      </cdr:nvSpPr>
      <cdr:spPr>
        <a:xfrm xmlns:a="http://schemas.openxmlformats.org/drawingml/2006/main">
          <a:off x="80227" y="217020"/>
          <a:ext cx="1157654" cy="670560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ffectLst xmlns:a="http://schemas.openxmlformats.org/drawingml/2006/main"/>
      </cdr:spPr>
      <cdr:style>
        <a:lnRef xmlns:a="http://schemas.openxmlformats.org/drawingml/2006/main" idx="1">
          <a:schemeClr val="accent1"/>
        </a:lnRef>
        <a:fillRef xmlns:a="http://schemas.openxmlformats.org/drawingml/2006/main" idx="3">
          <a:schemeClr val="accent1"/>
        </a:fillRef>
        <a:effectRef xmlns:a="http://schemas.openxmlformats.org/drawingml/2006/main" idx="2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da-DK"/>
          </a:defPPr>
          <a:lvl1pPr marL="0" algn="l" defTabSz="984033" rtl="0" eaLnBrk="1" latinLnBrk="0" hangingPunct="1">
            <a:defRPr sz="19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92017" algn="l" defTabSz="984033" rtl="0" eaLnBrk="1" latinLnBrk="0" hangingPunct="1">
            <a:defRPr sz="19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84033" algn="l" defTabSz="984033" rtl="0" eaLnBrk="1" latinLnBrk="0" hangingPunct="1">
            <a:defRPr sz="19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476050" algn="l" defTabSz="984033" rtl="0" eaLnBrk="1" latinLnBrk="0" hangingPunct="1">
            <a:defRPr sz="19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968068" algn="l" defTabSz="984033" rtl="0" eaLnBrk="1" latinLnBrk="0" hangingPunct="1">
            <a:defRPr sz="19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460085" algn="l" defTabSz="984033" rtl="0" eaLnBrk="1" latinLnBrk="0" hangingPunct="1">
            <a:defRPr sz="19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952102" algn="l" defTabSz="984033" rtl="0" eaLnBrk="1" latinLnBrk="0" hangingPunct="1">
            <a:defRPr sz="19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444119" algn="l" defTabSz="984033" rtl="0" eaLnBrk="1" latinLnBrk="0" hangingPunct="1">
            <a:defRPr sz="19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936135" algn="l" defTabSz="984033" rtl="0" eaLnBrk="1" latinLnBrk="0" hangingPunct="1">
            <a:defRPr sz="19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GB" sz="1600" b="1" dirty="0" smtClean="0">
              <a:solidFill>
                <a:schemeClr val="tx1">
                  <a:lumMod val="50000"/>
                </a:schemeClr>
              </a:solidFill>
            </a:rPr>
            <a:t>Direct suppliers</a:t>
          </a:r>
          <a:endParaRPr lang="en-GB" sz="1600" b="1" dirty="0">
            <a:solidFill>
              <a:schemeClr val="tx1">
                <a:lumMod val="50000"/>
              </a:schemeClr>
            </a:solidFill>
          </a:endParaRPr>
        </a:p>
      </cdr:txBody>
    </cdr:sp>
  </cdr:relSizeAnchor>
  <cdr:relSizeAnchor xmlns:cdr="http://schemas.openxmlformats.org/drawingml/2006/chartDrawing">
    <cdr:from>
      <cdr:x>0.01138</cdr:x>
      <cdr:y>0.36515</cdr:y>
    </cdr:from>
    <cdr:to>
      <cdr:x>0.1281</cdr:x>
      <cdr:y>0.52299</cdr:y>
    </cdr:to>
    <cdr:sp macro="" textlink="">
      <cdr:nvSpPr>
        <cdr:cNvPr id="4" name="Rectangle 3"/>
        <cdr:cNvSpPr/>
      </cdr:nvSpPr>
      <cdr:spPr>
        <a:xfrm xmlns:a="http://schemas.openxmlformats.org/drawingml/2006/main">
          <a:off x="101690" y="1551338"/>
          <a:ext cx="1043354" cy="670560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ffectLst xmlns:a="http://schemas.openxmlformats.org/drawingml/2006/main"/>
      </cdr:spPr>
      <cdr:style>
        <a:lnRef xmlns:a="http://schemas.openxmlformats.org/drawingml/2006/main" idx="1">
          <a:schemeClr val="accent1"/>
        </a:lnRef>
        <a:fillRef xmlns:a="http://schemas.openxmlformats.org/drawingml/2006/main" idx="3">
          <a:schemeClr val="accent1"/>
        </a:fillRef>
        <a:effectRef xmlns:a="http://schemas.openxmlformats.org/drawingml/2006/main" idx="2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da-DK"/>
          </a:defPPr>
          <a:lvl1pPr marL="0" algn="l" defTabSz="984033" rtl="0" eaLnBrk="1" latinLnBrk="0" hangingPunct="1">
            <a:defRPr sz="19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92017" algn="l" defTabSz="984033" rtl="0" eaLnBrk="1" latinLnBrk="0" hangingPunct="1">
            <a:defRPr sz="19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84033" algn="l" defTabSz="984033" rtl="0" eaLnBrk="1" latinLnBrk="0" hangingPunct="1">
            <a:defRPr sz="19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476050" algn="l" defTabSz="984033" rtl="0" eaLnBrk="1" latinLnBrk="0" hangingPunct="1">
            <a:defRPr sz="19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968068" algn="l" defTabSz="984033" rtl="0" eaLnBrk="1" latinLnBrk="0" hangingPunct="1">
            <a:defRPr sz="19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460085" algn="l" defTabSz="984033" rtl="0" eaLnBrk="1" latinLnBrk="0" hangingPunct="1">
            <a:defRPr sz="19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952102" algn="l" defTabSz="984033" rtl="0" eaLnBrk="1" latinLnBrk="0" hangingPunct="1">
            <a:defRPr sz="19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444119" algn="l" defTabSz="984033" rtl="0" eaLnBrk="1" latinLnBrk="0" hangingPunct="1">
            <a:defRPr sz="19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936135" algn="l" defTabSz="984033" rtl="0" eaLnBrk="1" latinLnBrk="0" hangingPunct="1">
            <a:defRPr sz="19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GB" sz="1600" b="1" dirty="0" smtClean="0">
              <a:solidFill>
                <a:schemeClr val="tx1">
                  <a:lumMod val="50000"/>
                </a:schemeClr>
              </a:solidFill>
            </a:rPr>
            <a:t>Indirect suppliers</a:t>
          </a:r>
          <a:endParaRPr lang="en-GB" sz="1600" b="1" dirty="0">
            <a:solidFill>
              <a:schemeClr val="tx1">
                <a:lumMod val="50000"/>
              </a:schemeClr>
            </a:solidFill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7" y="1"/>
            <a:ext cx="2945659" cy="496332"/>
          </a:xfrm>
          <a:prstGeom prst="rect">
            <a:avLst/>
          </a:prstGeom>
        </p:spPr>
        <p:txBody>
          <a:bodyPr vert="horz" lIns="91369" tIns="45682" rIns="91369" bIns="45682" rtlCol="0"/>
          <a:lstStyle>
            <a:lvl1pPr algn="l">
              <a:defRPr sz="1200"/>
            </a:lvl1pPr>
          </a:lstStyle>
          <a:p>
            <a:endParaRPr lang="da-DK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6" y="1"/>
            <a:ext cx="2945659" cy="496332"/>
          </a:xfrm>
          <a:prstGeom prst="rect">
            <a:avLst/>
          </a:prstGeom>
        </p:spPr>
        <p:txBody>
          <a:bodyPr vert="horz" lIns="91369" tIns="45682" rIns="91369" bIns="45682" rtlCol="0"/>
          <a:lstStyle>
            <a:lvl1pPr algn="r">
              <a:defRPr sz="1200"/>
            </a:lvl1pPr>
          </a:lstStyle>
          <a:p>
            <a:fld id="{7674AD0C-9412-42D7-83F2-2A92F1E00B73}" type="datetimeFigureOut">
              <a:rPr lang="da-DK" smtClean="0"/>
              <a:pPr/>
              <a:t>20-06-2016</a:t>
            </a:fld>
            <a:endParaRPr lang="da-DK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7" y="9428588"/>
            <a:ext cx="2945659" cy="496332"/>
          </a:xfrm>
          <a:prstGeom prst="rect">
            <a:avLst/>
          </a:prstGeom>
        </p:spPr>
        <p:txBody>
          <a:bodyPr vert="horz" lIns="91369" tIns="45682" rIns="91369" bIns="45682" rtlCol="0" anchor="b"/>
          <a:lstStyle>
            <a:lvl1pPr algn="l">
              <a:defRPr sz="1200"/>
            </a:lvl1pPr>
          </a:lstStyle>
          <a:p>
            <a:endParaRPr lang="da-DK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6" y="9428588"/>
            <a:ext cx="2945659" cy="496332"/>
          </a:xfrm>
          <a:prstGeom prst="rect">
            <a:avLst/>
          </a:prstGeom>
        </p:spPr>
        <p:txBody>
          <a:bodyPr vert="horz" lIns="91369" tIns="45682" rIns="91369" bIns="45682" rtlCol="0" anchor="b"/>
          <a:lstStyle>
            <a:lvl1pPr algn="r">
              <a:defRPr sz="1200"/>
            </a:lvl1pPr>
          </a:lstStyle>
          <a:p>
            <a:fld id="{5B7FD5CE-9DA3-4D88-894A-30AD044CDF20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23397313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7" y="1"/>
            <a:ext cx="2945659" cy="496332"/>
          </a:xfrm>
          <a:prstGeom prst="rect">
            <a:avLst/>
          </a:prstGeom>
        </p:spPr>
        <p:txBody>
          <a:bodyPr vert="horz" lIns="91369" tIns="45682" rIns="91369" bIns="45682" rtlCol="0"/>
          <a:lstStyle>
            <a:lvl1pPr algn="l">
              <a:defRPr sz="1200"/>
            </a:lvl1pPr>
          </a:lstStyle>
          <a:p>
            <a:endParaRPr lang="da-DK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6" y="1"/>
            <a:ext cx="2945659" cy="496332"/>
          </a:xfrm>
          <a:prstGeom prst="rect">
            <a:avLst/>
          </a:prstGeom>
        </p:spPr>
        <p:txBody>
          <a:bodyPr vert="horz" lIns="91369" tIns="45682" rIns="91369" bIns="45682" rtlCol="0"/>
          <a:lstStyle>
            <a:lvl1pPr algn="r">
              <a:defRPr sz="1200"/>
            </a:lvl1pPr>
          </a:lstStyle>
          <a:p>
            <a:fld id="{04CAA53E-E84C-44A5-BDDE-33746AB05C3E}" type="datetimeFigureOut">
              <a:rPr lang="da-DK" smtClean="0"/>
              <a:pPr/>
              <a:t>20-06-2016</a:t>
            </a:fld>
            <a:endParaRPr lang="da-DK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69" tIns="45682" rIns="91369" bIns="45682" rtlCol="0" anchor="ctr"/>
          <a:lstStyle/>
          <a:p>
            <a:endParaRPr lang="da-DK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6"/>
            <a:ext cx="5438140" cy="4466987"/>
          </a:xfrm>
          <a:prstGeom prst="rect">
            <a:avLst/>
          </a:prstGeom>
        </p:spPr>
        <p:txBody>
          <a:bodyPr vert="horz" lIns="91369" tIns="45682" rIns="91369" bIns="45682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7" y="9428588"/>
            <a:ext cx="2945659" cy="496332"/>
          </a:xfrm>
          <a:prstGeom prst="rect">
            <a:avLst/>
          </a:prstGeom>
        </p:spPr>
        <p:txBody>
          <a:bodyPr vert="horz" lIns="91369" tIns="45682" rIns="91369" bIns="45682" rtlCol="0" anchor="b"/>
          <a:lstStyle>
            <a:lvl1pPr algn="l">
              <a:defRPr sz="1200"/>
            </a:lvl1pPr>
          </a:lstStyle>
          <a:p>
            <a:endParaRPr lang="da-DK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6" y="9428588"/>
            <a:ext cx="2945659" cy="496332"/>
          </a:xfrm>
          <a:prstGeom prst="rect">
            <a:avLst/>
          </a:prstGeom>
        </p:spPr>
        <p:txBody>
          <a:bodyPr vert="horz" lIns="91369" tIns="45682" rIns="91369" bIns="45682" rtlCol="0" anchor="b"/>
          <a:lstStyle>
            <a:lvl1pPr algn="r">
              <a:defRPr sz="1200"/>
            </a:lvl1pPr>
          </a:lstStyle>
          <a:p>
            <a:fld id="{E9CF39DF-D357-4462-9CF7-0DB22330BD4A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9359021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58539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1pPr>
    <a:lvl2pPr marL="292699" algn="l" defTabSz="58539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2pPr>
    <a:lvl3pPr marL="585399" algn="l" defTabSz="58539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3pPr>
    <a:lvl4pPr marL="878098" algn="l" defTabSz="58539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4pPr>
    <a:lvl5pPr marL="1170798" algn="l" defTabSz="58539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5pPr>
    <a:lvl6pPr marL="1463497" algn="l" defTabSz="58539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6pPr>
    <a:lvl7pPr marL="1756197" algn="l" defTabSz="58539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7pPr>
    <a:lvl8pPr marL="2048896" algn="l" defTabSz="58539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8pPr>
    <a:lvl9pPr marL="2341596" algn="l" defTabSz="58539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100" dirty="0" smtClean="0"/>
              <a:t>WE HAVE ALSO SEEN A GOOD LEVEL OF UNDERSTANDING OF THE CODE RISE FROM 24 TO 31% BUT GOOD + FAIR STAYS LEVEL AT 72%.</a:t>
            </a:r>
          </a:p>
          <a:p>
            <a:endParaRPr lang="en-GB" sz="1100" dirty="0"/>
          </a:p>
          <a:p>
            <a:r>
              <a:rPr lang="en-GB" sz="1100" dirty="0" smtClean="0"/>
              <a:t>WE HAVE SEEN GOOD UNDERSTANDING OF THE GCA RISE FROM 23 TO 30 AND GOOD +FAIR FROM 63 TO 66. </a:t>
            </a:r>
          </a:p>
          <a:p>
            <a:endParaRPr lang="en-GB" sz="1100" dirty="0"/>
          </a:p>
          <a:p>
            <a:r>
              <a:rPr lang="en-GB" sz="1100" dirty="0" smtClean="0"/>
              <a:t>WE HAVE SEEN THE OPPORTUNITIES AND MARKET THERE TO PROVIDE AND INTEREST IN RECEIVING TRAINING ON THE CODE.</a:t>
            </a:r>
          </a:p>
          <a:p>
            <a:endParaRPr lang="en-GB" sz="1100" dirty="0"/>
          </a:p>
          <a:p>
            <a:r>
              <a:rPr lang="en-GB" sz="1100" dirty="0" smtClean="0"/>
              <a:t>KNOWLEDGE OF WHO THE CCO IS HAS GONE FROM 26% IN 2014 TO 46% AND RECOGNITION OF SOMETHING THAT IS A WRITTEN SUPPLY AGREEMENT FROM 40 TO 52% IN THAT TIME. </a:t>
            </a:r>
            <a:endParaRPr lang="en-GB" sz="11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F39DF-D357-4462-9CF7-0DB22330BD4A}" type="slidenum">
              <a:rPr lang="da-DK" smtClean="0"/>
              <a:pPr/>
              <a:t>29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288392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" y="0"/>
            <a:ext cx="9144001" cy="2916936"/>
          </a:xfrm>
          <a:prstGeom prst="rect">
            <a:avLst/>
          </a:prstGeom>
        </p:spPr>
      </p:pic>
      <p:sp>
        <p:nvSpPr>
          <p:cNvPr id="9" name="Text Placeholder 8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82442" y="4847207"/>
            <a:ext cx="8580597" cy="79278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 i="0" baseline="0">
                <a:solidFill>
                  <a:srgbClr val="595959"/>
                </a:solidFill>
              </a:defRPr>
            </a:lvl1pPr>
            <a:lvl2pPr marL="492017" indent="0">
              <a:buNone/>
              <a:defRPr/>
            </a:lvl2pPr>
            <a:lvl3pPr marL="984033" indent="0">
              <a:buNone/>
              <a:defRPr/>
            </a:lvl3pPr>
            <a:lvl4pPr marL="1476050" indent="0">
              <a:buNone/>
              <a:defRPr/>
            </a:lvl4pPr>
            <a:lvl5pPr marL="1968068" indent="0">
              <a:buNone/>
              <a:defRPr/>
            </a:lvl5pPr>
          </a:lstStyle>
          <a:p>
            <a:pPr lvl="0"/>
            <a:r>
              <a:rPr lang="en-GB" noProof="0" dirty="0" smtClean="0"/>
              <a:t>Further information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285428" y="5850552"/>
            <a:ext cx="1657350" cy="593725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 smtClean="0"/>
              <a:t>Logo</a:t>
            </a:r>
            <a:endParaRPr lang="en-GB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282575" y="3502325"/>
            <a:ext cx="8580438" cy="1294083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buNone/>
              <a:defRPr sz="48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 smtClean="0"/>
              <a:t>Report title</a:t>
            </a:r>
          </a:p>
        </p:txBody>
      </p:sp>
      <p:pic>
        <p:nvPicPr>
          <p:cNvPr id="10" name="Picture 9" descr="YouGovTrans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43617" y="6079297"/>
            <a:ext cx="1757610" cy="408746"/>
          </a:xfrm>
          <a:prstGeom prst="rect">
            <a:avLst/>
          </a:prstGeom>
        </p:spPr>
      </p:pic>
      <p:pic>
        <p:nvPicPr>
          <p:cNvPr id="11" name="Picture 2" descr="Z:\Clients\X, Y , Z\YouGov\Job Ref 4754 - Template Refinements\Artwork\Designer Artwork - Icons, EPS Illustrator Files\logo.png"/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954" b="73020"/>
          <a:stretch/>
        </p:blipFill>
        <p:spPr bwMode="auto">
          <a:xfrm>
            <a:off x="8740775" y="6139689"/>
            <a:ext cx="45719" cy="64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053480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282575" y="1598615"/>
            <a:ext cx="8580438" cy="4301962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Calibri" panose="020F0502020204030204" pitchFamily="34" charset="0"/>
            </a:endParaRP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19561" y="1615865"/>
            <a:ext cx="8318998" cy="4072148"/>
          </a:xfrm>
        </p:spPr>
        <p:txBody>
          <a:bodyPr>
            <a:normAutofit/>
          </a:bodyPr>
          <a:lstStyle>
            <a:lvl1pPr marL="276225" indent="-276225">
              <a:buClr>
                <a:srgbClr val="595959"/>
              </a:buClr>
              <a:buFont typeface="+mj-lt"/>
              <a:buAutoNum type="arabicPeriod"/>
              <a:defRPr sz="2400" b="0">
                <a:solidFill>
                  <a:srgbClr val="595959"/>
                </a:solidFill>
              </a:defRPr>
            </a:lvl1pPr>
            <a:lvl2pPr marL="517525" indent="-342900">
              <a:buFont typeface="+mj-lt"/>
              <a:buAutoNum type="arabicPeriod"/>
              <a:defRPr>
                <a:solidFill>
                  <a:srgbClr val="FF0000"/>
                </a:solidFill>
              </a:defRPr>
            </a:lvl2pPr>
            <a:lvl3pPr marL="787400" indent="-342900">
              <a:buFont typeface="+mj-lt"/>
              <a:buAutoNum type="arabicPeriod"/>
              <a:defRPr>
                <a:solidFill>
                  <a:srgbClr val="FF0000"/>
                </a:solidFill>
              </a:defRPr>
            </a:lvl3pPr>
            <a:lvl4pPr marL="1042988" indent="-342900">
              <a:buFont typeface="+mj-lt"/>
              <a:buAutoNum type="arabicPeriod"/>
              <a:defRPr>
                <a:solidFill>
                  <a:srgbClr val="FF0000"/>
                </a:solidFill>
              </a:defRPr>
            </a:lvl4pPr>
            <a:lvl5pPr marL="1308100" indent="-342900">
              <a:buFont typeface="+mj-lt"/>
              <a:buAutoNum type="arabicPeriod"/>
              <a:defRPr>
                <a:solidFill>
                  <a:srgbClr val="FF0000"/>
                </a:solidFill>
              </a:defRPr>
            </a:lvl5pPr>
          </a:lstStyle>
          <a:p>
            <a:pPr lvl="0"/>
            <a:r>
              <a:rPr lang="en-US" dirty="0" smtClean="0"/>
              <a:t>Lorem ipsum dolor sit </a:t>
            </a:r>
            <a:r>
              <a:rPr lang="en-US" dirty="0" err="1" smtClean="0"/>
              <a:t>amet</a:t>
            </a:r>
            <a:endParaRPr lang="en-US" dirty="0" smtClean="0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282575" y="310551"/>
            <a:ext cx="8580438" cy="690492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buNone/>
              <a:defRPr sz="3600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 smtClean="0"/>
              <a:t>Contents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4862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6D6F71"/>
                </a:solidFill>
                <a:latin typeface="Calibri" panose="020F0502020204030204" pitchFamily="34" charset="0"/>
              </a:defRPr>
            </a:lvl1pPr>
          </a:lstStyle>
          <a:p>
            <a:fld id="{79625F87-44A5-4BCE-BECC-3F62853E43A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006469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1376363"/>
            <a:ext cx="9144000" cy="4529137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Calibri" panose="020F0502020204030204" pitchFamily="34" charset="0"/>
            </a:endParaRP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82574" y="1615865"/>
            <a:ext cx="8580439" cy="4072148"/>
          </a:xfrm>
        </p:spPr>
        <p:txBody>
          <a:bodyPr>
            <a:normAutofit/>
          </a:bodyPr>
          <a:lstStyle>
            <a:lvl1pPr marL="276225" indent="-276225">
              <a:buClr>
                <a:srgbClr val="595959"/>
              </a:buClr>
              <a:buFont typeface="+mj-lt"/>
              <a:buAutoNum type="arabicPeriod"/>
              <a:defRPr sz="2400" b="0">
                <a:solidFill>
                  <a:srgbClr val="595959"/>
                </a:solidFill>
              </a:defRPr>
            </a:lvl1pPr>
            <a:lvl2pPr marL="517525" indent="-342900">
              <a:buFont typeface="+mj-lt"/>
              <a:buAutoNum type="arabicPeriod"/>
              <a:defRPr>
                <a:solidFill>
                  <a:srgbClr val="FF0000"/>
                </a:solidFill>
              </a:defRPr>
            </a:lvl2pPr>
            <a:lvl3pPr marL="787400" indent="-342900">
              <a:buFont typeface="+mj-lt"/>
              <a:buAutoNum type="arabicPeriod"/>
              <a:defRPr>
                <a:solidFill>
                  <a:srgbClr val="FF0000"/>
                </a:solidFill>
              </a:defRPr>
            </a:lvl3pPr>
            <a:lvl4pPr marL="1042988" indent="-342900">
              <a:buFont typeface="+mj-lt"/>
              <a:buAutoNum type="arabicPeriod"/>
              <a:defRPr>
                <a:solidFill>
                  <a:srgbClr val="FF0000"/>
                </a:solidFill>
              </a:defRPr>
            </a:lvl4pPr>
            <a:lvl5pPr marL="1308100" indent="-342900">
              <a:buFont typeface="+mj-lt"/>
              <a:buAutoNum type="arabicPeriod"/>
              <a:defRPr>
                <a:solidFill>
                  <a:srgbClr val="FF0000"/>
                </a:solidFill>
              </a:defRPr>
            </a:lvl5pPr>
          </a:lstStyle>
          <a:p>
            <a:pPr lvl="0"/>
            <a:r>
              <a:rPr lang="en-US" dirty="0" smtClean="0"/>
              <a:t>Lorem ipsum dolor sit </a:t>
            </a:r>
            <a:r>
              <a:rPr lang="en-US" dirty="0" err="1" smtClean="0"/>
              <a:t>amet</a:t>
            </a:r>
            <a:endParaRPr lang="en-US" dirty="0" smtClean="0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282575" y="310551"/>
            <a:ext cx="8580438" cy="690492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buNone/>
              <a:defRPr sz="3600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 smtClean="0"/>
              <a:t>Contents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4862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6D6F71"/>
                </a:solidFill>
                <a:latin typeface="Calibri" panose="020F0502020204030204" pitchFamily="34" charset="0"/>
              </a:defRPr>
            </a:lvl1pPr>
          </a:lstStyle>
          <a:p>
            <a:fld id="{79625F87-44A5-4BCE-BECC-3F62853E43A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5569239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82574" y="1615865"/>
            <a:ext cx="8580439" cy="4072148"/>
          </a:xfrm>
        </p:spPr>
        <p:txBody>
          <a:bodyPr>
            <a:normAutofit/>
          </a:bodyPr>
          <a:lstStyle>
            <a:lvl1pPr marL="276225" indent="-276225">
              <a:buClr>
                <a:srgbClr val="595959"/>
              </a:buClr>
              <a:buFont typeface="+mj-lt"/>
              <a:buAutoNum type="arabicPeriod"/>
              <a:defRPr sz="2400" b="0">
                <a:solidFill>
                  <a:srgbClr val="595959"/>
                </a:solidFill>
              </a:defRPr>
            </a:lvl1pPr>
            <a:lvl2pPr marL="517525" indent="-342900">
              <a:buFont typeface="+mj-lt"/>
              <a:buAutoNum type="arabicPeriod"/>
              <a:defRPr>
                <a:solidFill>
                  <a:srgbClr val="FF0000"/>
                </a:solidFill>
              </a:defRPr>
            </a:lvl2pPr>
            <a:lvl3pPr marL="787400" indent="-342900">
              <a:buFont typeface="+mj-lt"/>
              <a:buAutoNum type="arabicPeriod"/>
              <a:defRPr>
                <a:solidFill>
                  <a:srgbClr val="FF0000"/>
                </a:solidFill>
              </a:defRPr>
            </a:lvl3pPr>
            <a:lvl4pPr marL="1042988" indent="-342900">
              <a:buFont typeface="+mj-lt"/>
              <a:buAutoNum type="arabicPeriod"/>
              <a:defRPr>
                <a:solidFill>
                  <a:srgbClr val="FF0000"/>
                </a:solidFill>
              </a:defRPr>
            </a:lvl4pPr>
            <a:lvl5pPr marL="1308100" indent="-342900">
              <a:buFont typeface="+mj-lt"/>
              <a:buAutoNum type="arabicPeriod"/>
              <a:defRPr>
                <a:solidFill>
                  <a:srgbClr val="FF0000"/>
                </a:solidFill>
              </a:defRPr>
            </a:lvl5pPr>
          </a:lstStyle>
          <a:p>
            <a:pPr lvl="0"/>
            <a:r>
              <a:rPr lang="en-US" dirty="0" smtClean="0"/>
              <a:t>Lorem ipsum dolor sit </a:t>
            </a:r>
            <a:r>
              <a:rPr lang="en-US" dirty="0" err="1" smtClean="0"/>
              <a:t>amet</a:t>
            </a:r>
            <a:endParaRPr lang="en-US" dirty="0" smtClean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282575" y="310551"/>
            <a:ext cx="8580438" cy="690492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buNone/>
              <a:defRPr sz="3600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 smtClean="0"/>
              <a:t>Contents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4862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6D6F71"/>
                </a:solidFill>
                <a:latin typeface="Calibri" panose="020F0502020204030204" pitchFamily="34" charset="0"/>
              </a:defRPr>
            </a:lvl1pPr>
          </a:lstStyle>
          <a:p>
            <a:fld id="{79625F87-44A5-4BCE-BECC-3F62853E43A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57374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2487300"/>
            <a:ext cx="9144000" cy="18834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50000"/>
                </a:schemeClr>
              </a:gs>
              <a:gs pos="50000">
                <a:schemeClr val="tx2">
                  <a:lumMod val="75000"/>
                </a:schemeClr>
              </a:gs>
              <a:gs pos="0">
                <a:schemeClr val="tx2"/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>
              <a:latin typeface="Calibri" panose="020F0502020204030204" pitchFamily="34" charset="0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282575" y="3722108"/>
            <a:ext cx="8580438" cy="646692"/>
          </a:xfrm>
        </p:spPr>
        <p:txBody>
          <a:bodyPr tIns="36000" anchor="t" anchorCtr="0">
            <a:normAutofit/>
          </a:bodyPr>
          <a:lstStyle>
            <a:lvl1pPr marL="0" indent="0">
              <a:buNone/>
              <a:defRPr sz="2400" b="0" baseline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 smtClean="0"/>
              <a:t>Insert Subtitle Text Here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9" hasCustomPrompt="1"/>
          </p:nvPr>
        </p:nvSpPr>
        <p:spPr>
          <a:xfrm>
            <a:off x="282575" y="2487300"/>
            <a:ext cx="8580438" cy="1171308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4862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6D6F71"/>
                </a:solidFill>
                <a:latin typeface="Calibri" panose="020F0502020204030204" pitchFamily="34" charset="0"/>
              </a:defRPr>
            </a:lvl1pPr>
          </a:lstStyle>
          <a:p>
            <a:fld id="{79625F87-44A5-4BCE-BECC-3F62853E43A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1567837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330"/>
          <a:stretch/>
        </p:blipFill>
        <p:spPr>
          <a:xfrm>
            <a:off x="0" y="3796724"/>
            <a:ext cx="9144000" cy="2103365"/>
          </a:xfrm>
          <a:prstGeom prst="rect">
            <a:avLst/>
          </a:prstGeom>
        </p:spPr>
      </p:pic>
      <p:sp>
        <p:nvSpPr>
          <p:cNvPr id="6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282574" y="3212976"/>
            <a:ext cx="8580439" cy="4001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i="1" baseline="0">
                <a:solidFill>
                  <a:srgbClr val="595959"/>
                </a:solidFill>
              </a:defRPr>
            </a:lvl1pPr>
            <a:lvl2pPr marL="492017" indent="0">
              <a:buNone/>
              <a:defRPr/>
            </a:lvl2pPr>
            <a:lvl3pPr marL="984033" indent="0">
              <a:buNone/>
              <a:defRPr/>
            </a:lvl3pPr>
            <a:lvl4pPr marL="1476050" indent="0">
              <a:buNone/>
              <a:defRPr/>
            </a:lvl4pPr>
            <a:lvl5pPr marL="1968068" indent="0">
              <a:buNone/>
              <a:defRPr/>
            </a:lvl5pPr>
          </a:lstStyle>
          <a:p>
            <a:pPr lvl="0"/>
            <a:r>
              <a:rPr lang="en-GB" noProof="0" dirty="0" smtClean="0"/>
              <a:t>Further information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282575" y="2596551"/>
            <a:ext cx="8580438" cy="616425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buNone/>
              <a:defRPr sz="32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 smtClean="0"/>
              <a:t>Section</a:t>
            </a:r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4862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6D6F71"/>
                </a:solidFill>
                <a:latin typeface="Calibri" panose="020F0502020204030204" pitchFamily="34" charset="0"/>
              </a:defRPr>
            </a:lvl1pPr>
          </a:lstStyle>
          <a:p>
            <a:fld id="{79625F87-44A5-4BCE-BECC-3F62853E43A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397400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tr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82414" y="1725613"/>
            <a:ext cx="8580598" cy="6006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400" i="0" baseline="0">
                <a:solidFill>
                  <a:srgbClr val="595959"/>
                </a:solidFill>
              </a:defRPr>
            </a:lvl1pPr>
            <a:lvl2pPr marL="492017" indent="0">
              <a:buNone/>
              <a:defRPr/>
            </a:lvl2pPr>
            <a:lvl3pPr marL="984033" indent="0">
              <a:buNone/>
              <a:defRPr/>
            </a:lvl3pPr>
            <a:lvl4pPr marL="1476050" indent="0">
              <a:buNone/>
              <a:defRPr/>
            </a:lvl4pPr>
            <a:lvl5pPr marL="1968068" indent="0">
              <a:buNone/>
              <a:defRPr/>
            </a:lvl5pPr>
          </a:lstStyle>
          <a:p>
            <a:pPr lvl="0"/>
            <a:r>
              <a:rPr lang="en-GB" noProof="0" dirty="0" smtClean="0"/>
              <a:t>Further information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282574" y="2373314"/>
            <a:ext cx="8580439" cy="3532186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smtClean="0"/>
              <a:t>Click icon to add picture</a:t>
            </a:r>
            <a:endParaRPr lang="en-GB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282575" y="188913"/>
            <a:ext cx="8580438" cy="1474787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buNone/>
              <a:defRPr sz="4800" b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 smtClean="0"/>
              <a:t>Quote or statement</a:t>
            </a:r>
          </a:p>
        </p:txBody>
      </p:sp>
      <p:pic>
        <p:nvPicPr>
          <p:cNvPr id="15" name="Picture 14" descr="YouGovTrans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43617" y="6079297"/>
            <a:ext cx="1757610" cy="408746"/>
          </a:xfrm>
          <a:prstGeom prst="rect">
            <a:avLst/>
          </a:prstGeom>
        </p:spPr>
      </p:pic>
      <p:sp>
        <p:nvSpPr>
          <p:cNvPr id="16" name="Rectangle 15"/>
          <p:cNvSpPr/>
          <p:nvPr userDrawn="1"/>
        </p:nvSpPr>
        <p:spPr>
          <a:xfrm>
            <a:off x="0" y="0"/>
            <a:ext cx="9144000" cy="1623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 err="1" smtClean="0">
              <a:latin typeface="Calibri" panose="020F0502020204030204" pitchFamily="34" charset="0"/>
            </a:endParaRP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4862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6D6F71"/>
                </a:solidFill>
                <a:latin typeface="Calibri" panose="020F0502020204030204" pitchFamily="34" charset="0"/>
              </a:defRPr>
            </a:lvl1pPr>
          </a:lstStyle>
          <a:p>
            <a:fld id="{79625F87-44A5-4BCE-BECC-3F62853E43A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323507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tr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2951163" y="0"/>
            <a:ext cx="3241675" cy="6858000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50000">
                <a:schemeClr val="tx2">
                  <a:lumMod val="75000"/>
                </a:schemeClr>
              </a:gs>
              <a:gs pos="100000">
                <a:schemeClr val="tx2"/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9" name="Text Placeholder 8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951163" y="3984626"/>
            <a:ext cx="3241676" cy="20788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400" i="0" baseline="0">
                <a:solidFill>
                  <a:schemeClr val="bg1"/>
                </a:solidFill>
              </a:defRPr>
            </a:lvl1pPr>
            <a:lvl2pPr marL="492017" indent="0">
              <a:buNone/>
              <a:defRPr/>
            </a:lvl2pPr>
            <a:lvl3pPr marL="984033" indent="0">
              <a:buNone/>
              <a:defRPr/>
            </a:lvl3pPr>
            <a:lvl4pPr marL="1476050" indent="0">
              <a:buNone/>
              <a:defRPr/>
            </a:lvl4pPr>
            <a:lvl5pPr marL="1968068" indent="0">
              <a:buNone/>
              <a:defRPr/>
            </a:lvl5pPr>
          </a:lstStyle>
          <a:p>
            <a:pPr lvl="0"/>
            <a:r>
              <a:rPr lang="en-GB" noProof="0" dirty="0" smtClean="0"/>
              <a:t>Further information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0" y="162351"/>
            <a:ext cx="2951163" cy="6695649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smtClean="0"/>
              <a:t>Click icon to add picture</a:t>
            </a:r>
            <a:endParaRPr lang="en-GB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192838" y="162351"/>
            <a:ext cx="2951162" cy="6695649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smtClean="0"/>
              <a:t>Click icon to add picture</a:t>
            </a:r>
            <a:endParaRPr lang="en-GB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2955928" y="162351"/>
            <a:ext cx="3236912" cy="3766712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buNone/>
              <a:defRPr sz="4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Quote or statement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0" y="0"/>
            <a:ext cx="9144000" cy="1623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 err="1" smtClean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455297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tr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0"/>
            <a:ext cx="4141694" cy="68580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50000"/>
                </a:schemeClr>
              </a:gs>
              <a:gs pos="50000">
                <a:schemeClr val="tx2">
                  <a:lumMod val="75000"/>
                </a:schemeClr>
              </a:gs>
              <a:gs pos="0">
                <a:schemeClr val="tx2"/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9" name="Text Placeholder 8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84093" y="3933826"/>
            <a:ext cx="3241676" cy="20788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400" i="0" baseline="0">
                <a:solidFill>
                  <a:schemeClr val="bg1"/>
                </a:solidFill>
              </a:defRPr>
            </a:lvl1pPr>
            <a:lvl2pPr marL="492017" indent="0">
              <a:buNone/>
              <a:defRPr/>
            </a:lvl2pPr>
            <a:lvl3pPr marL="984033" indent="0">
              <a:buNone/>
              <a:defRPr/>
            </a:lvl3pPr>
            <a:lvl4pPr marL="1476050" indent="0">
              <a:buNone/>
              <a:defRPr/>
            </a:lvl4pPr>
            <a:lvl5pPr marL="1968068" indent="0">
              <a:buNone/>
              <a:defRPr/>
            </a:lvl5pPr>
          </a:lstStyle>
          <a:p>
            <a:pPr lvl="0"/>
            <a:r>
              <a:rPr lang="en-GB" noProof="0" dirty="0" smtClean="0"/>
              <a:t>Further information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4389120" y="277804"/>
            <a:ext cx="4754879" cy="3060000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smtClean="0"/>
              <a:t>Click icon to add picture</a:t>
            </a:r>
            <a:endParaRPr lang="en-GB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366018" y="3466213"/>
            <a:ext cx="4776395" cy="3060000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smtClean="0"/>
              <a:t>Click icon to add picture</a:t>
            </a:r>
            <a:endParaRPr lang="en-GB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80146" y="196855"/>
            <a:ext cx="3236912" cy="3766712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buNone/>
              <a:defRPr sz="4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Quote or statement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9144000" cy="1623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 err="1" smtClean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83795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50000"/>
                </a:schemeClr>
              </a:gs>
              <a:gs pos="50000">
                <a:schemeClr val="tx2">
                  <a:lumMod val="75000"/>
                </a:schemeClr>
              </a:gs>
              <a:gs pos="0">
                <a:schemeClr val="tx2"/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9" name="Text Placeholder 8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82443" y="3070642"/>
            <a:ext cx="8580597" cy="792783"/>
          </a:xfrm>
          <a:prstGeom prst="rect">
            <a:avLst/>
          </a:prstGeom>
        </p:spPr>
        <p:txBody>
          <a:bodyPr lIns="90000">
            <a:noAutofit/>
          </a:bodyPr>
          <a:lstStyle>
            <a:lvl1pPr marL="0" indent="0" algn="l">
              <a:spcBef>
                <a:spcPts val="0"/>
              </a:spcBef>
              <a:buNone/>
              <a:defRPr sz="2400" i="1" baseline="0">
                <a:solidFill>
                  <a:schemeClr val="bg1"/>
                </a:solidFill>
              </a:defRPr>
            </a:lvl1pPr>
            <a:lvl2pPr marL="492017" indent="0">
              <a:buNone/>
              <a:defRPr/>
            </a:lvl2pPr>
            <a:lvl3pPr marL="984033" indent="0">
              <a:buNone/>
              <a:defRPr/>
            </a:lvl3pPr>
            <a:lvl4pPr marL="1476050" indent="0">
              <a:buNone/>
              <a:defRPr/>
            </a:lvl4pPr>
            <a:lvl5pPr marL="1968068" indent="0">
              <a:buNone/>
              <a:defRPr/>
            </a:lvl5pPr>
          </a:lstStyle>
          <a:p>
            <a:pPr lvl="0"/>
            <a:r>
              <a:rPr lang="en-GB" noProof="0" dirty="0" smtClean="0"/>
              <a:t>Further information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282575" y="196855"/>
            <a:ext cx="8580438" cy="2822390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buNone/>
              <a:defRPr sz="4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Quote or Question</a:t>
            </a:r>
          </a:p>
        </p:txBody>
      </p:sp>
    </p:spTree>
    <p:extLst>
      <p:ext uri="{BB962C8B-B14F-4D97-AF65-F5344CB8AC3E}">
        <p14:creationId xmlns:p14="http://schemas.microsoft.com/office/powerpoint/2010/main" val="202925987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282442" y="2024063"/>
            <a:ext cx="8580569" cy="68348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400" i="0" baseline="0">
                <a:solidFill>
                  <a:srgbClr val="595959"/>
                </a:solidFill>
              </a:defRPr>
            </a:lvl1pPr>
            <a:lvl2pPr marL="492017" indent="0">
              <a:buNone/>
              <a:defRPr/>
            </a:lvl2pPr>
            <a:lvl3pPr marL="984033" indent="0">
              <a:buNone/>
              <a:defRPr/>
            </a:lvl3pPr>
            <a:lvl4pPr marL="1476050" indent="0">
              <a:buNone/>
              <a:defRPr/>
            </a:lvl4pPr>
            <a:lvl5pPr marL="1968068" indent="0">
              <a:buNone/>
              <a:defRPr/>
            </a:lvl5pPr>
          </a:lstStyle>
          <a:p>
            <a:pPr lvl="0"/>
            <a:r>
              <a:rPr lang="en-GB" noProof="0" dirty="0" smtClean="0"/>
              <a:t>Further information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282575" y="310551"/>
            <a:ext cx="8580438" cy="690492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buNone/>
              <a:defRPr sz="3600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 smtClean="0"/>
              <a:t>Section</a:t>
            </a:r>
          </a:p>
        </p:txBody>
      </p:sp>
      <p:pic>
        <p:nvPicPr>
          <p:cNvPr id="12" name="Picture 11" descr="YouGovTrans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43617" y="6079297"/>
            <a:ext cx="1757610" cy="408746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0"/>
            <a:ext cx="9144000" cy="1623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 err="1" smtClean="0">
              <a:latin typeface="Calibri" panose="020F0502020204030204" pitchFamily="34" charset="0"/>
            </a:endParaRP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4862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6D6F71"/>
                </a:solidFill>
                <a:latin typeface="Calibri" panose="020F0502020204030204" pitchFamily="34" charset="0"/>
              </a:defRPr>
            </a:lvl1pPr>
          </a:lstStyle>
          <a:p>
            <a:fld id="{79625F87-44A5-4BCE-BECC-3F62853E43A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619162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1376363"/>
            <a:ext cx="9144000" cy="4529137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Calibri" panose="020F0502020204030204" pitchFamily="34" charset="0"/>
            </a:endParaRP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282445" y="1700213"/>
            <a:ext cx="8580568" cy="68348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400" i="0" baseline="0">
                <a:solidFill>
                  <a:srgbClr val="595959"/>
                </a:solidFill>
              </a:defRPr>
            </a:lvl1pPr>
            <a:lvl2pPr marL="492017" indent="0">
              <a:buNone/>
              <a:defRPr/>
            </a:lvl2pPr>
            <a:lvl3pPr marL="984033" indent="0">
              <a:buNone/>
              <a:defRPr/>
            </a:lvl3pPr>
            <a:lvl4pPr marL="1476050" indent="0">
              <a:buNone/>
              <a:defRPr/>
            </a:lvl4pPr>
            <a:lvl5pPr marL="1968068" indent="0">
              <a:buNone/>
              <a:defRPr/>
            </a:lvl5pPr>
          </a:lstStyle>
          <a:p>
            <a:pPr lvl="0"/>
            <a:r>
              <a:rPr lang="en-GB" noProof="0" dirty="0" smtClean="0"/>
              <a:t>Further information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282575" y="310551"/>
            <a:ext cx="8580438" cy="690492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buNone/>
              <a:defRPr sz="3600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 smtClean="0"/>
              <a:t>Section</a:t>
            </a:r>
          </a:p>
        </p:txBody>
      </p:sp>
      <p:pic>
        <p:nvPicPr>
          <p:cNvPr id="15" name="Picture 14" descr="YouGovTrans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43617" y="6079297"/>
            <a:ext cx="1757610" cy="408746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>
          <a:xfrm>
            <a:off x="0" y="0"/>
            <a:ext cx="9144000" cy="1623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 err="1" smtClean="0">
              <a:latin typeface="Calibri" panose="020F0502020204030204" pitchFamily="34" charset="0"/>
            </a:endParaRP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4862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6D6F71"/>
                </a:solidFill>
                <a:latin typeface="Calibri" panose="020F0502020204030204" pitchFamily="34" charset="0"/>
              </a:defRPr>
            </a:lvl1pPr>
          </a:lstStyle>
          <a:p>
            <a:fld id="{79625F87-44A5-4BCE-BECC-3F62853E43A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327499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282575" y="1376364"/>
            <a:ext cx="8580438" cy="4616449"/>
          </a:xfrm>
        </p:spPr>
        <p:txBody>
          <a:bodyPr>
            <a:normAutofit/>
          </a:bodyPr>
          <a:lstStyle>
            <a:lvl1pPr>
              <a:defRPr sz="3200">
                <a:solidFill>
                  <a:srgbClr val="595959"/>
                </a:solidFill>
              </a:defRPr>
            </a:lvl1pPr>
            <a:lvl2pPr>
              <a:defRPr sz="2800">
                <a:solidFill>
                  <a:srgbClr val="595959"/>
                </a:solidFill>
              </a:defRPr>
            </a:lvl2pPr>
            <a:lvl3pPr>
              <a:defRPr sz="2400">
                <a:solidFill>
                  <a:srgbClr val="595959"/>
                </a:solidFill>
              </a:defRPr>
            </a:lvl3pPr>
            <a:lvl4pPr>
              <a:defRPr sz="2400">
                <a:solidFill>
                  <a:srgbClr val="595959"/>
                </a:solidFill>
              </a:defRPr>
            </a:lvl4pPr>
            <a:lvl5pPr>
              <a:defRPr sz="24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 dirty="0"/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282575" y="310551"/>
            <a:ext cx="8580438" cy="690492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buNone/>
              <a:defRPr sz="3600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GB" dirty="0" smtClean="0"/>
              <a:t>Click to edit Master title style</a:t>
            </a:r>
            <a:endParaRPr lang="en-US" dirty="0" smtClean="0"/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4862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6D6F71"/>
                </a:solidFill>
                <a:latin typeface="Calibri" panose="020F0502020204030204" pitchFamily="34" charset="0"/>
              </a:defRPr>
            </a:lvl1pPr>
          </a:lstStyle>
          <a:p>
            <a:fld id="{79625F87-44A5-4BCE-BECC-3F62853E43A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62232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6192838" y="2744303"/>
            <a:ext cx="2664170" cy="68848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Calibri" panose="020F0502020204030204" pitchFamily="34" charset="0"/>
            </a:endParaRPr>
          </a:p>
        </p:txBody>
      </p:sp>
      <p:sp>
        <p:nvSpPr>
          <p:cNvPr id="21" name="Rectangle 20"/>
          <p:cNvSpPr/>
          <p:nvPr userDrawn="1"/>
        </p:nvSpPr>
        <p:spPr>
          <a:xfrm>
            <a:off x="6192838" y="3936385"/>
            <a:ext cx="2664170" cy="68848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Calibri" panose="020F0502020204030204" pitchFamily="34" charset="0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6192838" y="5128467"/>
            <a:ext cx="2664170" cy="68848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Calibri" panose="020F0502020204030204" pitchFamily="34" charset="0"/>
            </a:endParaRPr>
          </a:p>
        </p:txBody>
      </p:sp>
      <p:sp>
        <p:nvSpPr>
          <p:cNvPr id="19" name="Rectangle 18"/>
          <p:cNvSpPr/>
          <p:nvPr userDrawn="1"/>
        </p:nvSpPr>
        <p:spPr>
          <a:xfrm>
            <a:off x="6192838" y="1552221"/>
            <a:ext cx="2664170" cy="68848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Calibri" panose="020F0502020204030204" pitchFamily="34" charset="0"/>
            </a:endParaRP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643438" y="1376363"/>
            <a:ext cx="1620202" cy="1040204"/>
            <a:chOff x="0" y="2162"/>
            <a:chExt cx="1620202" cy="1040204"/>
          </a:xfrm>
        </p:grpSpPr>
        <p:sp>
          <p:nvSpPr>
            <p:cNvPr id="6" name="Rounded Rectangle 5"/>
            <p:cNvSpPr/>
            <p:nvPr userDrawn="1"/>
          </p:nvSpPr>
          <p:spPr>
            <a:xfrm>
              <a:off x="0" y="2162"/>
              <a:ext cx="1620202" cy="1040204"/>
            </a:xfrm>
            <a:prstGeom prst="rect">
              <a:avLst/>
            </a:prstGeom>
            <a:gradFill flip="none" rotWithShape="1">
              <a:gsLst>
                <a:gs pos="100000">
                  <a:schemeClr val="tx2">
                    <a:lumMod val="50000"/>
                  </a:schemeClr>
                </a:gs>
                <a:gs pos="50000">
                  <a:schemeClr val="tx2">
                    <a:lumMod val="75000"/>
                  </a:schemeClr>
                </a:gs>
                <a:gs pos="0">
                  <a:schemeClr val="tx2"/>
                </a:gs>
              </a:gsLst>
              <a:lin ang="162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ounded Rectangle 4"/>
            <p:cNvSpPr/>
            <p:nvPr userDrawn="1"/>
          </p:nvSpPr>
          <p:spPr>
            <a:xfrm>
              <a:off x="50779" y="52941"/>
              <a:ext cx="1518644" cy="938646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8" name="Group 7"/>
          <p:cNvGrpSpPr/>
          <p:nvPr userDrawn="1"/>
        </p:nvGrpSpPr>
        <p:grpSpPr>
          <a:xfrm>
            <a:off x="4643438" y="2568445"/>
            <a:ext cx="1620202" cy="1040204"/>
            <a:chOff x="0" y="2162"/>
            <a:chExt cx="1620202" cy="1040204"/>
          </a:xfrm>
        </p:grpSpPr>
        <p:sp>
          <p:nvSpPr>
            <p:cNvPr id="9" name="Rounded Rectangle 8"/>
            <p:cNvSpPr/>
            <p:nvPr userDrawn="1"/>
          </p:nvSpPr>
          <p:spPr>
            <a:xfrm>
              <a:off x="0" y="2162"/>
              <a:ext cx="1620202" cy="1040204"/>
            </a:xfrm>
            <a:prstGeom prst="rect">
              <a:avLst/>
            </a:prstGeom>
            <a:gradFill flip="none" rotWithShape="1">
              <a:gsLst>
                <a:gs pos="100000">
                  <a:schemeClr val="tx2">
                    <a:lumMod val="50000"/>
                  </a:schemeClr>
                </a:gs>
                <a:gs pos="50000">
                  <a:schemeClr val="tx2">
                    <a:lumMod val="75000"/>
                  </a:schemeClr>
                </a:gs>
                <a:gs pos="0">
                  <a:schemeClr val="tx2"/>
                </a:gs>
              </a:gsLst>
              <a:lin ang="162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ounded Rectangle 4"/>
            <p:cNvSpPr/>
            <p:nvPr userDrawn="1"/>
          </p:nvSpPr>
          <p:spPr>
            <a:xfrm>
              <a:off x="50779" y="52941"/>
              <a:ext cx="1518644" cy="938646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spcFirstLastPara="0" vert="horz" wrap="square" lIns="60960" tIns="30480" rIns="60960" bIns="3048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1600" kern="12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4643438" y="3760527"/>
            <a:ext cx="1620202" cy="1040204"/>
            <a:chOff x="0" y="2162"/>
            <a:chExt cx="1620202" cy="1040204"/>
          </a:xfrm>
        </p:grpSpPr>
        <p:sp>
          <p:nvSpPr>
            <p:cNvPr id="12" name="Rounded Rectangle 11"/>
            <p:cNvSpPr/>
            <p:nvPr userDrawn="1"/>
          </p:nvSpPr>
          <p:spPr>
            <a:xfrm>
              <a:off x="0" y="2162"/>
              <a:ext cx="1620202" cy="1040204"/>
            </a:xfrm>
            <a:prstGeom prst="rect">
              <a:avLst/>
            </a:prstGeom>
            <a:gradFill flip="none" rotWithShape="1">
              <a:gsLst>
                <a:gs pos="100000">
                  <a:schemeClr val="tx2">
                    <a:lumMod val="50000"/>
                  </a:schemeClr>
                </a:gs>
                <a:gs pos="50000">
                  <a:schemeClr val="tx2">
                    <a:lumMod val="75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ounded Rectangle 4"/>
            <p:cNvSpPr/>
            <p:nvPr userDrawn="1"/>
          </p:nvSpPr>
          <p:spPr>
            <a:xfrm>
              <a:off x="50779" y="52941"/>
              <a:ext cx="1518644" cy="938646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spcFirstLastPara="0" vert="horz" wrap="square" lIns="60960" tIns="30480" rIns="60960" bIns="3048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1600" kern="12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4" name="Group 13"/>
          <p:cNvGrpSpPr/>
          <p:nvPr userDrawn="1"/>
        </p:nvGrpSpPr>
        <p:grpSpPr>
          <a:xfrm>
            <a:off x="4643438" y="4952609"/>
            <a:ext cx="1620202" cy="1040204"/>
            <a:chOff x="0" y="2162"/>
            <a:chExt cx="1620202" cy="1040204"/>
          </a:xfrm>
        </p:grpSpPr>
        <p:sp>
          <p:nvSpPr>
            <p:cNvPr id="15" name="Rounded Rectangle 14"/>
            <p:cNvSpPr/>
            <p:nvPr userDrawn="1"/>
          </p:nvSpPr>
          <p:spPr>
            <a:xfrm>
              <a:off x="0" y="2162"/>
              <a:ext cx="1620202" cy="1040204"/>
            </a:xfrm>
            <a:prstGeom prst="rect">
              <a:avLst/>
            </a:prstGeom>
            <a:gradFill flip="none" rotWithShape="1">
              <a:gsLst>
                <a:gs pos="100000">
                  <a:schemeClr val="tx2">
                    <a:lumMod val="50000"/>
                  </a:schemeClr>
                </a:gs>
                <a:gs pos="50000">
                  <a:schemeClr val="tx2">
                    <a:lumMod val="75000"/>
                  </a:schemeClr>
                </a:gs>
                <a:gs pos="0">
                  <a:schemeClr val="tx2"/>
                </a:gs>
              </a:gsLst>
              <a:lin ang="162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ounded Rectangle 4"/>
            <p:cNvSpPr/>
            <p:nvPr userDrawn="1"/>
          </p:nvSpPr>
          <p:spPr>
            <a:xfrm>
              <a:off x="50779" y="52941"/>
              <a:ext cx="1518644" cy="938646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spcFirstLastPara="0" vert="horz" wrap="square" lIns="60960" tIns="30480" rIns="60960" bIns="3048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1600" kern="1200" dirty="0">
                <a:latin typeface="Calibri" panose="020F0502020204030204" pitchFamily="34" charset="0"/>
              </a:endParaRPr>
            </a:p>
          </p:txBody>
        </p:sp>
      </p:grpSp>
      <p:sp>
        <p:nvSpPr>
          <p:cNvPr id="18" name="Picture Placeholder 17"/>
          <p:cNvSpPr>
            <a:spLocks noGrp="1"/>
          </p:cNvSpPr>
          <p:nvPr>
            <p:ph type="pic" sz="quarter" idx="12"/>
          </p:nvPr>
        </p:nvSpPr>
        <p:spPr>
          <a:xfrm>
            <a:off x="282575" y="1376363"/>
            <a:ext cx="4217987" cy="4608000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en-GB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3"/>
          </p:nvPr>
        </p:nvSpPr>
        <p:spPr>
          <a:xfrm>
            <a:off x="6293225" y="1549400"/>
            <a:ext cx="2569788" cy="688975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23"/>
          <p:cNvSpPr>
            <a:spLocks noGrp="1"/>
          </p:cNvSpPr>
          <p:nvPr>
            <p:ph type="body" sz="quarter" idx="14"/>
          </p:nvPr>
        </p:nvSpPr>
        <p:spPr>
          <a:xfrm>
            <a:off x="6293224" y="2732741"/>
            <a:ext cx="2569789" cy="688975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Text Placeholder 23"/>
          <p:cNvSpPr>
            <a:spLocks noGrp="1"/>
          </p:cNvSpPr>
          <p:nvPr>
            <p:ph type="body" sz="quarter" idx="15"/>
          </p:nvPr>
        </p:nvSpPr>
        <p:spPr>
          <a:xfrm>
            <a:off x="6293225" y="3947234"/>
            <a:ext cx="2569788" cy="688975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7" name="Text Placeholder 23"/>
          <p:cNvSpPr>
            <a:spLocks noGrp="1"/>
          </p:cNvSpPr>
          <p:nvPr>
            <p:ph type="body" sz="quarter" idx="16"/>
          </p:nvPr>
        </p:nvSpPr>
        <p:spPr>
          <a:xfrm>
            <a:off x="6293224" y="5119817"/>
            <a:ext cx="2569789" cy="688975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282575" y="310551"/>
            <a:ext cx="8580438" cy="690492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buNone/>
              <a:defRPr sz="3600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GB" dirty="0" smtClean="0"/>
              <a:t>Click to edit Master title style</a:t>
            </a:r>
            <a:endParaRPr lang="en-US" dirty="0" smtClean="0"/>
          </a:p>
        </p:txBody>
      </p:sp>
      <p:sp>
        <p:nvSpPr>
          <p:cNvPr id="2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4862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6D6F71"/>
                </a:solidFill>
                <a:latin typeface="Calibri" panose="020F0502020204030204" pitchFamily="34" charset="0"/>
              </a:defRPr>
            </a:lvl1pPr>
          </a:lstStyle>
          <a:p>
            <a:fld id="{79625F87-44A5-4BCE-BECC-3F62853E43A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934671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3"/>
          <p:cNvSpPr>
            <a:spLocks noGrp="1"/>
          </p:cNvSpPr>
          <p:nvPr>
            <p:ph type="body" sz="quarter" idx="13"/>
          </p:nvPr>
        </p:nvSpPr>
        <p:spPr>
          <a:xfrm>
            <a:off x="282576" y="1549400"/>
            <a:ext cx="2510548" cy="688975"/>
          </a:xfrm>
          <a:solidFill>
            <a:schemeClr val="bg2">
              <a:lumMod val="60000"/>
              <a:lumOff val="40000"/>
            </a:schemeClr>
          </a:solidFill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23"/>
          <p:cNvSpPr>
            <a:spLocks noGrp="1"/>
          </p:cNvSpPr>
          <p:nvPr>
            <p:ph type="body" sz="quarter" idx="14"/>
          </p:nvPr>
        </p:nvSpPr>
        <p:spPr>
          <a:xfrm>
            <a:off x="281612" y="2732741"/>
            <a:ext cx="2511511" cy="688975"/>
          </a:xfrm>
          <a:solidFill>
            <a:schemeClr val="bg2">
              <a:lumMod val="60000"/>
              <a:lumOff val="40000"/>
            </a:schemeClr>
          </a:solidFill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Text Placeholder 23"/>
          <p:cNvSpPr>
            <a:spLocks noGrp="1"/>
          </p:cNvSpPr>
          <p:nvPr>
            <p:ph type="body" sz="quarter" idx="15"/>
          </p:nvPr>
        </p:nvSpPr>
        <p:spPr>
          <a:xfrm>
            <a:off x="281256" y="3947234"/>
            <a:ext cx="2511867" cy="688975"/>
          </a:xfrm>
          <a:solidFill>
            <a:schemeClr val="bg2">
              <a:lumMod val="60000"/>
              <a:lumOff val="40000"/>
            </a:schemeClr>
          </a:solidFill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7" name="Text Placeholder 23"/>
          <p:cNvSpPr>
            <a:spLocks noGrp="1"/>
          </p:cNvSpPr>
          <p:nvPr>
            <p:ph type="body" sz="quarter" idx="16"/>
          </p:nvPr>
        </p:nvSpPr>
        <p:spPr>
          <a:xfrm>
            <a:off x="282576" y="5119817"/>
            <a:ext cx="2510548" cy="688975"/>
          </a:xfrm>
          <a:solidFill>
            <a:schemeClr val="bg2">
              <a:lumMod val="60000"/>
              <a:lumOff val="40000"/>
            </a:schemeClr>
          </a:solidFill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2"/>
          </p:nvPr>
        </p:nvSpPr>
        <p:spPr>
          <a:xfrm>
            <a:off x="4533901" y="1376363"/>
            <a:ext cx="4329112" cy="4608000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en-GB"/>
          </a:p>
        </p:txBody>
      </p:sp>
      <p:grpSp>
        <p:nvGrpSpPr>
          <p:cNvPr id="5" name="Group 4"/>
          <p:cNvGrpSpPr/>
          <p:nvPr userDrawn="1"/>
        </p:nvGrpSpPr>
        <p:grpSpPr>
          <a:xfrm>
            <a:off x="2793123" y="1376363"/>
            <a:ext cx="1620202" cy="1040204"/>
            <a:chOff x="0" y="2162"/>
            <a:chExt cx="1620202" cy="1040204"/>
          </a:xfrm>
        </p:grpSpPr>
        <p:sp>
          <p:nvSpPr>
            <p:cNvPr id="6" name="Rounded Rectangle 5"/>
            <p:cNvSpPr/>
            <p:nvPr userDrawn="1"/>
          </p:nvSpPr>
          <p:spPr>
            <a:xfrm>
              <a:off x="0" y="2162"/>
              <a:ext cx="1620202" cy="1040204"/>
            </a:xfrm>
            <a:prstGeom prst="rect">
              <a:avLst/>
            </a:prstGeom>
            <a:gradFill flip="none" rotWithShape="1">
              <a:gsLst>
                <a:gs pos="100000">
                  <a:schemeClr val="tx2">
                    <a:lumMod val="50000"/>
                  </a:schemeClr>
                </a:gs>
                <a:gs pos="50000">
                  <a:schemeClr val="tx2">
                    <a:lumMod val="75000"/>
                  </a:schemeClr>
                </a:gs>
                <a:gs pos="0">
                  <a:schemeClr val="tx2"/>
                </a:gs>
              </a:gsLst>
              <a:lin ang="162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ounded Rectangle 4"/>
            <p:cNvSpPr/>
            <p:nvPr userDrawn="1"/>
          </p:nvSpPr>
          <p:spPr>
            <a:xfrm>
              <a:off x="50779" y="52941"/>
              <a:ext cx="1518644" cy="938646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spcFirstLastPara="0" vert="horz" wrap="square" lIns="60960" tIns="30480" rIns="60960" bIns="3048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1600" kern="12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8" name="Group 7"/>
          <p:cNvGrpSpPr/>
          <p:nvPr userDrawn="1"/>
        </p:nvGrpSpPr>
        <p:grpSpPr>
          <a:xfrm>
            <a:off x="2793123" y="2568445"/>
            <a:ext cx="1620202" cy="1040204"/>
            <a:chOff x="0" y="2162"/>
            <a:chExt cx="1620202" cy="1040204"/>
          </a:xfrm>
        </p:grpSpPr>
        <p:sp>
          <p:nvSpPr>
            <p:cNvPr id="9" name="Rounded Rectangle 8"/>
            <p:cNvSpPr/>
            <p:nvPr userDrawn="1"/>
          </p:nvSpPr>
          <p:spPr>
            <a:xfrm>
              <a:off x="0" y="2162"/>
              <a:ext cx="1620202" cy="1040204"/>
            </a:xfrm>
            <a:prstGeom prst="rect">
              <a:avLst/>
            </a:prstGeom>
            <a:gradFill flip="none" rotWithShape="1">
              <a:gsLst>
                <a:gs pos="100000">
                  <a:schemeClr val="tx2">
                    <a:lumMod val="50000"/>
                  </a:schemeClr>
                </a:gs>
                <a:gs pos="50000">
                  <a:schemeClr val="tx2">
                    <a:lumMod val="75000"/>
                  </a:schemeClr>
                </a:gs>
                <a:gs pos="0">
                  <a:schemeClr val="tx2"/>
                </a:gs>
              </a:gsLst>
              <a:lin ang="162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ounded Rectangle 4"/>
            <p:cNvSpPr/>
            <p:nvPr userDrawn="1"/>
          </p:nvSpPr>
          <p:spPr>
            <a:xfrm>
              <a:off x="50779" y="52941"/>
              <a:ext cx="1518644" cy="938646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spcFirstLastPara="0" vert="horz" wrap="square" lIns="60960" tIns="30480" rIns="60960" bIns="3048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1600" kern="12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2793123" y="3760527"/>
            <a:ext cx="1620202" cy="1040204"/>
            <a:chOff x="0" y="2162"/>
            <a:chExt cx="1620202" cy="1040204"/>
          </a:xfrm>
        </p:grpSpPr>
        <p:sp>
          <p:nvSpPr>
            <p:cNvPr id="12" name="Rounded Rectangle 11"/>
            <p:cNvSpPr/>
            <p:nvPr userDrawn="1"/>
          </p:nvSpPr>
          <p:spPr>
            <a:xfrm>
              <a:off x="0" y="2162"/>
              <a:ext cx="1620202" cy="1040204"/>
            </a:xfrm>
            <a:prstGeom prst="rect">
              <a:avLst/>
            </a:prstGeom>
            <a:gradFill flip="none" rotWithShape="1">
              <a:gsLst>
                <a:gs pos="100000">
                  <a:schemeClr val="tx2">
                    <a:lumMod val="50000"/>
                  </a:schemeClr>
                </a:gs>
                <a:gs pos="50000">
                  <a:schemeClr val="tx2">
                    <a:lumMod val="75000"/>
                  </a:schemeClr>
                </a:gs>
                <a:gs pos="0">
                  <a:schemeClr val="tx2"/>
                </a:gs>
              </a:gsLst>
              <a:lin ang="162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ounded Rectangle 4"/>
            <p:cNvSpPr/>
            <p:nvPr userDrawn="1"/>
          </p:nvSpPr>
          <p:spPr>
            <a:xfrm>
              <a:off x="50779" y="52941"/>
              <a:ext cx="1518644" cy="938646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spcFirstLastPara="0" vert="horz" wrap="square" lIns="60960" tIns="30480" rIns="60960" bIns="3048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1600" kern="12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4" name="Group 13"/>
          <p:cNvGrpSpPr/>
          <p:nvPr userDrawn="1"/>
        </p:nvGrpSpPr>
        <p:grpSpPr>
          <a:xfrm>
            <a:off x="2793123" y="4952609"/>
            <a:ext cx="1620202" cy="1040204"/>
            <a:chOff x="0" y="2162"/>
            <a:chExt cx="1620202" cy="1040204"/>
          </a:xfrm>
        </p:grpSpPr>
        <p:sp>
          <p:nvSpPr>
            <p:cNvPr id="15" name="Rounded Rectangle 14"/>
            <p:cNvSpPr/>
            <p:nvPr userDrawn="1"/>
          </p:nvSpPr>
          <p:spPr>
            <a:xfrm>
              <a:off x="0" y="2162"/>
              <a:ext cx="1620202" cy="1040204"/>
            </a:xfrm>
            <a:prstGeom prst="rect">
              <a:avLst/>
            </a:prstGeom>
            <a:gradFill flip="none" rotWithShape="1">
              <a:gsLst>
                <a:gs pos="100000">
                  <a:schemeClr val="tx2">
                    <a:lumMod val="50000"/>
                  </a:schemeClr>
                </a:gs>
                <a:gs pos="50000">
                  <a:schemeClr val="tx2">
                    <a:lumMod val="75000"/>
                  </a:schemeClr>
                </a:gs>
                <a:gs pos="0">
                  <a:schemeClr val="tx2"/>
                </a:gs>
              </a:gsLst>
              <a:lin ang="162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ounded Rectangle 4"/>
            <p:cNvSpPr/>
            <p:nvPr userDrawn="1"/>
          </p:nvSpPr>
          <p:spPr>
            <a:xfrm>
              <a:off x="50779" y="52941"/>
              <a:ext cx="1518644" cy="938646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spcFirstLastPara="0" vert="horz" wrap="square" lIns="60960" tIns="30480" rIns="60960" bIns="3048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1600" kern="1200" dirty="0">
                <a:latin typeface="Calibri" panose="020F0502020204030204" pitchFamily="34" charset="0"/>
              </a:endParaRPr>
            </a:p>
          </p:txBody>
        </p:sp>
      </p:grpSp>
      <p:sp>
        <p:nvSpPr>
          <p:cNvPr id="23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282575" y="310551"/>
            <a:ext cx="8580438" cy="690492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buNone/>
              <a:defRPr sz="3600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GB" dirty="0" smtClean="0"/>
              <a:t>Click to edit Master title style</a:t>
            </a:r>
            <a:endParaRPr lang="en-US" dirty="0" smtClean="0"/>
          </a:p>
        </p:txBody>
      </p:sp>
      <p:sp>
        <p:nvSpPr>
          <p:cNvPr id="2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4862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6D6F71"/>
                </a:solidFill>
                <a:latin typeface="Calibri" panose="020F0502020204030204" pitchFamily="34" charset="0"/>
              </a:defRPr>
            </a:lvl1pPr>
          </a:lstStyle>
          <a:p>
            <a:fld id="{79625F87-44A5-4BCE-BECC-3F62853E43A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995706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Full text Subtitle Question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-1587" y="162352"/>
            <a:ext cx="9144000" cy="6695648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 lang="en-GB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280988" y="5280025"/>
            <a:ext cx="8580438" cy="738188"/>
          </a:xfrm>
        </p:spPr>
        <p:txBody>
          <a:bodyPr tIns="36000" anchor="t" anchorCtr="0">
            <a:normAutofit/>
          </a:bodyPr>
          <a:lstStyle>
            <a:lvl1pPr marL="0" indent="0">
              <a:buNone/>
              <a:defRPr sz="2800" b="0" baseline="0">
                <a:solidFill>
                  <a:srgbClr val="595959"/>
                </a:solidFill>
              </a:defRPr>
            </a:lvl1pPr>
          </a:lstStyle>
          <a:p>
            <a:pPr lvl="0"/>
            <a:r>
              <a:rPr lang="en-US" dirty="0" smtClean="0"/>
              <a:t>Insert Subtitle Text Here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280194" y="3921918"/>
            <a:ext cx="8580438" cy="1307305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buNone/>
              <a:defRPr sz="3600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GB" dirty="0" smtClean="0"/>
              <a:t>Click to edit Master title style</a:t>
            </a:r>
            <a:endParaRPr lang="en-US" dirty="0" smtClean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9144000" cy="1623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 err="1" smtClean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63501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Full text Subtitle Question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0" y="162352"/>
            <a:ext cx="9144000" cy="6695648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 lang="en-GB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282574" y="3407429"/>
            <a:ext cx="8580439" cy="792062"/>
          </a:xfrm>
        </p:spPr>
        <p:txBody>
          <a:bodyPr tIns="36000" anchor="t" anchorCtr="0">
            <a:normAutofit/>
          </a:bodyPr>
          <a:lstStyle>
            <a:lvl1pPr marL="0" indent="0">
              <a:buNone/>
              <a:defRPr sz="2800" b="0" baseline="0">
                <a:solidFill>
                  <a:srgbClr val="595959"/>
                </a:solidFill>
              </a:defRPr>
            </a:lvl1pPr>
          </a:lstStyle>
          <a:p>
            <a:pPr lvl="0"/>
            <a:r>
              <a:rPr lang="en-US" dirty="0" smtClean="0"/>
              <a:t>Insert Subtitle Text Here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280194" y="2023924"/>
            <a:ext cx="8580438" cy="1307305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buNone/>
              <a:defRPr sz="3600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GB" dirty="0" smtClean="0"/>
              <a:t>Click to edit Master title style</a:t>
            </a:r>
            <a:endParaRPr lang="en-US" dirty="0" smtClean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9144000" cy="1623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 err="1" smtClean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8643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Full text Subtitle Question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0" y="162352"/>
            <a:ext cx="9144000" cy="3771474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 lang="en-GB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282575" y="5356226"/>
            <a:ext cx="8580438" cy="636587"/>
          </a:xfrm>
        </p:spPr>
        <p:txBody>
          <a:bodyPr tIns="36000" anchor="t" anchorCtr="0">
            <a:normAutofit/>
          </a:bodyPr>
          <a:lstStyle>
            <a:lvl1pPr marL="0" indent="0" algn="l">
              <a:buNone/>
              <a:defRPr sz="2800" b="0" baseline="0">
                <a:solidFill>
                  <a:srgbClr val="595959"/>
                </a:solidFill>
              </a:defRPr>
            </a:lvl1pPr>
          </a:lstStyle>
          <a:p>
            <a:pPr lvl="0"/>
            <a:r>
              <a:rPr lang="en-US" dirty="0" smtClean="0"/>
              <a:t>Insert Subtitle Text Here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280194" y="3921920"/>
            <a:ext cx="8580438" cy="1307305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buNone/>
              <a:defRPr sz="3600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GB" dirty="0" smtClean="0"/>
              <a:t>Click to edit Master title style</a:t>
            </a:r>
            <a:endParaRPr lang="en-US" dirty="0" smtClean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9144000" cy="1623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 err="1" smtClean="0">
              <a:latin typeface="Calibri" panose="020F0502020204030204" pitchFamily="34" charset="0"/>
            </a:endParaRPr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4862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6D6F71"/>
                </a:solidFill>
                <a:latin typeface="Calibri" panose="020F0502020204030204" pitchFamily="34" charset="0"/>
              </a:defRPr>
            </a:lvl1pPr>
          </a:lstStyle>
          <a:p>
            <a:fld id="{79625F87-44A5-4BCE-BECC-3F62853E43A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091100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text Subtitle Question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282575" y="1682214"/>
            <a:ext cx="8580438" cy="413286"/>
          </a:xfrm>
        </p:spPr>
        <p:txBody>
          <a:bodyPr anchor="t">
            <a:normAutofit/>
          </a:bodyPr>
          <a:lstStyle>
            <a:lvl1pPr marL="0" indent="0">
              <a:buNone/>
              <a:defRPr sz="2000" i="1">
                <a:solidFill>
                  <a:srgbClr val="595959"/>
                </a:solidFill>
              </a:defRPr>
            </a:lvl1pPr>
          </a:lstStyle>
          <a:p>
            <a:pPr lvl="0"/>
            <a:r>
              <a:rPr lang="en-US" dirty="0" smtClean="0"/>
              <a:t>Question Text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282575" y="1065905"/>
            <a:ext cx="8580438" cy="533100"/>
          </a:xfrm>
        </p:spPr>
        <p:txBody>
          <a:bodyPr tIns="3600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2400" b="0" baseline="0">
                <a:solidFill>
                  <a:srgbClr val="595959"/>
                </a:solidFill>
              </a:defRPr>
            </a:lvl1pPr>
          </a:lstStyle>
          <a:p>
            <a:pPr lvl="0"/>
            <a:r>
              <a:rPr lang="en-US" dirty="0" smtClean="0"/>
              <a:t>Insert Subtitle Text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23"/>
          </p:nvPr>
        </p:nvSpPr>
        <p:spPr>
          <a:xfrm>
            <a:off x="282575" y="2149958"/>
            <a:ext cx="8580438" cy="3476141"/>
          </a:xfrm>
        </p:spPr>
        <p:txBody>
          <a:bodyPr>
            <a:normAutofit/>
          </a:bodyPr>
          <a:lstStyle>
            <a:lvl1pPr>
              <a:defRPr sz="2800">
                <a:solidFill>
                  <a:srgbClr val="595959"/>
                </a:solidFill>
              </a:defRPr>
            </a:lvl1pPr>
            <a:lvl2pPr>
              <a:defRPr sz="24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10" name="Content Placeholder 4"/>
          <p:cNvSpPr>
            <a:spLocks noGrp="1"/>
          </p:cNvSpPr>
          <p:nvPr>
            <p:ph sz="quarter" idx="15" hasCustomPrompt="1"/>
          </p:nvPr>
        </p:nvSpPr>
        <p:spPr>
          <a:xfrm>
            <a:off x="282426" y="5699126"/>
            <a:ext cx="8571212" cy="319087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rgbClr val="595959"/>
                </a:solidFill>
              </a:defRPr>
            </a:lvl1pPr>
          </a:lstStyle>
          <a:p>
            <a:pPr lvl="0"/>
            <a:r>
              <a:rPr lang="en-GB" dirty="0" smtClean="0"/>
              <a:t>Click to add text</a:t>
            </a:r>
            <a:endParaRPr lang="en-GB" dirty="0"/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282575" y="310551"/>
            <a:ext cx="8580438" cy="690492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buNone/>
              <a:defRPr sz="3600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GB" dirty="0" smtClean="0"/>
              <a:t>Click to edit Master title style</a:t>
            </a:r>
            <a:endParaRPr lang="en-US" dirty="0" smtClean="0"/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4862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6D6F71"/>
                </a:solidFill>
                <a:latin typeface="Calibri" panose="020F0502020204030204" pitchFamily="34" charset="0"/>
              </a:defRPr>
            </a:lvl1pPr>
          </a:lstStyle>
          <a:p>
            <a:fld id="{79625F87-44A5-4BCE-BECC-3F62853E43A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6819993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ull text Subtitle Question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282575" y="1051263"/>
            <a:ext cx="8580438" cy="523537"/>
          </a:xfrm>
        </p:spPr>
        <p:txBody>
          <a:bodyPr tIns="3600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2400" b="0" baseline="0">
                <a:solidFill>
                  <a:srgbClr val="595959"/>
                </a:solidFill>
              </a:defRPr>
            </a:lvl1pPr>
          </a:lstStyle>
          <a:p>
            <a:pPr lvl="0"/>
            <a:r>
              <a:rPr lang="en-US" dirty="0" smtClean="0"/>
              <a:t>Insert Subtitle Text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23"/>
          </p:nvPr>
        </p:nvSpPr>
        <p:spPr>
          <a:xfrm>
            <a:off x="4574462" y="1624013"/>
            <a:ext cx="4288551" cy="4000500"/>
          </a:xfr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  <a:lvl2pPr>
              <a:defRPr>
                <a:solidFill>
                  <a:srgbClr val="595959"/>
                </a:solidFill>
              </a:defRPr>
            </a:lvl2pPr>
            <a:lvl3pPr>
              <a:defRPr>
                <a:solidFill>
                  <a:srgbClr val="595959"/>
                </a:solidFill>
              </a:defRPr>
            </a:lvl3pPr>
            <a:lvl4pPr>
              <a:defRPr>
                <a:solidFill>
                  <a:srgbClr val="595959"/>
                </a:solidFill>
              </a:defRPr>
            </a:lvl4pPr>
            <a:lvl5pPr>
              <a:defRPr>
                <a:solidFill>
                  <a:srgbClr val="595959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282575" y="1624013"/>
            <a:ext cx="4074331" cy="400050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GB" dirty="0"/>
          </a:p>
        </p:txBody>
      </p:sp>
      <p:sp>
        <p:nvSpPr>
          <p:cNvPr id="11" name="Content Placeholder 4"/>
          <p:cNvSpPr>
            <a:spLocks noGrp="1"/>
          </p:cNvSpPr>
          <p:nvPr>
            <p:ph sz="quarter" idx="15" hasCustomPrompt="1"/>
          </p:nvPr>
        </p:nvSpPr>
        <p:spPr>
          <a:xfrm>
            <a:off x="282575" y="5700713"/>
            <a:ext cx="8571063" cy="319087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rgbClr val="595959"/>
                </a:solidFill>
              </a:defRPr>
            </a:lvl1pPr>
          </a:lstStyle>
          <a:p>
            <a:pPr lvl="0"/>
            <a:r>
              <a:rPr lang="en-GB" dirty="0" smtClean="0"/>
              <a:t>Click to add text</a:t>
            </a:r>
            <a:endParaRPr lang="en-GB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282575" y="310551"/>
            <a:ext cx="8580438" cy="690492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buNone/>
              <a:defRPr sz="3600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GB" dirty="0" smtClean="0"/>
              <a:t>Click to edit Master title style</a:t>
            </a:r>
            <a:endParaRPr lang="en-US" dirty="0" smtClean="0"/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4862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6D6F71"/>
                </a:solidFill>
                <a:latin typeface="Calibri" panose="020F0502020204030204" pitchFamily="34" charset="0"/>
              </a:defRPr>
            </a:lvl1pPr>
          </a:lstStyle>
          <a:p>
            <a:fld id="{79625F87-44A5-4BCE-BECC-3F62853E43A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3563880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Full text Subtitle Question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282575" y="1592266"/>
            <a:ext cx="6412300" cy="323850"/>
          </a:xfrm>
        </p:spPr>
        <p:txBody>
          <a:bodyPr anchor="t">
            <a:normAutofit/>
          </a:bodyPr>
          <a:lstStyle>
            <a:lvl1pPr marL="0" indent="0">
              <a:buNone/>
              <a:defRPr sz="2000" i="1">
                <a:solidFill>
                  <a:srgbClr val="595959"/>
                </a:solidFill>
              </a:defRPr>
            </a:lvl1pPr>
          </a:lstStyle>
          <a:p>
            <a:pPr lvl="0"/>
            <a:r>
              <a:rPr lang="en-US" dirty="0" smtClean="0"/>
              <a:t>Question Text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282575" y="1073673"/>
            <a:ext cx="8580438" cy="437627"/>
          </a:xfrm>
        </p:spPr>
        <p:txBody>
          <a:bodyPr tIns="3600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2400" b="0" baseline="0">
                <a:solidFill>
                  <a:srgbClr val="595959"/>
                </a:solidFill>
              </a:defRPr>
            </a:lvl1pPr>
          </a:lstStyle>
          <a:p>
            <a:pPr lvl="0"/>
            <a:r>
              <a:rPr lang="en-US" dirty="0" smtClean="0"/>
              <a:t>Insert Subtitle Text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23"/>
          </p:nvPr>
        </p:nvSpPr>
        <p:spPr>
          <a:xfrm>
            <a:off x="282575" y="1989734"/>
            <a:ext cx="6412300" cy="3634779"/>
          </a:xfr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  <a:lvl2pPr>
              <a:defRPr>
                <a:solidFill>
                  <a:srgbClr val="595959"/>
                </a:solidFill>
              </a:defRPr>
            </a:lvl2pPr>
            <a:lvl3pPr>
              <a:defRPr>
                <a:solidFill>
                  <a:srgbClr val="595959"/>
                </a:solidFill>
              </a:defRPr>
            </a:lvl3pPr>
            <a:lvl4pPr>
              <a:defRPr>
                <a:solidFill>
                  <a:srgbClr val="595959"/>
                </a:solidFill>
              </a:defRPr>
            </a:lvl4pPr>
            <a:lvl5pPr>
              <a:defRPr>
                <a:solidFill>
                  <a:srgbClr val="595959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6767512" y="1590846"/>
            <a:ext cx="2376488" cy="4033667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GB" dirty="0"/>
          </a:p>
        </p:txBody>
      </p:sp>
      <p:sp>
        <p:nvSpPr>
          <p:cNvPr id="12" name="Content Placeholder 4"/>
          <p:cNvSpPr>
            <a:spLocks noGrp="1"/>
          </p:cNvSpPr>
          <p:nvPr>
            <p:ph sz="quarter" idx="15" hasCustomPrompt="1"/>
          </p:nvPr>
        </p:nvSpPr>
        <p:spPr>
          <a:xfrm>
            <a:off x="282576" y="5700713"/>
            <a:ext cx="8580438" cy="319087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rgbClr val="595959"/>
                </a:solidFill>
              </a:defRPr>
            </a:lvl1pPr>
          </a:lstStyle>
          <a:p>
            <a:pPr lvl="0"/>
            <a:r>
              <a:rPr lang="en-GB" dirty="0" smtClean="0"/>
              <a:t>Click to add text</a:t>
            </a:r>
            <a:endParaRPr lang="en-GB" dirty="0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282575" y="310551"/>
            <a:ext cx="8580438" cy="690492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buNone/>
              <a:defRPr sz="3600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GB" dirty="0" smtClean="0"/>
              <a:t>Click to edit Master title style</a:t>
            </a:r>
            <a:endParaRPr lang="en-US" dirty="0" smtClean="0"/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4862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6D6F71"/>
                </a:solidFill>
                <a:latin typeface="Calibri" panose="020F0502020204030204" pitchFamily="34" charset="0"/>
              </a:defRPr>
            </a:lvl1pPr>
          </a:lstStyle>
          <a:p>
            <a:fld id="{79625F87-44A5-4BCE-BECC-3F62853E43A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710883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chart - Com box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282575" y="1176153"/>
            <a:ext cx="8580438" cy="367524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r>
              <a:rPr lang="en-US" noProof="0" smtClean="0"/>
              <a:t>Click icon to add chart</a:t>
            </a:r>
            <a:endParaRPr lang="en-GB" noProof="0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4" hasCustomPrompt="1"/>
          </p:nvPr>
        </p:nvSpPr>
        <p:spPr>
          <a:xfrm>
            <a:off x="282450" y="4927390"/>
            <a:ext cx="8572775" cy="69871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none"/>
        </p:style>
        <p:txBody>
          <a:bodyPr numCol="1" spcCol="180000">
            <a:normAutofit/>
          </a:bodyPr>
          <a:lstStyle>
            <a:lvl1pPr marL="0" indent="0">
              <a:buNone/>
              <a:defRPr sz="2400" baseline="0">
                <a:solidFill>
                  <a:srgbClr val="595959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GB" noProof="0" dirty="0" smtClean="0"/>
              <a:t>Text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 hasCustomPrompt="1"/>
          </p:nvPr>
        </p:nvSpPr>
        <p:spPr>
          <a:xfrm>
            <a:off x="282426" y="5700713"/>
            <a:ext cx="8571212" cy="319087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rgbClr val="595959"/>
                </a:solidFill>
              </a:defRPr>
            </a:lvl1pPr>
          </a:lstStyle>
          <a:p>
            <a:pPr lvl="0"/>
            <a:r>
              <a:rPr lang="en-GB" dirty="0" smtClean="0"/>
              <a:t>Click to add text</a:t>
            </a:r>
            <a:endParaRPr lang="en-GB" dirty="0"/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282575" y="310551"/>
            <a:ext cx="8580438" cy="690492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buNone/>
              <a:defRPr sz="3600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GB" dirty="0" smtClean="0"/>
              <a:t>Click to edit Master title style</a:t>
            </a:r>
            <a:endParaRPr lang="en-US" dirty="0" smtClean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4862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6D6F71"/>
                </a:solidFill>
                <a:latin typeface="Calibri" panose="020F0502020204030204" pitchFamily="34" charset="0"/>
              </a:defRPr>
            </a:lvl1pPr>
          </a:lstStyle>
          <a:p>
            <a:fld id="{79625F87-44A5-4BCE-BECC-3F62853E43A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54989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Full chart - Com box bottom_subtitle_question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282575" y="2181395"/>
            <a:ext cx="8580560" cy="265730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r>
              <a:rPr lang="en-US" noProof="0" smtClean="0"/>
              <a:t>Click icon to add chart</a:t>
            </a:r>
            <a:endParaRPr lang="en-GB" noProof="0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4" hasCustomPrompt="1"/>
          </p:nvPr>
        </p:nvSpPr>
        <p:spPr>
          <a:xfrm>
            <a:off x="282575" y="4902016"/>
            <a:ext cx="8580560" cy="722498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none"/>
        </p:style>
        <p:txBody>
          <a:bodyPr numCol="1" spcCol="180000">
            <a:normAutofit/>
          </a:bodyPr>
          <a:lstStyle>
            <a:lvl1pPr marL="0" indent="0">
              <a:buNone/>
              <a:defRPr sz="2400" baseline="0">
                <a:solidFill>
                  <a:srgbClr val="595959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GB" noProof="0" dirty="0" smtClean="0"/>
              <a:t>Text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274875" y="1785229"/>
            <a:ext cx="8588137" cy="323850"/>
          </a:xfrm>
        </p:spPr>
        <p:txBody>
          <a:bodyPr anchor="t">
            <a:normAutofit/>
          </a:bodyPr>
          <a:lstStyle>
            <a:lvl1pPr marL="0" indent="0">
              <a:buNone/>
              <a:defRPr sz="2000" i="1">
                <a:solidFill>
                  <a:srgbClr val="595959"/>
                </a:solidFill>
              </a:defRPr>
            </a:lvl1pPr>
          </a:lstStyle>
          <a:p>
            <a:pPr lvl="0"/>
            <a:r>
              <a:rPr lang="en-US" dirty="0" smtClean="0"/>
              <a:t>Question Text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281076" y="1063239"/>
            <a:ext cx="8582035" cy="648000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2400" b="0" baseline="0">
                <a:solidFill>
                  <a:srgbClr val="595959"/>
                </a:solidFill>
              </a:defRPr>
            </a:lvl1pPr>
          </a:lstStyle>
          <a:p>
            <a:pPr lvl="0"/>
            <a:r>
              <a:rPr lang="en-US" dirty="0" smtClean="0"/>
              <a:t>Insert Subtitle Text Here</a:t>
            </a:r>
          </a:p>
        </p:txBody>
      </p:sp>
      <p:sp>
        <p:nvSpPr>
          <p:cNvPr id="15" name="Content Placeholder 4"/>
          <p:cNvSpPr>
            <a:spLocks noGrp="1"/>
          </p:cNvSpPr>
          <p:nvPr>
            <p:ph sz="quarter" idx="15" hasCustomPrompt="1"/>
          </p:nvPr>
        </p:nvSpPr>
        <p:spPr>
          <a:xfrm>
            <a:off x="282425" y="5700713"/>
            <a:ext cx="8571333" cy="319087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rgbClr val="595959"/>
                </a:solidFill>
              </a:defRPr>
            </a:lvl1pPr>
          </a:lstStyle>
          <a:p>
            <a:pPr lvl="0"/>
            <a:r>
              <a:rPr lang="en-GB" dirty="0" smtClean="0"/>
              <a:t>Click to add text</a:t>
            </a:r>
            <a:endParaRPr lang="en-GB" dirty="0"/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282575" y="310551"/>
            <a:ext cx="8580438" cy="690492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buNone/>
              <a:defRPr sz="3600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GB" dirty="0" smtClean="0"/>
              <a:t>Click to edit Master title style</a:t>
            </a:r>
            <a:endParaRPr lang="en-US" dirty="0" smtClean="0"/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4862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6D6F71"/>
                </a:solidFill>
                <a:latin typeface="Calibri" panose="020F0502020204030204" pitchFamily="34" charset="0"/>
              </a:defRPr>
            </a:lvl1pPr>
          </a:lstStyle>
          <a:p>
            <a:fld id="{79625F87-44A5-4BCE-BECC-3F62853E43A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989767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chart - Com box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282575" y="1611314"/>
            <a:ext cx="8580438" cy="32273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r>
              <a:rPr lang="en-US" noProof="0" smtClean="0"/>
              <a:t>Click icon to add chart</a:t>
            </a:r>
            <a:endParaRPr lang="en-GB" noProof="0" dirty="0"/>
          </a:p>
        </p:txBody>
      </p:sp>
      <p:sp>
        <p:nvSpPr>
          <p:cNvPr id="9" name="Content Placeholder 11"/>
          <p:cNvSpPr>
            <a:spLocks noGrp="1"/>
          </p:cNvSpPr>
          <p:nvPr>
            <p:ph sz="quarter" idx="18" hasCustomPrompt="1"/>
          </p:nvPr>
        </p:nvSpPr>
        <p:spPr>
          <a:xfrm>
            <a:off x="282575" y="1071733"/>
            <a:ext cx="8580438" cy="477668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none"/>
        </p:style>
        <p:txBody>
          <a:bodyPr numCol="1" spcCol="180000">
            <a:normAutofit/>
          </a:bodyPr>
          <a:lstStyle>
            <a:lvl1pPr>
              <a:spcBef>
                <a:spcPts val="0"/>
              </a:spcBef>
              <a:defRPr sz="2400" baseline="0">
                <a:solidFill>
                  <a:srgbClr val="595959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GB" noProof="0" dirty="0" smtClean="0"/>
              <a:t>Text</a:t>
            </a:r>
          </a:p>
        </p:txBody>
      </p:sp>
      <p:sp>
        <p:nvSpPr>
          <p:cNvPr id="6" name="Content Placeholder 11"/>
          <p:cNvSpPr>
            <a:spLocks noGrp="1"/>
          </p:cNvSpPr>
          <p:nvPr>
            <p:ph sz="quarter" idx="14" hasCustomPrompt="1"/>
          </p:nvPr>
        </p:nvSpPr>
        <p:spPr>
          <a:xfrm>
            <a:off x="282575" y="4914716"/>
            <a:ext cx="8580438" cy="709798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none"/>
        </p:style>
        <p:txBody>
          <a:bodyPr numCol="1" spcCol="180000">
            <a:normAutofit/>
          </a:bodyPr>
          <a:lstStyle>
            <a:lvl1pPr marL="0" indent="0">
              <a:lnSpc>
                <a:spcPct val="100000"/>
              </a:lnSpc>
              <a:buNone/>
              <a:defRPr sz="2400" baseline="0">
                <a:solidFill>
                  <a:srgbClr val="595959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GB" noProof="0" dirty="0" smtClean="0"/>
              <a:t>Text</a:t>
            </a:r>
          </a:p>
        </p:txBody>
      </p:sp>
      <p:sp>
        <p:nvSpPr>
          <p:cNvPr id="13" name="Content Placeholder 4"/>
          <p:cNvSpPr>
            <a:spLocks noGrp="1"/>
          </p:cNvSpPr>
          <p:nvPr>
            <p:ph sz="quarter" idx="15" hasCustomPrompt="1"/>
          </p:nvPr>
        </p:nvSpPr>
        <p:spPr>
          <a:xfrm>
            <a:off x="282426" y="5700713"/>
            <a:ext cx="8571212" cy="319087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rgbClr val="595959"/>
                </a:solidFill>
              </a:defRPr>
            </a:lvl1pPr>
          </a:lstStyle>
          <a:p>
            <a:pPr lvl="0"/>
            <a:r>
              <a:rPr lang="en-GB" dirty="0" smtClean="0"/>
              <a:t>Click to add text</a:t>
            </a:r>
            <a:endParaRPr lang="en-GB" dirty="0"/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282575" y="310551"/>
            <a:ext cx="8580438" cy="690492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buNone/>
              <a:defRPr sz="3600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GB" dirty="0" smtClean="0"/>
              <a:t>Click to edit Master title style</a:t>
            </a:r>
            <a:endParaRPr lang="en-US" dirty="0" smtClean="0"/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4862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6D6F71"/>
                </a:solidFill>
                <a:latin typeface="Calibri" panose="020F0502020204030204" pitchFamily="34" charset="0"/>
              </a:defRPr>
            </a:lvl1pPr>
          </a:lstStyle>
          <a:p>
            <a:fld id="{79625F87-44A5-4BCE-BECC-3F62853E43A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396797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top RH imag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11"/>
          <p:cNvSpPr>
            <a:spLocks noGrp="1"/>
          </p:cNvSpPr>
          <p:nvPr>
            <p:ph sz="quarter" idx="18" hasCustomPrompt="1"/>
          </p:nvPr>
        </p:nvSpPr>
        <p:spPr>
          <a:xfrm>
            <a:off x="282575" y="1086528"/>
            <a:ext cx="8580438" cy="588285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none"/>
        </p:style>
        <p:txBody>
          <a:bodyPr numCol="1" spcCol="180000">
            <a:normAutofit/>
          </a:bodyPr>
          <a:lstStyle>
            <a:lvl1pPr>
              <a:spcBef>
                <a:spcPts val="0"/>
              </a:spcBef>
              <a:defRPr sz="2400" baseline="0">
                <a:solidFill>
                  <a:srgbClr val="595959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GB" noProof="0" dirty="0" smtClean="0"/>
              <a:t>Text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6767513" y="1790700"/>
            <a:ext cx="2376487" cy="3833813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GB" dirty="0"/>
          </a:p>
        </p:txBody>
      </p:sp>
      <p:sp>
        <p:nvSpPr>
          <p:cNvPr id="5" name="Table Placeholder 4"/>
          <p:cNvSpPr>
            <a:spLocks noGrp="1"/>
          </p:cNvSpPr>
          <p:nvPr>
            <p:ph type="tbl" sz="quarter" idx="20"/>
          </p:nvPr>
        </p:nvSpPr>
        <p:spPr>
          <a:xfrm>
            <a:off x="282574" y="1790700"/>
            <a:ext cx="6412301" cy="3833813"/>
          </a:xfr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r>
              <a:rPr lang="en-US" smtClean="0"/>
              <a:t>Click icon to add table</a:t>
            </a:r>
            <a:endParaRPr lang="en-GB"/>
          </a:p>
        </p:txBody>
      </p:sp>
      <p:sp>
        <p:nvSpPr>
          <p:cNvPr id="12" name="Content Placeholder 4"/>
          <p:cNvSpPr>
            <a:spLocks noGrp="1"/>
          </p:cNvSpPr>
          <p:nvPr>
            <p:ph sz="quarter" idx="15" hasCustomPrompt="1"/>
          </p:nvPr>
        </p:nvSpPr>
        <p:spPr>
          <a:xfrm>
            <a:off x="282576" y="5700713"/>
            <a:ext cx="8580438" cy="319087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rgbClr val="595959"/>
                </a:solidFill>
              </a:defRPr>
            </a:lvl1pPr>
          </a:lstStyle>
          <a:p>
            <a:pPr lvl="0"/>
            <a:r>
              <a:rPr lang="en-GB" dirty="0" smtClean="0"/>
              <a:t>Click to add text</a:t>
            </a:r>
            <a:endParaRPr lang="en-GB" dirty="0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282575" y="310551"/>
            <a:ext cx="8580438" cy="690492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buNone/>
              <a:defRPr sz="3600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GB" dirty="0" smtClean="0"/>
              <a:t>Click to edit Master title style</a:t>
            </a:r>
            <a:endParaRPr lang="en-US" dirty="0" smtClean="0"/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4862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6D6F71"/>
                </a:solidFill>
                <a:latin typeface="Calibri" panose="020F0502020204030204" pitchFamily="34" charset="0"/>
              </a:defRPr>
            </a:lvl1pPr>
          </a:lstStyle>
          <a:p>
            <a:fld id="{79625F87-44A5-4BCE-BECC-3F62853E43A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302150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_subtitle_question text_Chart left - Com box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282574" y="2151529"/>
            <a:ext cx="6007165" cy="2737971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595959"/>
                </a:solidFill>
              </a:defRPr>
            </a:lvl1pPr>
          </a:lstStyle>
          <a:p>
            <a:r>
              <a:rPr lang="en-US" noProof="0" smtClean="0"/>
              <a:t>Click icon to add chart</a:t>
            </a:r>
            <a:endParaRPr lang="en-GB" noProof="0" dirty="0"/>
          </a:p>
        </p:txBody>
      </p:sp>
      <p:sp>
        <p:nvSpPr>
          <p:cNvPr id="13" name="Content Placeholder 11"/>
          <p:cNvSpPr>
            <a:spLocks noGrp="1"/>
          </p:cNvSpPr>
          <p:nvPr>
            <p:ph sz="quarter" idx="18" hasCustomPrompt="1"/>
          </p:nvPr>
        </p:nvSpPr>
        <p:spPr>
          <a:xfrm>
            <a:off x="6815138" y="2151529"/>
            <a:ext cx="2047875" cy="2737971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none"/>
        </p:style>
        <p:txBody>
          <a:bodyPr numCol="1" spcCol="180000">
            <a:normAutofit/>
          </a:bodyPr>
          <a:lstStyle>
            <a:lvl1pPr>
              <a:defRPr sz="2400" baseline="0">
                <a:solidFill>
                  <a:srgbClr val="595959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GB" noProof="0" dirty="0" smtClean="0"/>
              <a:t>Text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279606" y="1775519"/>
            <a:ext cx="8583359" cy="323850"/>
          </a:xfrm>
        </p:spPr>
        <p:txBody>
          <a:bodyPr anchor="t">
            <a:normAutofit/>
          </a:bodyPr>
          <a:lstStyle>
            <a:lvl1pPr marL="0" indent="0">
              <a:buNone/>
              <a:defRPr sz="2000" i="1">
                <a:solidFill>
                  <a:srgbClr val="595959"/>
                </a:solidFill>
              </a:defRPr>
            </a:lvl1pPr>
          </a:lstStyle>
          <a:p>
            <a:pPr lvl="0"/>
            <a:r>
              <a:rPr lang="en-US" dirty="0" smtClean="0"/>
              <a:t>Question Text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282575" y="1037839"/>
            <a:ext cx="8580437" cy="683890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2400" b="0" baseline="0">
                <a:solidFill>
                  <a:srgbClr val="595959"/>
                </a:solidFill>
              </a:defRPr>
            </a:lvl1pPr>
          </a:lstStyle>
          <a:p>
            <a:pPr lvl="0"/>
            <a:r>
              <a:rPr lang="en-US" dirty="0" smtClean="0"/>
              <a:t>Insert Subtitle Text Here</a:t>
            </a:r>
          </a:p>
        </p:txBody>
      </p:sp>
      <p:sp>
        <p:nvSpPr>
          <p:cNvPr id="9" name="Content Placeholder 11"/>
          <p:cNvSpPr>
            <a:spLocks noGrp="1"/>
          </p:cNvSpPr>
          <p:nvPr>
            <p:ph sz="quarter" idx="14" hasCustomPrompt="1"/>
          </p:nvPr>
        </p:nvSpPr>
        <p:spPr>
          <a:xfrm>
            <a:off x="282575" y="4945941"/>
            <a:ext cx="8580438" cy="6840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none"/>
        </p:style>
        <p:txBody>
          <a:bodyPr numCol="1" spcCol="180000">
            <a:normAutofit/>
          </a:bodyPr>
          <a:lstStyle>
            <a:lvl1pPr marL="0" indent="0">
              <a:spcBef>
                <a:spcPts val="0"/>
              </a:spcBef>
              <a:buNone/>
              <a:defRPr sz="2400" baseline="0">
                <a:solidFill>
                  <a:srgbClr val="595959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GB" noProof="0" dirty="0" smtClean="0"/>
              <a:t>Text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5" hasCustomPrompt="1"/>
          </p:nvPr>
        </p:nvSpPr>
        <p:spPr>
          <a:xfrm>
            <a:off x="282426" y="5700713"/>
            <a:ext cx="8571212" cy="319087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rgbClr val="595959"/>
                </a:solidFill>
              </a:defRPr>
            </a:lvl1pPr>
          </a:lstStyle>
          <a:p>
            <a:pPr lvl="0"/>
            <a:r>
              <a:rPr lang="en-GB" dirty="0" smtClean="0"/>
              <a:t>Click to add text</a:t>
            </a:r>
            <a:endParaRPr lang="en-GB" dirty="0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282575" y="310551"/>
            <a:ext cx="8580438" cy="690492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buNone/>
              <a:defRPr sz="3600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GB" dirty="0" smtClean="0"/>
              <a:t>Click to edit Master title style</a:t>
            </a:r>
            <a:endParaRPr lang="en-US" dirty="0" smtClean="0"/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4862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6D6F71"/>
                </a:solidFill>
                <a:latin typeface="Calibri" panose="020F0502020204030204" pitchFamily="34" charset="0"/>
              </a:defRPr>
            </a:lvl1pPr>
          </a:lstStyle>
          <a:p>
            <a:fld id="{79625F87-44A5-4BCE-BECC-3F62853E43A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925006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- Chart right w com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4572000" y="1198563"/>
            <a:ext cx="4291014" cy="353853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rgbClr val="595959"/>
                </a:solidFill>
              </a:defRPr>
            </a:lvl1pPr>
          </a:lstStyle>
          <a:p>
            <a:r>
              <a:rPr lang="en-US" noProof="0" smtClean="0"/>
              <a:t>Click icon to add chart</a:t>
            </a:r>
            <a:endParaRPr lang="en-GB" noProof="0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282575" y="1198564"/>
            <a:ext cx="4216300" cy="4425950"/>
          </a:xfrm>
        </p:spPr>
        <p:txBody>
          <a:bodyPr>
            <a:normAutofit/>
          </a:bodyPr>
          <a:lstStyle>
            <a:lvl1pPr>
              <a:defRPr sz="2800">
                <a:solidFill>
                  <a:srgbClr val="595959"/>
                </a:solidFill>
              </a:defRPr>
            </a:lvl1pPr>
            <a:lvl2pPr>
              <a:defRPr sz="24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 dirty="0"/>
          </a:p>
        </p:txBody>
      </p:sp>
      <p:sp>
        <p:nvSpPr>
          <p:cNvPr id="15" name="Content Placeholder 11"/>
          <p:cNvSpPr>
            <a:spLocks noGrp="1"/>
          </p:cNvSpPr>
          <p:nvPr>
            <p:ph sz="quarter" idx="23" hasCustomPrompt="1"/>
          </p:nvPr>
        </p:nvSpPr>
        <p:spPr>
          <a:xfrm>
            <a:off x="4572000" y="4835525"/>
            <a:ext cx="4291014" cy="792163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none"/>
        </p:style>
        <p:txBody>
          <a:bodyPr numCol="1" spcCol="180000">
            <a:normAutofit/>
          </a:bodyPr>
          <a:lstStyle>
            <a:lvl1pPr marL="0" indent="0">
              <a:spcBef>
                <a:spcPts val="0"/>
              </a:spcBef>
              <a:buNone/>
              <a:defRPr sz="2400" baseline="0">
                <a:solidFill>
                  <a:srgbClr val="595959"/>
                </a:soli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GB" noProof="0" dirty="0" smtClean="0"/>
              <a:t>Text</a:t>
            </a:r>
          </a:p>
        </p:txBody>
      </p:sp>
      <p:sp>
        <p:nvSpPr>
          <p:cNvPr id="12" name="Content Placeholder 4"/>
          <p:cNvSpPr>
            <a:spLocks noGrp="1"/>
          </p:cNvSpPr>
          <p:nvPr>
            <p:ph sz="quarter" idx="15" hasCustomPrompt="1"/>
          </p:nvPr>
        </p:nvSpPr>
        <p:spPr>
          <a:xfrm>
            <a:off x="282574" y="5713413"/>
            <a:ext cx="8580439" cy="319087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rgbClr val="595959"/>
                </a:solidFill>
              </a:defRPr>
            </a:lvl1pPr>
          </a:lstStyle>
          <a:p>
            <a:pPr lvl="0"/>
            <a:r>
              <a:rPr lang="en-GB" dirty="0" smtClean="0"/>
              <a:t>Click to add text</a:t>
            </a:r>
            <a:endParaRPr lang="en-GB" dirty="0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282575" y="310551"/>
            <a:ext cx="8580438" cy="690492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buNone/>
              <a:defRPr sz="3600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GB" dirty="0" smtClean="0"/>
              <a:t>Click to edit Master title style</a:t>
            </a:r>
            <a:endParaRPr lang="en-US" dirty="0" smtClean="0"/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4862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6D6F71"/>
                </a:solidFill>
                <a:latin typeface="Calibri" panose="020F0502020204030204" pitchFamily="34" charset="0"/>
              </a:defRPr>
            </a:lvl1pPr>
          </a:lstStyle>
          <a:p>
            <a:fld id="{79625F87-44A5-4BCE-BECC-3F62853E43A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82361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- Two Char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4572000" y="1135063"/>
            <a:ext cx="4291014" cy="186213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rgbClr val="595959"/>
                </a:solidFill>
              </a:defRPr>
            </a:lvl1pPr>
          </a:lstStyle>
          <a:p>
            <a:r>
              <a:rPr lang="en-US" noProof="0" smtClean="0"/>
              <a:t>Click icon to add chart</a:t>
            </a:r>
            <a:endParaRPr lang="en-GB" noProof="0"/>
          </a:p>
        </p:txBody>
      </p:sp>
      <p:sp>
        <p:nvSpPr>
          <p:cNvPr id="10" name="Chart Placeholder 7"/>
          <p:cNvSpPr>
            <a:spLocks noGrp="1"/>
          </p:cNvSpPr>
          <p:nvPr>
            <p:ph type="chart" sz="quarter" idx="19"/>
          </p:nvPr>
        </p:nvSpPr>
        <p:spPr>
          <a:xfrm>
            <a:off x="4572000" y="3088093"/>
            <a:ext cx="4291014" cy="173790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rgbClr val="595959"/>
                </a:solidFill>
              </a:defRPr>
            </a:lvl1pPr>
          </a:lstStyle>
          <a:p>
            <a:r>
              <a:rPr lang="en-US" noProof="0" smtClean="0"/>
              <a:t>Click icon to add chart</a:t>
            </a:r>
            <a:endParaRPr lang="en-GB" noProof="0"/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282575" y="1135063"/>
            <a:ext cx="4216300" cy="3690937"/>
          </a:xfrm>
        </p:spPr>
        <p:txBody>
          <a:bodyPr>
            <a:normAutofit/>
          </a:bodyPr>
          <a:lstStyle>
            <a:lvl1pPr>
              <a:defRPr sz="2800">
                <a:solidFill>
                  <a:srgbClr val="595959"/>
                </a:solidFill>
              </a:defRPr>
            </a:lvl1pPr>
            <a:lvl2pPr>
              <a:defRPr sz="24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 dirty="0"/>
          </a:p>
        </p:txBody>
      </p:sp>
      <p:sp>
        <p:nvSpPr>
          <p:cNvPr id="7" name="Content Placeholder 11"/>
          <p:cNvSpPr>
            <a:spLocks noGrp="1"/>
          </p:cNvSpPr>
          <p:nvPr>
            <p:ph sz="quarter" idx="14" hasCustomPrompt="1"/>
          </p:nvPr>
        </p:nvSpPr>
        <p:spPr>
          <a:xfrm>
            <a:off x="282575" y="4873625"/>
            <a:ext cx="8580438" cy="7560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none"/>
        </p:style>
        <p:txBody>
          <a:bodyPr numCol="1" spcCol="180000">
            <a:normAutofit/>
          </a:bodyPr>
          <a:lstStyle>
            <a:lvl1pPr marL="0" indent="0">
              <a:spcBef>
                <a:spcPts val="0"/>
              </a:spcBef>
              <a:buNone/>
              <a:defRPr sz="2400" baseline="0">
                <a:solidFill>
                  <a:srgbClr val="595959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GB" noProof="0" dirty="0" smtClean="0"/>
              <a:t>Text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5" hasCustomPrompt="1"/>
          </p:nvPr>
        </p:nvSpPr>
        <p:spPr>
          <a:xfrm>
            <a:off x="282574" y="5700713"/>
            <a:ext cx="8580439" cy="319087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rgbClr val="595959"/>
                </a:solidFill>
              </a:defRPr>
            </a:lvl1pPr>
          </a:lstStyle>
          <a:p>
            <a:pPr lvl="0"/>
            <a:r>
              <a:rPr lang="en-GB" dirty="0" smtClean="0"/>
              <a:t>Click to add text</a:t>
            </a:r>
            <a:endParaRPr lang="en-GB" dirty="0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282575" y="310551"/>
            <a:ext cx="8580438" cy="690492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buNone/>
              <a:defRPr sz="3600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GB" dirty="0" smtClean="0"/>
              <a:t>Click to edit Master title style</a:t>
            </a:r>
            <a:endParaRPr lang="en-US" dirty="0" smtClean="0"/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4862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6D6F71"/>
                </a:solidFill>
                <a:latin typeface="Calibri" panose="020F0502020204030204" pitchFamily="34" charset="0"/>
              </a:defRPr>
            </a:lvl1pPr>
          </a:lstStyle>
          <a:p>
            <a:fld id="{79625F87-44A5-4BCE-BECC-3F62853E43A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270164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eft -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282575" y="1084264"/>
            <a:ext cx="4216300" cy="3703636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595959"/>
                </a:solidFill>
              </a:defRPr>
            </a:lvl1pPr>
          </a:lstStyle>
          <a:p>
            <a:r>
              <a:rPr lang="en-US" noProof="0" smtClean="0"/>
              <a:t>Click icon to add chart</a:t>
            </a:r>
            <a:endParaRPr lang="en-GB" noProof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9"/>
          </p:nvPr>
        </p:nvSpPr>
        <p:spPr>
          <a:xfrm>
            <a:off x="4572001" y="1084263"/>
            <a:ext cx="4291012" cy="4540250"/>
          </a:xfrm>
        </p:spPr>
        <p:txBody>
          <a:bodyPr>
            <a:normAutofit/>
          </a:bodyPr>
          <a:lstStyle>
            <a:lvl1pPr>
              <a:defRPr sz="2800">
                <a:solidFill>
                  <a:srgbClr val="595959"/>
                </a:solidFill>
              </a:defRPr>
            </a:lvl1pPr>
            <a:lvl2pPr>
              <a:defRPr sz="24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 dirty="0"/>
          </a:p>
        </p:txBody>
      </p:sp>
      <p:sp>
        <p:nvSpPr>
          <p:cNvPr id="7" name="Content Placeholder 11"/>
          <p:cNvSpPr>
            <a:spLocks noGrp="1"/>
          </p:cNvSpPr>
          <p:nvPr>
            <p:ph sz="quarter" idx="23" hasCustomPrompt="1"/>
          </p:nvPr>
        </p:nvSpPr>
        <p:spPr>
          <a:xfrm>
            <a:off x="282574" y="4838700"/>
            <a:ext cx="4205637" cy="788989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none"/>
        </p:style>
        <p:txBody>
          <a:bodyPr numCol="1" spcCol="180000">
            <a:normAutofit/>
          </a:bodyPr>
          <a:lstStyle>
            <a:lvl1pPr marL="0" indent="0">
              <a:spcBef>
                <a:spcPts val="0"/>
              </a:spcBef>
              <a:buNone/>
              <a:defRPr sz="2400" baseline="0">
                <a:solidFill>
                  <a:srgbClr val="595959"/>
                </a:soli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GB" noProof="0" dirty="0" smtClean="0"/>
              <a:t>Text</a:t>
            </a:r>
          </a:p>
        </p:txBody>
      </p:sp>
      <p:sp>
        <p:nvSpPr>
          <p:cNvPr id="12" name="Content Placeholder 4"/>
          <p:cNvSpPr>
            <a:spLocks noGrp="1"/>
          </p:cNvSpPr>
          <p:nvPr>
            <p:ph sz="quarter" idx="15" hasCustomPrompt="1"/>
          </p:nvPr>
        </p:nvSpPr>
        <p:spPr>
          <a:xfrm>
            <a:off x="282576" y="5700713"/>
            <a:ext cx="8580438" cy="319087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rgbClr val="595959"/>
                </a:solidFill>
              </a:defRPr>
            </a:lvl1pPr>
          </a:lstStyle>
          <a:p>
            <a:pPr lvl="0"/>
            <a:r>
              <a:rPr lang="en-GB" dirty="0" smtClean="0"/>
              <a:t>Click to add text</a:t>
            </a:r>
            <a:endParaRPr lang="en-GB" dirty="0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282575" y="310551"/>
            <a:ext cx="8580438" cy="690492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buNone/>
              <a:defRPr sz="3600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GB" dirty="0" smtClean="0"/>
              <a:t>Click to edit Master title style</a:t>
            </a:r>
            <a:endParaRPr lang="en-US" dirty="0" smtClean="0"/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4862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6D6F71"/>
                </a:solidFill>
                <a:latin typeface="Calibri" panose="020F0502020204030204" pitchFamily="34" charset="0"/>
              </a:defRPr>
            </a:lvl1pPr>
          </a:lstStyle>
          <a:p>
            <a:fld id="{79625F87-44A5-4BCE-BECC-3F62853E43A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2756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eft - Char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282575" y="1084264"/>
            <a:ext cx="4225925" cy="211584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rgbClr val="595959"/>
                </a:solidFill>
              </a:defRPr>
            </a:lvl1pPr>
          </a:lstStyle>
          <a:p>
            <a:r>
              <a:rPr lang="en-US" noProof="0" smtClean="0"/>
              <a:t>Click icon to add chart</a:t>
            </a:r>
            <a:endParaRPr lang="en-GB" noProof="0"/>
          </a:p>
        </p:txBody>
      </p:sp>
      <p:sp>
        <p:nvSpPr>
          <p:cNvPr id="10" name="Chart Placeholder 7"/>
          <p:cNvSpPr>
            <a:spLocks noGrp="1"/>
          </p:cNvSpPr>
          <p:nvPr>
            <p:ph type="chart" sz="quarter" idx="19"/>
          </p:nvPr>
        </p:nvSpPr>
        <p:spPr>
          <a:xfrm>
            <a:off x="4571999" y="1084264"/>
            <a:ext cx="4291015" cy="211613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rgbClr val="595959"/>
                </a:solidFill>
              </a:defRPr>
            </a:lvl1pPr>
          </a:lstStyle>
          <a:p>
            <a:r>
              <a:rPr lang="en-US" noProof="0" smtClean="0"/>
              <a:t>Click icon to add chart</a:t>
            </a:r>
            <a:endParaRPr lang="en-GB" noProof="0" dirty="0"/>
          </a:p>
        </p:txBody>
      </p:sp>
      <p:sp>
        <p:nvSpPr>
          <p:cNvPr id="18" name="Content Placeholder 11"/>
          <p:cNvSpPr>
            <a:spLocks noGrp="1"/>
          </p:cNvSpPr>
          <p:nvPr>
            <p:ph sz="quarter" idx="18" hasCustomPrompt="1"/>
          </p:nvPr>
        </p:nvSpPr>
        <p:spPr>
          <a:xfrm>
            <a:off x="282575" y="3266119"/>
            <a:ext cx="4225925" cy="1547181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none"/>
        </p:style>
        <p:txBody>
          <a:bodyPr numCol="1" spcCol="180000">
            <a:normAutofit/>
          </a:bodyPr>
          <a:lstStyle>
            <a:lvl1pPr>
              <a:spcBef>
                <a:spcPts val="0"/>
              </a:spcBef>
              <a:defRPr sz="2400" baseline="0">
                <a:solidFill>
                  <a:srgbClr val="595959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GB" noProof="0" dirty="0" smtClean="0"/>
              <a:t>Text</a:t>
            </a:r>
          </a:p>
        </p:txBody>
      </p:sp>
      <p:sp>
        <p:nvSpPr>
          <p:cNvPr id="20" name="Content Placeholder 11"/>
          <p:cNvSpPr>
            <a:spLocks noGrp="1"/>
          </p:cNvSpPr>
          <p:nvPr>
            <p:ph sz="quarter" idx="24" hasCustomPrompt="1"/>
          </p:nvPr>
        </p:nvSpPr>
        <p:spPr>
          <a:xfrm>
            <a:off x="4571999" y="3266119"/>
            <a:ext cx="4291015" cy="1547181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none"/>
        </p:style>
        <p:txBody>
          <a:bodyPr vert="horz" lIns="91440" tIns="45720" rIns="91440" bIns="45720" numCol="1" spcCol="180000" rtlCol="0">
            <a:normAutofit/>
          </a:bodyPr>
          <a:lstStyle>
            <a:lvl1pPr>
              <a:spcBef>
                <a:spcPts val="0"/>
              </a:spcBef>
              <a:defRPr lang="en-GB" sz="2400" noProof="0" dirty="0" smtClean="0">
                <a:solidFill>
                  <a:srgbClr val="595959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GB" noProof="0" dirty="0" smtClean="0"/>
              <a:t>Text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25" hasCustomPrompt="1"/>
          </p:nvPr>
        </p:nvSpPr>
        <p:spPr>
          <a:xfrm>
            <a:off x="4571999" y="4860924"/>
            <a:ext cx="4291014" cy="763589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none"/>
        </p:style>
        <p:txBody>
          <a:bodyPr numCol="1" spcCol="180000">
            <a:normAutofit/>
          </a:bodyPr>
          <a:lstStyle>
            <a:lvl1pPr marL="0" indent="0">
              <a:spcBef>
                <a:spcPts val="0"/>
              </a:spcBef>
              <a:buNone/>
              <a:defRPr sz="2400" baseline="0">
                <a:solidFill>
                  <a:srgbClr val="595959"/>
                </a:soli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GB" noProof="0" dirty="0" smtClean="0"/>
              <a:t>Text</a:t>
            </a:r>
          </a:p>
        </p:txBody>
      </p:sp>
      <p:sp>
        <p:nvSpPr>
          <p:cNvPr id="13" name="Content Placeholder 11"/>
          <p:cNvSpPr>
            <a:spLocks noGrp="1"/>
          </p:cNvSpPr>
          <p:nvPr>
            <p:ph sz="quarter" idx="26" hasCustomPrompt="1"/>
          </p:nvPr>
        </p:nvSpPr>
        <p:spPr>
          <a:xfrm>
            <a:off x="274184" y="4860924"/>
            <a:ext cx="4225924" cy="763589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none"/>
        </p:style>
        <p:txBody>
          <a:bodyPr numCol="1" spcCol="180000">
            <a:normAutofit/>
          </a:bodyPr>
          <a:lstStyle>
            <a:lvl1pPr marL="0" indent="0">
              <a:spcBef>
                <a:spcPts val="0"/>
              </a:spcBef>
              <a:buNone/>
              <a:defRPr sz="2400" baseline="0">
                <a:solidFill>
                  <a:srgbClr val="595959"/>
                </a:soli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GB" noProof="0" dirty="0" smtClean="0"/>
              <a:t>Text</a:t>
            </a:r>
          </a:p>
        </p:txBody>
      </p:sp>
      <p:sp>
        <p:nvSpPr>
          <p:cNvPr id="17" name="Content Placeholder 4"/>
          <p:cNvSpPr>
            <a:spLocks noGrp="1"/>
          </p:cNvSpPr>
          <p:nvPr>
            <p:ph sz="quarter" idx="15" hasCustomPrompt="1"/>
          </p:nvPr>
        </p:nvSpPr>
        <p:spPr>
          <a:xfrm>
            <a:off x="282575" y="5726113"/>
            <a:ext cx="8580437" cy="319087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rgbClr val="595959"/>
                </a:solidFill>
              </a:defRPr>
            </a:lvl1pPr>
          </a:lstStyle>
          <a:p>
            <a:pPr lvl="0"/>
            <a:r>
              <a:rPr lang="en-GB" dirty="0" smtClean="0"/>
              <a:t>Click to add text</a:t>
            </a:r>
            <a:endParaRPr lang="en-GB" dirty="0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282575" y="310551"/>
            <a:ext cx="8580438" cy="690492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buNone/>
              <a:defRPr sz="3600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GB" dirty="0" smtClean="0"/>
              <a:t>Click to edit Master title style</a:t>
            </a:r>
            <a:endParaRPr lang="en-US" dirty="0" smtClean="0"/>
          </a:p>
        </p:txBody>
      </p:sp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4862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6D6F71"/>
                </a:solidFill>
                <a:latin typeface="Calibri" panose="020F0502020204030204" pitchFamily="34" charset="0"/>
              </a:defRPr>
            </a:lvl1pPr>
          </a:lstStyle>
          <a:p>
            <a:fld id="{79625F87-44A5-4BCE-BECC-3F62853E43A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021346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Chart left - Char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282575" y="1096963"/>
            <a:ext cx="4252300" cy="37036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rgbClr val="595959"/>
                </a:solidFill>
              </a:defRPr>
            </a:lvl1pPr>
          </a:lstStyle>
          <a:p>
            <a:r>
              <a:rPr lang="en-US" noProof="0" smtClean="0"/>
              <a:t>Click icon to add chart</a:t>
            </a:r>
            <a:endParaRPr lang="en-GB" noProof="0"/>
          </a:p>
        </p:txBody>
      </p:sp>
      <p:sp>
        <p:nvSpPr>
          <p:cNvPr id="10" name="Chart Placeholder 7"/>
          <p:cNvSpPr>
            <a:spLocks noGrp="1"/>
          </p:cNvSpPr>
          <p:nvPr>
            <p:ph type="chart" sz="quarter" idx="19"/>
          </p:nvPr>
        </p:nvSpPr>
        <p:spPr>
          <a:xfrm>
            <a:off x="4610099" y="1096963"/>
            <a:ext cx="4252914" cy="370363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rgbClr val="595959"/>
                </a:solidFill>
              </a:defRPr>
            </a:lvl1pPr>
          </a:lstStyle>
          <a:p>
            <a:r>
              <a:rPr lang="en-US" noProof="0" smtClean="0"/>
              <a:t>Click icon to add chart</a:t>
            </a:r>
            <a:endParaRPr lang="en-GB" noProof="0"/>
          </a:p>
        </p:txBody>
      </p:sp>
      <p:sp>
        <p:nvSpPr>
          <p:cNvPr id="7" name="Content Placeholder 11"/>
          <p:cNvSpPr>
            <a:spLocks noGrp="1"/>
          </p:cNvSpPr>
          <p:nvPr>
            <p:ph sz="quarter" idx="25" hasCustomPrompt="1"/>
          </p:nvPr>
        </p:nvSpPr>
        <p:spPr>
          <a:xfrm>
            <a:off x="4610099" y="4860926"/>
            <a:ext cx="4252914" cy="763588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none"/>
        </p:style>
        <p:txBody>
          <a:bodyPr numCol="1" spcCol="180000">
            <a:normAutofit/>
          </a:bodyPr>
          <a:lstStyle>
            <a:lvl1pPr marL="0" indent="0">
              <a:spcBef>
                <a:spcPts val="0"/>
              </a:spcBef>
              <a:buNone/>
              <a:defRPr sz="1800" baseline="0">
                <a:solidFill>
                  <a:srgbClr val="595959"/>
                </a:soli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GB" noProof="0" dirty="0" smtClean="0"/>
              <a:t>Text</a:t>
            </a:r>
          </a:p>
        </p:txBody>
      </p:sp>
      <p:sp>
        <p:nvSpPr>
          <p:cNvPr id="11" name="Content Placeholder 11"/>
          <p:cNvSpPr>
            <a:spLocks noGrp="1"/>
          </p:cNvSpPr>
          <p:nvPr>
            <p:ph sz="quarter" idx="26" hasCustomPrompt="1"/>
          </p:nvPr>
        </p:nvSpPr>
        <p:spPr>
          <a:xfrm>
            <a:off x="282574" y="4860926"/>
            <a:ext cx="4256609" cy="763588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none"/>
        </p:style>
        <p:txBody>
          <a:bodyPr numCol="1" spcCol="180000">
            <a:normAutofit/>
          </a:bodyPr>
          <a:lstStyle>
            <a:lvl1pPr marL="0" indent="0">
              <a:spcBef>
                <a:spcPts val="0"/>
              </a:spcBef>
              <a:buNone/>
              <a:defRPr sz="1800" baseline="0">
                <a:solidFill>
                  <a:srgbClr val="595959"/>
                </a:soli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GB" noProof="0" dirty="0" smtClean="0"/>
              <a:t>Text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5" hasCustomPrompt="1"/>
          </p:nvPr>
        </p:nvSpPr>
        <p:spPr>
          <a:xfrm>
            <a:off x="282574" y="5700713"/>
            <a:ext cx="8580439" cy="319087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rgbClr val="595959"/>
                </a:solidFill>
              </a:defRPr>
            </a:lvl1pPr>
          </a:lstStyle>
          <a:p>
            <a:pPr lvl="0"/>
            <a:r>
              <a:rPr lang="en-GB" dirty="0" smtClean="0"/>
              <a:t>Click to add text</a:t>
            </a:r>
            <a:endParaRPr lang="en-GB" dirty="0"/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282575" y="310551"/>
            <a:ext cx="8580438" cy="690492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buNone/>
              <a:defRPr sz="3600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GB" dirty="0" smtClean="0"/>
              <a:t>Click to edit Master title style</a:t>
            </a:r>
            <a:endParaRPr lang="en-US" dirty="0" smtClean="0"/>
          </a:p>
        </p:txBody>
      </p:sp>
      <p:sp>
        <p:nvSpPr>
          <p:cNvPr id="1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4862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6D6F71"/>
                </a:solidFill>
                <a:latin typeface="Calibri" panose="020F0502020204030204" pitchFamily="34" charset="0"/>
              </a:defRPr>
            </a:lvl1pPr>
          </a:lstStyle>
          <a:p>
            <a:fld id="{79625F87-44A5-4BCE-BECC-3F62853E43A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044433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-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282575" y="1376364"/>
            <a:ext cx="4145409" cy="4645024"/>
          </a:xfrm>
        </p:spPr>
        <p:txBody>
          <a:bodyPr>
            <a:normAutofit/>
          </a:bodyPr>
          <a:lstStyle>
            <a:lvl1pPr>
              <a:defRPr sz="2800">
                <a:solidFill>
                  <a:srgbClr val="595959"/>
                </a:solidFill>
              </a:defRPr>
            </a:lvl1pPr>
            <a:lvl2pPr>
              <a:defRPr sz="24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 dirty="0"/>
          </a:p>
        </p:txBody>
      </p:sp>
      <p:sp>
        <p:nvSpPr>
          <p:cNvPr id="20" name="Text Placeholder 17"/>
          <p:cNvSpPr>
            <a:spLocks noGrp="1"/>
          </p:cNvSpPr>
          <p:nvPr>
            <p:ph type="body" sz="quarter" idx="26"/>
          </p:nvPr>
        </p:nvSpPr>
        <p:spPr>
          <a:xfrm>
            <a:off x="4572001" y="1376363"/>
            <a:ext cx="4291012" cy="4645025"/>
          </a:xfrm>
        </p:spPr>
        <p:txBody>
          <a:bodyPr>
            <a:normAutofit/>
          </a:bodyPr>
          <a:lstStyle>
            <a:lvl1pPr>
              <a:defRPr sz="2800">
                <a:solidFill>
                  <a:srgbClr val="595959"/>
                </a:solidFill>
              </a:defRPr>
            </a:lvl1pPr>
            <a:lvl2pPr>
              <a:defRPr sz="24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 dirty="0"/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282575" y="310551"/>
            <a:ext cx="8580438" cy="690492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buNone/>
              <a:defRPr sz="3600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GB" dirty="0" smtClean="0"/>
              <a:t>Click to edit Master title style</a:t>
            </a:r>
            <a:endParaRPr lang="en-US" dirty="0" smtClean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4862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6D6F71"/>
                </a:solidFill>
                <a:latin typeface="Calibri" panose="020F0502020204030204" pitchFamily="34" charset="0"/>
              </a:defRPr>
            </a:lvl1pPr>
          </a:lstStyle>
          <a:p>
            <a:fld id="{79625F87-44A5-4BCE-BECC-3F62853E43A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850838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/>
          <p:cNvSpPr>
            <a:spLocks noGrp="1"/>
          </p:cNvSpPr>
          <p:nvPr>
            <p:ph type="tbl" sz="quarter" idx="17"/>
          </p:nvPr>
        </p:nvSpPr>
        <p:spPr>
          <a:xfrm>
            <a:off x="282575" y="1109663"/>
            <a:ext cx="8580438" cy="45148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rgbClr val="595959"/>
                </a:solidFill>
              </a:defRPr>
            </a:lvl1pPr>
          </a:lstStyle>
          <a:p>
            <a:r>
              <a:rPr lang="en-US" smtClean="0"/>
              <a:t>Click icon to add table</a:t>
            </a:r>
            <a:endParaRPr lang="en-US" dirty="0"/>
          </a:p>
        </p:txBody>
      </p:sp>
      <p:sp>
        <p:nvSpPr>
          <p:cNvPr id="9" name="Content Placeholder 4"/>
          <p:cNvSpPr>
            <a:spLocks noGrp="1"/>
          </p:cNvSpPr>
          <p:nvPr>
            <p:ph sz="quarter" idx="15" hasCustomPrompt="1"/>
          </p:nvPr>
        </p:nvSpPr>
        <p:spPr>
          <a:xfrm>
            <a:off x="282576" y="5700713"/>
            <a:ext cx="8580438" cy="319087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rgbClr val="595959"/>
                </a:solidFill>
              </a:defRPr>
            </a:lvl1pPr>
          </a:lstStyle>
          <a:p>
            <a:pPr lvl="0"/>
            <a:r>
              <a:rPr lang="en-GB" dirty="0" smtClean="0"/>
              <a:t>Click to add text</a:t>
            </a:r>
            <a:endParaRPr lang="en-GB" dirty="0"/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282575" y="310551"/>
            <a:ext cx="8580438" cy="690492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buNone/>
              <a:defRPr sz="3600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GB" dirty="0" smtClean="0"/>
              <a:t>Click to edit Master title style</a:t>
            </a:r>
            <a:endParaRPr lang="en-US" dirty="0" smtClean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4862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6D6F71"/>
                </a:solidFill>
                <a:latin typeface="Calibri" panose="020F0502020204030204" pitchFamily="34" charset="0"/>
              </a:defRPr>
            </a:lvl1pPr>
          </a:lstStyle>
          <a:p>
            <a:fld id="{79625F87-44A5-4BCE-BECC-3F62853E43A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922878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table - Com box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/>
          <p:cNvSpPr>
            <a:spLocks noGrp="1"/>
          </p:cNvSpPr>
          <p:nvPr>
            <p:ph type="tbl" sz="quarter" idx="18"/>
          </p:nvPr>
        </p:nvSpPr>
        <p:spPr>
          <a:xfrm>
            <a:off x="282575" y="1096963"/>
            <a:ext cx="8580438" cy="369093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rgbClr val="595959"/>
                </a:solidFill>
              </a:defRPr>
            </a:lvl1pPr>
          </a:lstStyle>
          <a:p>
            <a:r>
              <a:rPr lang="en-US" smtClean="0"/>
              <a:t>Click icon to add table</a:t>
            </a:r>
            <a:endParaRPr lang="en-US" dirty="0"/>
          </a:p>
        </p:txBody>
      </p:sp>
      <p:sp>
        <p:nvSpPr>
          <p:cNvPr id="16" name="Content Placeholder 11"/>
          <p:cNvSpPr>
            <a:spLocks noGrp="1"/>
          </p:cNvSpPr>
          <p:nvPr>
            <p:ph sz="quarter" idx="22" hasCustomPrompt="1"/>
          </p:nvPr>
        </p:nvSpPr>
        <p:spPr>
          <a:xfrm>
            <a:off x="282576" y="4860926"/>
            <a:ext cx="8580438" cy="763588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none"/>
        </p:style>
        <p:txBody>
          <a:bodyPr numCol="1" spcCol="18000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baseline="0">
                <a:solidFill>
                  <a:srgbClr val="595959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GB" noProof="0" dirty="0" smtClean="0"/>
              <a:t>Text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5" hasCustomPrompt="1"/>
          </p:nvPr>
        </p:nvSpPr>
        <p:spPr>
          <a:xfrm>
            <a:off x="282574" y="5700713"/>
            <a:ext cx="8580439" cy="319087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rgbClr val="595959"/>
                </a:solidFill>
              </a:defRPr>
            </a:lvl1pPr>
          </a:lstStyle>
          <a:p>
            <a:pPr lvl="0"/>
            <a:r>
              <a:rPr lang="en-GB" dirty="0" smtClean="0"/>
              <a:t>Click to add text</a:t>
            </a:r>
            <a:endParaRPr lang="en-GB" dirty="0"/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282575" y="310551"/>
            <a:ext cx="8580438" cy="690492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buNone/>
              <a:defRPr sz="3600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GB" dirty="0" smtClean="0"/>
              <a:t>Click to edit Master title style</a:t>
            </a:r>
            <a:endParaRPr lang="en-US" dirty="0" smtClean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4862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6D6F71"/>
                </a:solidFill>
                <a:latin typeface="Calibri" panose="020F0502020204030204" pitchFamily="34" charset="0"/>
              </a:defRPr>
            </a:lvl1pPr>
          </a:lstStyle>
          <a:p>
            <a:fld id="{79625F87-44A5-4BCE-BECC-3F62853E43A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878075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 left - Com box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ble Placeholder 2"/>
          <p:cNvSpPr>
            <a:spLocks noGrp="1"/>
          </p:cNvSpPr>
          <p:nvPr>
            <p:ph type="tbl" sz="quarter" idx="18"/>
          </p:nvPr>
        </p:nvSpPr>
        <p:spPr>
          <a:xfrm>
            <a:off x="282575" y="1223963"/>
            <a:ext cx="6484300" cy="44005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rgbClr val="595959"/>
                </a:solidFill>
              </a:defRPr>
            </a:lvl1pPr>
          </a:lstStyle>
          <a:p>
            <a:r>
              <a:rPr lang="en-US" smtClean="0"/>
              <a:t>Click icon to add table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22" hasCustomPrompt="1"/>
          </p:nvPr>
        </p:nvSpPr>
        <p:spPr>
          <a:xfrm>
            <a:off x="6840885" y="1223964"/>
            <a:ext cx="2022128" cy="4400549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none"/>
        </p:style>
        <p:txBody>
          <a:bodyPr numCol="1" spcCol="180000">
            <a:normAutofit/>
          </a:bodyPr>
          <a:lstStyle>
            <a:lvl1pPr>
              <a:spcBef>
                <a:spcPts val="0"/>
              </a:spcBef>
              <a:defRPr sz="2400" baseline="0">
                <a:solidFill>
                  <a:srgbClr val="595959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GB" noProof="0" dirty="0" smtClean="0"/>
              <a:t>Text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5" hasCustomPrompt="1"/>
          </p:nvPr>
        </p:nvSpPr>
        <p:spPr>
          <a:xfrm>
            <a:off x="282575" y="5699126"/>
            <a:ext cx="8580439" cy="319087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rgbClr val="595959"/>
                </a:solidFill>
              </a:defRPr>
            </a:lvl1pPr>
          </a:lstStyle>
          <a:p>
            <a:pPr lvl="0"/>
            <a:r>
              <a:rPr lang="en-GB" dirty="0" smtClean="0"/>
              <a:t>Click to add text</a:t>
            </a:r>
            <a:endParaRPr lang="en-GB" dirty="0"/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282575" y="310551"/>
            <a:ext cx="8580438" cy="690492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buNone/>
              <a:defRPr sz="3600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GB" dirty="0" smtClean="0"/>
              <a:t>Click to edit Master title style</a:t>
            </a:r>
            <a:endParaRPr lang="en-US" dirty="0" smtClean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4862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6D6F71"/>
                </a:solidFill>
                <a:latin typeface="Calibri" panose="020F0502020204030204" pitchFamily="34" charset="0"/>
              </a:defRPr>
            </a:lvl1pPr>
          </a:lstStyle>
          <a:p>
            <a:fld id="{79625F87-44A5-4BCE-BECC-3F62853E43A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8095724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 box left - Tabl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/>
          <p:cNvSpPr>
            <a:spLocks noGrp="1"/>
          </p:cNvSpPr>
          <p:nvPr>
            <p:ph type="tbl" sz="quarter" idx="18"/>
          </p:nvPr>
        </p:nvSpPr>
        <p:spPr>
          <a:xfrm>
            <a:off x="2303463" y="1109664"/>
            <a:ext cx="6559550" cy="451484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solidFill>
                  <a:srgbClr val="595959"/>
                </a:solidFill>
              </a:defRPr>
            </a:lvl1pPr>
          </a:lstStyle>
          <a:p>
            <a:r>
              <a:rPr lang="en-US" smtClean="0"/>
              <a:t>Click icon to add table</a:t>
            </a:r>
            <a:endParaRPr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22" hasCustomPrompt="1"/>
          </p:nvPr>
        </p:nvSpPr>
        <p:spPr>
          <a:xfrm>
            <a:off x="282574" y="1096964"/>
            <a:ext cx="1948301" cy="451485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none"/>
        </p:style>
        <p:txBody>
          <a:bodyPr numCol="1" spcCol="180000">
            <a:normAutofit/>
          </a:bodyPr>
          <a:lstStyle>
            <a:lvl1pPr>
              <a:spcBef>
                <a:spcPts val="0"/>
              </a:spcBef>
              <a:defRPr sz="2400" baseline="0">
                <a:solidFill>
                  <a:srgbClr val="595959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GB" noProof="0" dirty="0" smtClean="0"/>
              <a:t>Text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5" hasCustomPrompt="1"/>
          </p:nvPr>
        </p:nvSpPr>
        <p:spPr>
          <a:xfrm>
            <a:off x="282576" y="5700713"/>
            <a:ext cx="8580438" cy="319087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rgbClr val="595959"/>
                </a:solidFill>
              </a:defRPr>
            </a:lvl1pPr>
          </a:lstStyle>
          <a:p>
            <a:pPr lvl="0"/>
            <a:r>
              <a:rPr lang="en-GB" dirty="0" smtClean="0"/>
              <a:t>Click to add text</a:t>
            </a:r>
            <a:endParaRPr lang="en-GB" dirty="0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282575" y="310551"/>
            <a:ext cx="8580438" cy="690492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buNone/>
              <a:defRPr sz="3600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GB" dirty="0" smtClean="0"/>
              <a:t>Click to edit Master title style</a:t>
            </a:r>
            <a:endParaRPr lang="en-US" dirty="0" smtClean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4862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6D6F71"/>
                </a:solidFill>
                <a:latin typeface="Calibri" panose="020F0502020204030204" pitchFamily="34" charset="0"/>
              </a:defRPr>
            </a:lvl1pPr>
          </a:lstStyle>
          <a:p>
            <a:fld id="{79625F87-44A5-4BCE-BECC-3F62853E43A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5471822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282575" y="1300164"/>
            <a:ext cx="8580438" cy="471804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rgbClr val="595959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GB" noProof="0" dirty="0"/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282575" y="310551"/>
            <a:ext cx="8580438" cy="690492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buNone/>
              <a:defRPr sz="3600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GB" dirty="0" smtClean="0"/>
              <a:t>Click to edit Master title style</a:t>
            </a:r>
            <a:endParaRPr lang="en-US" dirty="0" smtClean="0"/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4862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6D6F71"/>
                </a:solidFill>
                <a:latin typeface="Calibri" panose="020F0502020204030204" pitchFamily="34" charset="0"/>
              </a:defRPr>
            </a:lvl1pPr>
          </a:lstStyle>
          <a:p>
            <a:fld id="{79625F87-44A5-4BCE-BECC-3F62853E43A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7488405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ull picture with com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282575" y="1109663"/>
            <a:ext cx="8580438" cy="369093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rgbClr val="595959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GB" noProof="0" dirty="0"/>
          </a:p>
        </p:txBody>
      </p:sp>
      <p:sp>
        <p:nvSpPr>
          <p:cNvPr id="14" name="Content Placeholder 11"/>
          <p:cNvSpPr>
            <a:spLocks noGrp="1"/>
          </p:cNvSpPr>
          <p:nvPr>
            <p:ph sz="quarter" idx="23" hasCustomPrompt="1"/>
          </p:nvPr>
        </p:nvSpPr>
        <p:spPr>
          <a:xfrm>
            <a:off x="282575" y="4876800"/>
            <a:ext cx="8580438" cy="750888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none"/>
        </p:style>
        <p:txBody>
          <a:bodyPr numCol="1" spcCol="180000">
            <a:normAutofit/>
          </a:bodyPr>
          <a:lstStyle>
            <a:lvl1pPr marL="0" indent="0">
              <a:spcBef>
                <a:spcPts val="0"/>
              </a:spcBef>
              <a:buNone/>
              <a:defRPr sz="2400" baseline="0">
                <a:solidFill>
                  <a:srgbClr val="595959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GB" noProof="0" dirty="0" smtClean="0"/>
              <a:t>Text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5" hasCustomPrompt="1"/>
          </p:nvPr>
        </p:nvSpPr>
        <p:spPr>
          <a:xfrm>
            <a:off x="282574" y="5700713"/>
            <a:ext cx="8580439" cy="319087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rgbClr val="595959"/>
                </a:solidFill>
              </a:defRPr>
            </a:lvl1pPr>
          </a:lstStyle>
          <a:p>
            <a:pPr lvl="0"/>
            <a:r>
              <a:rPr lang="en-GB" dirty="0" smtClean="0"/>
              <a:t>Click to add text</a:t>
            </a:r>
            <a:endParaRPr lang="en-GB" dirty="0"/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282575" y="310551"/>
            <a:ext cx="8580438" cy="690492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buNone/>
              <a:defRPr sz="3600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GB" dirty="0" smtClean="0"/>
              <a:t>Click to edit Master title style</a:t>
            </a:r>
            <a:endParaRPr lang="en-US" dirty="0" smtClean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4862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6D6F71"/>
                </a:solidFill>
                <a:latin typeface="Calibri" panose="020F0502020204030204" pitchFamily="34" charset="0"/>
              </a:defRPr>
            </a:lvl1pPr>
          </a:lstStyle>
          <a:p>
            <a:fld id="{79625F87-44A5-4BCE-BECC-3F62853E43A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165695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-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4572000" y="1376363"/>
            <a:ext cx="4291013" cy="464502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rgbClr val="595959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GB" noProof="0" dirty="0"/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23"/>
          </p:nvPr>
        </p:nvSpPr>
        <p:spPr>
          <a:xfrm>
            <a:off x="282575" y="1376363"/>
            <a:ext cx="4216300" cy="4645026"/>
          </a:xfrm>
        </p:spPr>
        <p:txBody>
          <a:bodyPr>
            <a:normAutofit/>
          </a:bodyPr>
          <a:lstStyle>
            <a:lvl1pPr>
              <a:defRPr sz="2800">
                <a:solidFill>
                  <a:srgbClr val="595959"/>
                </a:solidFill>
              </a:defRPr>
            </a:lvl1pPr>
            <a:lvl2pPr>
              <a:defRPr sz="24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 dirty="0"/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282575" y="310551"/>
            <a:ext cx="8580438" cy="690492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buNone/>
              <a:defRPr sz="3600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GB" dirty="0" smtClean="0"/>
              <a:t>Click to edit Master title style</a:t>
            </a:r>
            <a:endParaRPr lang="en-US" dirty="0" smtClean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4862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6D6F71"/>
                </a:solidFill>
                <a:latin typeface="Calibri" panose="020F0502020204030204" pitchFamily="34" charset="0"/>
              </a:defRPr>
            </a:lvl1pPr>
          </a:lstStyle>
          <a:p>
            <a:fld id="{79625F87-44A5-4BCE-BECC-3F62853E43A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949222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icture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282575" y="1312863"/>
            <a:ext cx="8580438" cy="47053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rgbClr val="595959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GB" noProof="0"/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282575" y="310551"/>
            <a:ext cx="8580438" cy="690492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buNone/>
              <a:defRPr sz="3600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GB" dirty="0" smtClean="0"/>
              <a:t>Click to edit Master title style</a:t>
            </a:r>
            <a:endParaRPr lang="en-US" dirty="0" smtClean="0"/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4862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6D6F71"/>
                </a:solidFill>
                <a:latin typeface="Calibri" panose="020F0502020204030204" pitchFamily="34" charset="0"/>
              </a:defRPr>
            </a:lvl1pPr>
          </a:lstStyle>
          <a:p>
            <a:fld id="{79625F87-44A5-4BCE-BECC-3F62853E43A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17467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282575" y="310551"/>
            <a:ext cx="8580438" cy="690492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buNone/>
              <a:defRPr sz="3600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GB" dirty="0" smtClean="0"/>
              <a:t>Click to edit Master title style</a:t>
            </a:r>
            <a:endParaRPr lang="en-US" dirty="0" smtClean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4862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6D6F71"/>
                </a:solidFill>
                <a:latin typeface="Calibri" panose="020F0502020204030204" pitchFamily="34" charset="0"/>
              </a:defRPr>
            </a:lvl1pPr>
          </a:lstStyle>
          <a:p>
            <a:fld id="{79625F87-44A5-4BCE-BECC-3F62853E43A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2735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769811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ull text Subtitle Question text RH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 lIns="90000"/>
          <a:lstStyle/>
          <a:p>
            <a:r>
              <a:rPr lang="en-US" noProof="0" smtClean="0"/>
              <a:t>Click to edit Master title style</a:t>
            </a:r>
            <a:endParaRPr lang="en-GB" noProof="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142875" y="1700213"/>
            <a:ext cx="6625369" cy="4465638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142875" y="1376363"/>
            <a:ext cx="8858250" cy="323850"/>
          </a:xfrm>
        </p:spPr>
        <p:txBody>
          <a:bodyPr anchor="t">
            <a:normAutofit/>
          </a:bodyPr>
          <a:lstStyle>
            <a:lvl1pPr marL="0" indent="0">
              <a:buNone/>
              <a:defRPr sz="1200" i="1"/>
            </a:lvl1pPr>
          </a:lstStyle>
          <a:p>
            <a:pPr lvl="0"/>
            <a:r>
              <a:rPr lang="en-US" dirty="0" smtClean="0"/>
              <a:t>Question Text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142875" y="1015999"/>
            <a:ext cx="8858250" cy="360363"/>
          </a:xfrm>
        </p:spPr>
        <p:txBody>
          <a:bodyPr anchor="ctr">
            <a:noAutofit/>
          </a:bodyPr>
          <a:lstStyle>
            <a:lvl1pPr marL="0" indent="0">
              <a:buNone/>
              <a:defRPr sz="18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 smtClean="0"/>
              <a:t>Insert Subtitle Text Here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6767512" y="1700213"/>
            <a:ext cx="2376488" cy="4465637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smtClean="0"/>
              <a:t>Click icon to add picture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400" y="6306375"/>
            <a:ext cx="704332" cy="472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  <a:latin typeface="+mj-lt"/>
              </a:defRPr>
            </a:lvl1pPr>
          </a:lstStyle>
          <a:p>
            <a:fld id="{8F5610C8-4100-4700-A695-ED7D190A45BE}" type="slidenum">
              <a:rPr lang="en-GB" smtClean="0">
                <a:solidFill>
                  <a:srgbClr val="6D6F71"/>
                </a:solidFill>
              </a:rPr>
              <a:pPr/>
              <a:t>‹#›</a:t>
            </a:fld>
            <a:endParaRPr lang="en-GB" dirty="0">
              <a:solidFill>
                <a:srgbClr val="6D6F7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475663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/>
          <p:cNvSpPr>
            <a:spLocks noGrp="1"/>
          </p:cNvSpPr>
          <p:nvPr>
            <p:ph type="title"/>
          </p:nvPr>
        </p:nvSpPr>
        <p:spPr>
          <a:xfrm>
            <a:off x="282575" y="188913"/>
            <a:ext cx="8580438" cy="801687"/>
          </a:xfrm>
          <a:prstGeom prst="rect">
            <a:avLst/>
          </a:prstGeom>
        </p:spPr>
        <p:txBody>
          <a:bodyPr vert="horz" lIns="90000" tIns="45720" rIns="91440" bIns="45720" rtlCol="0" anchor="b" anchorCtr="0">
            <a:noAutofit/>
          </a:bodyPr>
          <a:lstStyle/>
          <a:p>
            <a:r>
              <a:rPr lang="en-US" noProof="0" smtClean="0"/>
              <a:t>Click to edit Master title style</a:t>
            </a:r>
            <a:endParaRPr lang="en-GB" noProof="0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282575" y="1376364"/>
            <a:ext cx="8580438" cy="46164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 dirty="0"/>
          </a:p>
        </p:txBody>
      </p:sp>
      <p:pic>
        <p:nvPicPr>
          <p:cNvPr id="10" name="Picture 9" descr="YouGovTrans.png"/>
          <p:cNvPicPr>
            <a:picLocks noChangeAspect="1"/>
          </p:cNvPicPr>
          <p:nvPr/>
        </p:nvPicPr>
        <p:blipFill>
          <a:blip r:embed="rId4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43617" y="6079297"/>
            <a:ext cx="1757610" cy="40874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0"/>
            <a:ext cx="9144000" cy="1623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 err="1" smtClean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585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48" r:id="rId2"/>
    <p:sldLayoutId id="2147483750" r:id="rId3"/>
    <p:sldLayoutId id="2147483751" r:id="rId4"/>
    <p:sldLayoutId id="2147483749" r:id="rId5"/>
    <p:sldLayoutId id="2147483756" r:id="rId6"/>
    <p:sldLayoutId id="2147483744" r:id="rId7"/>
    <p:sldLayoutId id="2147483745" r:id="rId8"/>
    <p:sldLayoutId id="2147483755" r:id="rId9"/>
    <p:sldLayoutId id="2147483735" r:id="rId10"/>
    <p:sldLayoutId id="2147483736" r:id="rId11"/>
    <p:sldLayoutId id="2147483752" r:id="rId12"/>
    <p:sldLayoutId id="2147483706" r:id="rId13"/>
    <p:sldLayoutId id="2147483753" r:id="rId14"/>
    <p:sldLayoutId id="2147483754" r:id="rId15"/>
    <p:sldLayoutId id="2147483742" r:id="rId16"/>
    <p:sldLayoutId id="2147483747" r:id="rId17"/>
    <p:sldLayoutId id="2147483746" r:id="rId18"/>
    <p:sldLayoutId id="2147483707" r:id="rId19"/>
    <p:sldLayoutId id="2147483739" r:id="rId20"/>
    <p:sldLayoutId id="2147483740" r:id="rId21"/>
    <p:sldLayoutId id="2147483712" r:id="rId22"/>
    <p:sldLayoutId id="2147483713" r:id="rId23"/>
    <p:sldLayoutId id="2147483714" r:id="rId24"/>
    <p:sldLayoutId id="2147483715" r:id="rId25"/>
    <p:sldLayoutId id="2147483717" r:id="rId26"/>
    <p:sldLayoutId id="2147483719" r:id="rId27"/>
    <p:sldLayoutId id="2147483720" r:id="rId28"/>
    <p:sldLayoutId id="2147483722" r:id="rId29"/>
    <p:sldLayoutId id="2147483723" r:id="rId30"/>
    <p:sldLayoutId id="2147483724" r:id="rId31"/>
    <p:sldLayoutId id="2147483725" r:id="rId32"/>
    <p:sldLayoutId id="2147483726" r:id="rId33"/>
    <p:sldLayoutId id="2147483727" r:id="rId34"/>
    <p:sldLayoutId id="2147483728" r:id="rId35"/>
    <p:sldLayoutId id="2147483729" r:id="rId36"/>
    <p:sldLayoutId id="2147483731" r:id="rId37"/>
    <p:sldLayoutId id="2147483732" r:id="rId38"/>
    <p:sldLayoutId id="2147483733" r:id="rId39"/>
    <p:sldLayoutId id="2147483734" r:id="rId40"/>
    <p:sldLayoutId id="2147483757" r:id="rId41"/>
    <p:sldLayoutId id="2147483792" r:id="rId42"/>
    <p:sldLayoutId id="2147483758" r:id="rId43"/>
  </p:sldLayoutIdLst>
  <p:transition>
    <p:fade/>
  </p:transition>
  <p:timing>
    <p:tnLst>
      <p:par>
        <p:cTn id="1" dur="indefinite" restart="never" nodeType="tmRoot"/>
      </p:par>
    </p:tnLst>
  </p:timing>
  <p:hf hdr="0" dt="0"/>
  <p:txStyles>
    <p:titleStyle>
      <a:lvl1pPr algn="l" defTabSz="984033" rtl="0" eaLnBrk="1" latinLnBrk="0" hangingPunct="1">
        <a:spcBef>
          <a:spcPct val="0"/>
        </a:spcBef>
        <a:buNone/>
        <a:defRPr sz="3600" b="0" kern="1200">
          <a:solidFill>
            <a:srgbClr val="000000"/>
          </a:solidFill>
          <a:latin typeface="Calibri" panose="020F0502020204030204" pitchFamily="34" charset="0"/>
          <a:ea typeface="+mj-ea"/>
          <a:cs typeface="Arial" pitchFamily="34" charset="0"/>
        </a:defRPr>
      </a:lvl1pPr>
    </p:titleStyle>
    <p:bodyStyle>
      <a:lvl1pPr marL="285750" indent="-285750" algn="l" defTabSz="984033" rtl="0" eaLnBrk="1" latinLnBrk="0" hangingPunct="1">
        <a:lnSpc>
          <a:spcPct val="100000"/>
        </a:lnSpc>
        <a:spcBef>
          <a:spcPts val="600"/>
        </a:spcBef>
        <a:buClr>
          <a:schemeClr val="tx2"/>
        </a:buClr>
        <a:buFont typeface="Wingdings" pitchFamily="2" charset="2"/>
        <a:buChar char="§"/>
        <a:defRPr sz="2000" b="0" kern="1200" baseline="0">
          <a:solidFill>
            <a:schemeClr val="tx1"/>
          </a:solidFill>
          <a:latin typeface="Calibri" panose="020F0502020204030204" pitchFamily="34" charset="0"/>
          <a:ea typeface="+mn-ea"/>
          <a:cs typeface="Arial" pitchFamily="34" charset="0"/>
        </a:defRPr>
      </a:lvl1pPr>
      <a:lvl2pPr marL="444500" indent="-269875" algn="l" defTabSz="984033" rtl="0" eaLnBrk="1" latinLnBrk="0" hangingPunct="1">
        <a:lnSpc>
          <a:spcPct val="100000"/>
        </a:lnSpc>
        <a:spcBef>
          <a:spcPts val="600"/>
        </a:spcBef>
        <a:buClr>
          <a:schemeClr val="tx2"/>
        </a:buClr>
        <a:buSzPct val="95000"/>
        <a:buFont typeface="Wingdings" pitchFamily="2" charset="2"/>
        <a:buChar char="§"/>
        <a:defRPr sz="1800" b="0" kern="1200">
          <a:solidFill>
            <a:schemeClr val="tx1"/>
          </a:solidFill>
          <a:latin typeface="Calibri" panose="020F0502020204030204" pitchFamily="34" charset="0"/>
          <a:ea typeface="+mn-ea"/>
          <a:cs typeface="Arial" pitchFamily="34" charset="0"/>
        </a:defRPr>
      </a:lvl2pPr>
      <a:lvl3pPr marL="714375" indent="-269875" algn="l" defTabSz="984033" rtl="0" eaLnBrk="1" latinLnBrk="0" hangingPunct="1">
        <a:lnSpc>
          <a:spcPct val="100000"/>
        </a:lnSpc>
        <a:spcBef>
          <a:spcPts val="600"/>
        </a:spcBef>
        <a:buClr>
          <a:schemeClr val="tx2"/>
        </a:buClr>
        <a:buSzPct val="105000"/>
        <a:buFont typeface="Wingdings" pitchFamily="2" charset="2"/>
        <a:buChar char="§"/>
        <a:defRPr sz="1600" b="0" i="1" kern="1200">
          <a:solidFill>
            <a:schemeClr val="tx1"/>
          </a:solidFill>
          <a:latin typeface="Calibri" panose="020F0502020204030204" pitchFamily="34" charset="0"/>
          <a:ea typeface="+mn-ea"/>
          <a:cs typeface="Arial" pitchFamily="34" charset="0"/>
        </a:defRPr>
      </a:lvl3pPr>
      <a:lvl4pPr marL="985838" indent="-285750" algn="l" defTabSz="984033" rtl="0" eaLnBrk="1" latinLnBrk="0" hangingPunct="1">
        <a:lnSpc>
          <a:spcPct val="100000"/>
        </a:lnSpc>
        <a:spcBef>
          <a:spcPts val="600"/>
        </a:spcBef>
        <a:buClr>
          <a:schemeClr val="tx2"/>
        </a:buClr>
        <a:buSzPct val="105000"/>
        <a:buFont typeface="Wingdings" pitchFamily="2" charset="2"/>
        <a:buChar char="§"/>
        <a:defRPr sz="1600" b="0" i="1" kern="1200">
          <a:solidFill>
            <a:schemeClr val="tx1"/>
          </a:solidFill>
          <a:latin typeface="Calibri" panose="020F0502020204030204" pitchFamily="34" charset="0"/>
          <a:ea typeface="+mn-ea"/>
          <a:cs typeface="Arial" pitchFamily="34" charset="0"/>
        </a:defRPr>
      </a:lvl4pPr>
      <a:lvl5pPr marL="1250950" indent="-285750" algn="l" defTabSz="984033" rtl="0" eaLnBrk="1" latinLnBrk="0" hangingPunct="1">
        <a:lnSpc>
          <a:spcPct val="100000"/>
        </a:lnSpc>
        <a:spcBef>
          <a:spcPts val="600"/>
        </a:spcBef>
        <a:buClr>
          <a:schemeClr val="tx2"/>
        </a:buClr>
        <a:buSzPct val="105000"/>
        <a:buFont typeface="Wingdings" pitchFamily="2" charset="2"/>
        <a:buChar char="§"/>
        <a:tabLst/>
        <a:defRPr sz="1600" b="0" i="1" kern="1200">
          <a:solidFill>
            <a:schemeClr val="tx1"/>
          </a:solidFill>
          <a:latin typeface="Calibri" panose="020F0502020204030204" pitchFamily="34" charset="0"/>
          <a:ea typeface="+mn-ea"/>
          <a:cs typeface="Arial" pitchFamily="34" charset="0"/>
        </a:defRPr>
      </a:lvl5pPr>
      <a:lvl6pPr marL="2706093" indent="-246008" algn="l" defTabSz="984033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198110" indent="-246008" algn="l" defTabSz="984033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690127" indent="-246008" algn="l" defTabSz="984033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182144" indent="-246008" algn="l" defTabSz="984033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84033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92017" algn="l" defTabSz="984033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84033" algn="l" defTabSz="984033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76050" algn="l" defTabSz="984033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68068" algn="l" defTabSz="984033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60085" algn="l" defTabSz="984033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52102" algn="l" defTabSz="984033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44119" algn="l" defTabSz="984033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936135" algn="l" defTabSz="984033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3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4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4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4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4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4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4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43.xml"/><Relationship Id="rId4" Type="http://schemas.openxmlformats.org/officeDocument/2006/relationships/chart" Target="../charts/char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43.xml"/><Relationship Id="rId4" Type="http://schemas.openxmlformats.org/officeDocument/2006/relationships/chart" Target="../charts/char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43.xml"/><Relationship Id="rId4" Type="http://schemas.openxmlformats.org/officeDocument/2006/relationships/chart" Target="../charts/chart2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4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2.xml"/><Relationship Id="rId1" Type="http://schemas.openxmlformats.org/officeDocument/2006/relationships/slideLayout" Target="../slideLayouts/slideLayout4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3.xml"/><Relationship Id="rId1" Type="http://schemas.openxmlformats.org/officeDocument/2006/relationships/slideLayout" Target="../slideLayouts/slideLayout4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4.xml"/><Relationship Id="rId1" Type="http://schemas.openxmlformats.org/officeDocument/2006/relationships/slideLayout" Target="../slideLayouts/slideLayout4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6.xml"/><Relationship Id="rId2" Type="http://schemas.openxmlformats.org/officeDocument/2006/relationships/chart" Target="../charts/chart25.xml"/><Relationship Id="rId1" Type="http://schemas.openxmlformats.org/officeDocument/2006/relationships/slideLayout" Target="../slideLayouts/slideLayout13.xml"/><Relationship Id="rId5" Type="http://schemas.openxmlformats.org/officeDocument/2006/relationships/chart" Target="../charts/chart28.xml"/><Relationship Id="rId4" Type="http://schemas.openxmlformats.org/officeDocument/2006/relationships/chart" Target="../charts/chart2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9.xml"/><Relationship Id="rId1" Type="http://schemas.openxmlformats.org/officeDocument/2006/relationships/slideLayout" Target="../slideLayouts/slideLayout4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0.xml"/><Relationship Id="rId1" Type="http://schemas.openxmlformats.org/officeDocument/2006/relationships/slideLayout" Target="../slideLayouts/slideLayout4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239846" y="2869937"/>
            <a:ext cx="8789854" cy="1809904"/>
          </a:xfrm>
        </p:spPr>
        <p:txBody>
          <a:bodyPr>
            <a:normAutofit/>
          </a:bodyPr>
          <a:lstStyle/>
          <a:p>
            <a:r>
              <a:rPr lang="en-GB" b="1" dirty="0" smtClean="0">
                <a:solidFill>
                  <a:srgbClr val="FF0000"/>
                </a:solidFill>
              </a:rPr>
              <a:t>GCA - Annual Survey Results</a:t>
            </a:r>
          </a:p>
          <a:p>
            <a:r>
              <a:rPr lang="en-GB" b="1" dirty="0" smtClean="0">
                <a:solidFill>
                  <a:srgbClr val="FF0000"/>
                </a:solidFill>
              </a:rPr>
              <a:t>2016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239846" y="5110385"/>
            <a:ext cx="3383571" cy="1290415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174625" lvl="1" indent="0">
              <a:buClr>
                <a:srgbClr val="FF0000"/>
              </a:buClr>
              <a:buSzPct val="100000"/>
              <a:buNone/>
            </a:pPr>
            <a:r>
              <a:rPr lang="en-US" sz="2400" i="1" dirty="0" smtClean="0">
                <a:solidFill>
                  <a:schemeClr val="tx1">
                    <a:lumMod val="50000"/>
                  </a:schemeClr>
                </a:solidFill>
              </a:rPr>
              <a:t>Gavin Ellison</a:t>
            </a:r>
          </a:p>
          <a:p>
            <a:pPr marL="174625" lvl="1" indent="0">
              <a:buClr>
                <a:srgbClr val="FF0000"/>
              </a:buClr>
              <a:buSzPct val="100000"/>
              <a:buNone/>
            </a:pPr>
            <a:r>
              <a:rPr lang="en-US" sz="2400" i="1" dirty="0" smtClean="0">
                <a:solidFill>
                  <a:schemeClr val="tx1">
                    <a:lumMod val="50000"/>
                  </a:schemeClr>
                </a:solidFill>
              </a:rPr>
              <a:t>Research Director</a:t>
            </a:r>
          </a:p>
          <a:p>
            <a:pPr marL="174625" lvl="1" indent="0">
              <a:buClr>
                <a:srgbClr val="FF0000"/>
              </a:buClr>
              <a:buSzPct val="100000"/>
              <a:buNone/>
            </a:pPr>
            <a:r>
              <a:rPr lang="en-US" sz="2400" i="1" dirty="0" smtClean="0">
                <a:solidFill>
                  <a:schemeClr val="tx1">
                    <a:lumMod val="50000"/>
                  </a:schemeClr>
                </a:solidFill>
              </a:rPr>
              <a:t>Public Sector &amp; </a:t>
            </a:r>
            <a:r>
              <a:rPr lang="en-US" sz="2400" i="1" dirty="0" err="1" smtClean="0">
                <a:solidFill>
                  <a:schemeClr val="tx1">
                    <a:lumMod val="50000"/>
                  </a:schemeClr>
                </a:solidFill>
              </a:rPr>
              <a:t>NfP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220693403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 smtClean="0"/>
              <a:t>Who took part</a:t>
            </a:r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9625F87-44A5-4BCE-BECC-3F62853E43A0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912961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48620" y="977886"/>
            <a:ext cx="7859038" cy="4872498"/>
            <a:chOff x="408632" y="1149082"/>
            <a:chExt cx="2377901" cy="1694698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513" t="6970" r="17428" b="12778"/>
            <a:stretch/>
          </p:blipFill>
          <p:spPr>
            <a:xfrm>
              <a:off x="408632" y="1149082"/>
              <a:ext cx="2377901" cy="1694698"/>
            </a:xfrm>
            <a:prstGeom prst="rect">
              <a:avLst/>
            </a:prstGeom>
          </p:spPr>
        </p:pic>
        <p:sp>
          <p:nvSpPr>
            <p:cNvPr id="8" name="Rounded Rectangle 7"/>
            <p:cNvSpPr/>
            <p:nvPr/>
          </p:nvSpPr>
          <p:spPr>
            <a:xfrm rot="1867410">
              <a:off x="694542" y="2080794"/>
              <a:ext cx="769447" cy="575840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92D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 smtClean="0">
                  <a:solidFill>
                    <a:srgbClr val="000000"/>
                  </a:solidFill>
                </a:rPr>
                <a:t>105 Indirect </a:t>
              </a:r>
            </a:p>
            <a:p>
              <a:pPr algn="ctr"/>
              <a:r>
                <a:rPr lang="en-GB" sz="3200" b="1" dirty="0" smtClean="0">
                  <a:solidFill>
                    <a:srgbClr val="000000"/>
                  </a:solidFill>
                </a:rPr>
                <a:t>suppliers</a:t>
              </a:r>
              <a:endParaRPr lang="en-GB" sz="3200" b="1" dirty="0">
                <a:solidFill>
                  <a:srgbClr val="000000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 rot="20967311">
              <a:off x="1164633" y="1568153"/>
              <a:ext cx="1398635" cy="56055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 smtClean="0">
                  <a:solidFill>
                    <a:srgbClr val="000000"/>
                  </a:solidFill>
                </a:rPr>
                <a:t>921 Direct suppliers</a:t>
              </a:r>
              <a:endParaRPr lang="en-GB" sz="3200" b="1" dirty="0">
                <a:solidFill>
                  <a:srgbClr val="000000"/>
                </a:solidFill>
              </a:endParaRPr>
            </a:p>
          </p:txBody>
        </p:sp>
      </p:grpSp>
      <p:sp>
        <p:nvSpPr>
          <p:cNvPr id="2" name="Text Placeholder 1"/>
          <p:cNvSpPr>
            <a:spLocks noGrp="1"/>
          </p:cNvSpPr>
          <p:nvPr>
            <p:ph type="body" sz="quarter" idx="19"/>
          </p:nvPr>
        </p:nvSpPr>
        <p:spPr>
          <a:xfrm>
            <a:off x="480539" y="6029467"/>
            <a:ext cx="6049859" cy="788424"/>
          </a:xfrm>
        </p:spPr>
        <p:txBody>
          <a:bodyPr/>
          <a:lstStyle/>
          <a:p>
            <a:pPr lvl="1">
              <a:buClr>
                <a:srgbClr val="FF0000"/>
              </a:buClr>
              <a:buSzPct val="100000"/>
            </a:pPr>
            <a:r>
              <a:rPr lang="en-US" sz="2400" dirty="0" smtClean="0">
                <a:solidFill>
                  <a:schemeClr val="tx1">
                    <a:lumMod val="50000"/>
                  </a:schemeClr>
                </a:solidFill>
              </a:rPr>
              <a:t>Live 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from </a:t>
            </a:r>
            <a:r>
              <a:rPr lang="en-US" sz="2400" dirty="0" smtClean="0">
                <a:solidFill>
                  <a:schemeClr val="tx1">
                    <a:lumMod val="50000"/>
                  </a:schemeClr>
                </a:solidFill>
              </a:rPr>
              <a:t>14</a:t>
            </a:r>
            <a:r>
              <a:rPr lang="en-US" sz="2400" baseline="30000" dirty="0" smtClean="0">
                <a:solidFill>
                  <a:schemeClr val="tx1">
                    <a:lumMod val="50000"/>
                  </a:schemeClr>
                </a:solidFill>
              </a:rPr>
              <a:t>th</a:t>
            </a:r>
            <a:r>
              <a:rPr lang="en-US" sz="2400" dirty="0" smtClean="0">
                <a:solidFill>
                  <a:schemeClr val="tx1">
                    <a:lumMod val="50000"/>
                  </a:schemeClr>
                </a:solidFill>
              </a:rPr>
              <a:t> March 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to </a:t>
            </a:r>
            <a:r>
              <a:rPr lang="en-US" sz="2400" dirty="0" smtClean="0">
                <a:solidFill>
                  <a:schemeClr val="tx1">
                    <a:lumMod val="50000"/>
                  </a:schemeClr>
                </a:solidFill>
              </a:rPr>
              <a:t>6</a:t>
            </a:r>
            <a:r>
              <a:rPr lang="en-US" sz="2400" baseline="30000" dirty="0" smtClean="0">
                <a:solidFill>
                  <a:schemeClr val="tx1">
                    <a:lumMod val="50000"/>
                  </a:schemeClr>
                </a:solidFill>
              </a:rPr>
              <a:t>th</a:t>
            </a:r>
            <a:r>
              <a:rPr lang="en-US" sz="2400" dirty="0" smtClean="0">
                <a:solidFill>
                  <a:schemeClr val="tx1">
                    <a:lumMod val="50000"/>
                  </a:schemeClr>
                </a:solidFill>
              </a:rPr>
              <a:t> May 2016</a:t>
            </a: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lvl="1">
              <a:buClr>
                <a:srgbClr val="92D050"/>
              </a:buClr>
              <a:buSzPct val="100000"/>
            </a:pPr>
            <a:endParaRPr lang="en-US" sz="2400" dirty="0">
              <a:solidFill>
                <a:srgbClr val="6D6F71"/>
              </a:solidFill>
            </a:endParaRPr>
          </a:p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148620" y="158752"/>
            <a:ext cx="8580438" cy="690492"/>
          </a:xfrm>
        </p:spPr>
        <p:txBody>
          <a:bodyPr/>
          <a:lstStyle/>
          <a:p>
            <a:r>
              <a:rPr lang="en-GB" dirty="0"/>
              <a:t>Survey details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9625F87-44A5-4BCE-BECC-3F62853E43A0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15" name="Rounded Rectangle 14"/>
          <p:cNvSpPr/>
          <p:nvPr/>
        </p:nvSpPr>
        <p:spPr>
          <a:xfrm>
            <a:off x="4404388" y="4031956"/>
            <a:ext cx="2497023" cy="1280536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 smtClean="0">
                <a:solidFill>
                  <a:srgbClr val="000000"/>
                </a:solidFill>
              </a:rPr>
              <a:t>44 Trade Associations</a:t>
            </a:r>
            <a:endParaRPr lang="en-GB" sz="32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163635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57" y="310572"/>
            <a:ext cx="8858250" cy="466726"/>
          </a:xfrm>
        </p:spPr>
        <p:txBody>
          <a:bodyPr/>
          <a:lstStyle/>
          <a:p>
            <a:r>
              <a:rPr lang="en-GB" sz="3200" dirty="0" smtClean="0"/>
              <a:t>Who took part?</a:t>
            </a:r>
            <a:endParaRPr lang="en-GB" sz="32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5610C8-4100-4700-A695-ED7D190A45BE}" type="slidenum">
              <a:rPr lang="en-GB" smtClean="0">
                <a:solidFill>
                  <a:srgbClr val="6D6F71"/>
                </a:solidFill>
              </a:rPr>
              <a:pPr/>
              <a:t>4</a:t>
            </a:fld>
            <a:endParaRPr lang="en-GB" dirty="0">
              <a:solidFill>
                <a:srgbClr val="6D6F7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80287" y="1697489"/>
            <a:ext cx="1037968" cy="2333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dirty="0" smtClean="0">
                <a:solidFill>
                  <a:schemeClr val="bg1"/>
                </a:solidFill>
              </a:rPr>
              <a:t>2015</a:t>
            </a:r>
            <a:endParaRPr lang="en-GB" sz="1800" dirty="0">
              <a:solidFill>
                <a:schemeClr val="bg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80287" y="2078975"/>
            <a:ext cx="1037968" cy="2333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dirty="0" smtClean="0">
                <a:solidFill>
                  <a:schemeClr val="bg1"/>
                </a:solidFill>
              </a:rPr>
              <a:t>2014</a:t>
            </a:r>
            <a:endParaRPr lang="en-GB" sz="1800" dirty="0">
              <a:solidFill>
                <a:schemeClr val="bg1"/>
              </a:solidFill>
            </a:endParaRPr>
          </a:p>
        </p:txBody>
      </p:sp>
      <p:graphicFrame>
        <p:nvGraphicFramePr>
          <p:cNvPr id="11" name="Chart 10"/>
          <p:cNvGraphicFramePr/>
          <p:nvPr>
            <p:extLst>
              <p:ext uri="{D42A27DB-BD31-4B8C-83A1-F6EECF244321}">
                <p14:modId xmlns:p14="http://schemas.microsoft.com/office/powerpoint/2010/main" val="3759887012"/>
              </p:ext>
            </p:extLst>
          </p:nvPr>
        </p:nvGraphicFramePr>
        <p:xfrm>
          <a:off x="108857" y="829550"/>
          <a:ext cx="8715547" cy="25056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-335872" y="3482790"/>
            <a:ext cx="5334093" cy="2501551"/>
            <a:chOff x="152400" y="4276503"/>
            <a:chExt cx="5334093" cy="2167447"/>
          </a:xfrm>
        </p:grpSpPr>
        <p:graphicFrame>
          <p:nvGraphicFramePr>
            <p:cNvPr id="19" name="Chart 18"/>
            <p:cNvGraphicFramePr/>
            <p:nvPr>
              <p:extLst>
                <p:ext uri="{D42A27DB-BD31-4B8C-83A1-F6EECF244321}">
                  <p14:modId xmlns:p14="http://schemas.microsoft.com/office/powerpoint/2010/main" val="3630281676"/>
                </p:ext>
              </p:extLst>
            </p:nvPr>
          </p:nvGraphicFramePr>
          <p:xfrm>
            <a:off x="1995986" y="4400379"/>
            <a:ext cx="3490507" cy="187220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grpSp>
          <p:nvGrpSpPr>
            <p:cNvPr id="4" name="Group 3"/>
            <p:cNvGrpSpPr/>
            <p:nvPr/>
          </p:nvGrpSpPr>
          <p:grpSpPr>
            <a:xfrm>
              <a:off x="152400" y="4276503"/>
              <a:ext cx="4763954" cy="2167447"/>
              <a:chOff x="152400" y="4276503"/>
              <a:chExt cx="4763954" cy="2167447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600624" y="4276503"/>
                <a:ext cx="4315730" cy="2167447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aphicFrame>
            <p:nvGraphicFramePr>
              <p:cNvPr id="22" name="Chart 21"/>
              <p:cNvGraphicFramePr/>
              <p:nvPr>
                <p:extLst>
                  <p:ext uri="{D42A27DB-BD31-4B8C-83A1-F6EECF244321}">
                    <p14:modId xmlns:p14="http://schemas.microsoft.com/office/powerpoint/2010/main" val="1013038917"/>
                  </p:ext>
                </p:extLst>
              </p:nvPr>
            </p:nvGraphicFramePr>
            <p:xfrm>
              <a:off x="152400" y="4424122"/>
              <a:ext cx="2335983" cy="187220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4"/>
              </a:graphicData>
            </a:graphic>
          </p:graphicFrame>
          <p:sp>
            <p:nvSpPr>
              <p:cNvPr id="23" name="Rectangle 22"/>
              <p:cNvSpPr/>
              <p:nvPr/>
            </p:nvSpPr>
            <p:spPr>
              <a:xfrm>
                <a:off x="1014099" y="4709060"/>
                <a:ext cx="827314" cy="21771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400" dirty="0" smtClean="0">
                    <a:solidFill>
                      <a:schemeClr val="tx1">
                        <a:lumMod val="50000"/>
                      </a:schemeClr>
                    </a:solidFill>
                  </a:rPr>
                  <a:t>2015</a:t>
                </a:r>
                <a:endParaRPr lang="en-GB" sz="1400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3489869" y="4694594"/>
                <a:ext cx="827314" cy="21771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400" dirty="0" smtClean="0">
                    <a:solidFill>
                      <a:schemeClr val="tx1">
                        <a:lumMod val="50000"/>
                      </a:schemeClr>
                    </a:solidFill>
                  </a:rPr>
                  <a:t>2016</a:t>
                </a:r>
                <a:endParaRPr lang="en-GB" sz="1400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1440722" y="4328755"/>
                <a:ext cx="2264228" cy="2213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400" b="1" dirty="0" smtClean="0">
                    <a:solidFill>
                      <a:schemeClr val="tx1">
                        <a:lumMod val="50000"/>
                      </a:schemeClr>
                    </a:solidFill>
                  </a:rPr>
                  <a:t>Personally based…</a:t>
                </a:r>
                <a:endParaRPr lang="en-GB" sz="1400" b="1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</p:grpSp>
      </p:grpSp>
      <p:graphicFrame>
        <p:nvGraphicFramePr>
          <p:cNvPr id="29" name="Chart 28"/>
          <p:cNvGraphicFramePr/>
          <p:nvPr>
            <p:extLst>
              <p:ext uri="{D42A27DB-BD31-4B8C-83A1-F6EECF244321}">
                <p14:modId xmlns:p14="http://schemas.microsoft.com/office/powerpoint/2010/main" val="1826289086"/>
              </p:ext>
            </p:extLst>
          </p:nvPr>
        </p:nvGraphicFramePr>
        <p:xfrm>
          <a:off x="4742132" y="3503019"/>
          <a:ext cx="4082272" cy="24813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Rectangle 29"/>
          <p:cNvSpPr/>
          <p:nvPr/>
        </p:nvSpPr>
        <p:spPr>
          <a:xfrm>
            <a:off x="3690857" y="859963"/>
            <a:ext cx="2102549" cy="32443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 dirty="0">
                <a:solidFill>
                  <a:schemeClr val="tx1">
                    <a:lumMod val="50000"/>
                  </a:schemeClr>
                </a:solidFill>
              </a:rPr>
              <a:t>S</a:t>
            </a:r>
            <a:r>
              <a:rPr lang="en-GB" sz="1800" b="1" dirty="0" smtClean="0">
                <a:solidFill>
                  <a:schemeClr val="tx1">
                    <a:lumMod val="50000"/>
                  </a:schemeClr>
                </a:solidFill>
              </a:rPr>
              <a:t>upplier categories</a:t>
            </a:r>
            <a:endParaRPr lang="en-GB" sz="1800" b="1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878474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48840"/>
            <a:ext cx="8858250" cy="466726"/>
          </a:xfrm>
        </p:spPr>
        <p:txBody>
          <a:bodyPr/>
          <a:lstStyle/>
          <a:p>
            <a:r>
              <a:rPr lang="en-GB" sz="3200" dirty="0" smtClean="0"/>
              <a:t>Which retailers supplied?</a:t>
            </a:r>
            <a:endParaRPr lang="en-GB" sz="32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5610C8-4100-4700-A695-ED7D190A45BE}" type="slidenum">
              <a:rPr lang="en-GB" smtClean="0">
                <a:solidFill>
                  <a:srgbClr val="6D6F71"/>
                </a:solidFill>
              </a:rPr>
              <a:pPr/>
              <a:t>5</a:t>
            </a:fld>
            <a:endParaRPr lang="en-GB" dirty="0">
              <a:solidFill>
                <a:srgbClr val="6D6F7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65576" y="-2987"/>
            <a:ext cx="2178424" cy="16754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/>
              <a:t>Direct suppliers</a:t>
            </a:r>
            <a:endParaRPr lang="en-GB" sz="1400" b="1" dirty="0"/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1859922738"/>
              </p:ext>
            </p:extLst>
          </p:nvPr>
        </p:nvGraphicFramePr>
        <p:xfrm>
          <a:off x="0" y="815565"/>
          <a:ext cx="8886548" cy="53011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1689380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>
                <a:solidFill>
                  <a:schemeClr val="tx1">
                    <a:lumMod val="50000"/>
                  </a:schemeClr>
                </a:solidFill>
              </a:rPr>
              <a:t>Awareness of </a:t>
            </a:r>
            <a:r>
              <a:rPr lang="en-GB" dirty="0" smtClean="0">
                <a:solidFill>
                  <a:schemeClr val="tx1">
                    <a:lumMod val="50000"/>
                  </a:schemeClr>
                </a:solidFill>
              </a:rPr>
              <a:t>the Code </a:t>
            </a:r>
            <a:r>
              <a:rPr lang="en-GB" dirty="0">
                <a:solidFill>
                  <a:schemeClr val="tx1">
                    <a:lumMod val="50000"/>
                  </a:schemeClr>
                </a:solidFill>
              </a:rPr>
              <a:t>and GCA</a:t>
            </a:r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9625F87-44A5-4BCE-BECC-3F62853E43A0}" type="slidenum">
              <a:rPr lang="en-GB" smtClean="0"/>
              <a:pPr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874674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513" y="346208"/>
            <a:ext cx="8858250" cy="466726"/>
          </a:xfrm>
        </p:spPr>
        <p:txBody>
          <a:bodyPr/>
          <a:lstStyle/>
          <a:p>
            <a:r>
              <a:rPr lang="en-GB" sz="3200" dirty="0" smtClean="0"/>
              <a:t>‘Good’ level of Code understanding rises by 7pp</a:t>
            </a:r>
            <a:endParaRPr lang="en-GB" sz="32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5610C8-4100-4700-A695-ED7D190A45BE}" type="slidenum">
              <a:rPr lang="en-GB" smtClean="0">
                <a:solidFill>
                  <a:srgbClr val="6D6F71"/>
                </a:solidFill>
              </a:rPr>
              <a:pPr/>
              <a:t>7</a:t>
            </a:fld>
            <a:endParaRPr lang="en-GB" dirty="0">
              <a:solidFill>
                <a:srgbClr val="6D6F7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56732" y="5245241"/>
            <a:ext cx="3334268" cy="925988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 smtClean="0"/>
              <a:t>Large direct suppliers are most likely to have a ‘good’ understanding of the Code (40%).</a:t>
            </a:r>
          </a:p>
        </p:txBody>
      </p:sp>
      <p:graphicFrame>
        <p:nvGraphicFramePr>
          <p:cNvPr id="9" name="Chart 8"/>
          <p:cNvGraphicFramePr/>
          <p:nvPr>
            <p:extLst>
              <p:ext uri="{D42A27DB-BD31-4B8C-83A1-F6EECF244321}">
                <p14:modId xmlns:p14="http://schemas.microsoft.com/office/powerpoint/2010/main" val="31661390"/>
              </p:ext>
            </p:extLst>
          </p:nvPr>
        </p:nvGraphicFramePr>
        <p:xfrm>
          <a:off x="152400" y="996770"/>
          <a:ext cx="8938477" cy="42484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377268" y="5245241"/>
            <a:ext cx="2446866" cy="119789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 smtClean="0"/>
              <a:t>Only 54% of direct suppliers outside the UK are aware of </a:t>
            </a:r>
            <a:r>
              <a:rPr lang="en-GB" sz="1600" b="1" smtClean="0"/>
              <a:t>the Code.</a:t>
            </a:r>
            <a:endParaRPr lang="en-GB" sz="1600" b="1" dirty="0" smtClean="0"/>
          </a:p>
        </p:txBody>
      </p:sp>
    </p:spTree>
    <p:extLst>
      <p:ext uri="{BB962C8B-B14F-4D97-AF65-F5344CB8AC3E}">
        <p14:creationId xmlns:p14="http://schemas.microsoft.com/office/powerpoint/2010/main" val="420133684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633" y="650265"/>
            <a:ext cx="8858250" cy="466726"/>
          </a:xfrm>
        </p:spPr>
        <p:txBody>
          <a:bodyPr/>
          <a:lstStyle/>
          <a:p>
            <a:r>
              <a:rPr lang="en-GB" sz="2800" dirty="0" smtClean="0"/>
              <a:t>‘Good’ understanding of the GCA’s role and responsibilities rises by 7pp</a:t>
            </a:r>
            <a:endParaRPr lang="en-GB" sz="2800" dirty="0"/>
          </a:p>
        </p:txBody>
      </p:sp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2699255477"/>
              </p:ext>
            </p:extLst>
          </p:nvPr>
        </p:nvGraphicFramePr>
        <p:xfrm>
          <a:off x="504566" y="982606"/>
          <a:ext cx="8640960" cy="53237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5610C8-4100-4700-A695-ED7D190A45BE}" type="slidenum">
              <a:rPr lang="en-GB" smtClean="0">
                <a:solidFill>
                  <a:srgbClr val="6D6F71"/>
                </a:solidFill>
              </a:rPr>
              <a:pPr/>
              <a:t>8</a:t>
            </a:fld>
            <a:endParaRPr lang="en-GB" dirty="0">
              <a:solidFill>
                <a:srgbClr val="6D6F7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2633" y="4411232"/>
            <a:ext cx="1608196" cy="670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 smtClean="0">
                <a:solidFill>
                  <a:schemeClr val="tx1">
                    <a:lumMod val="50000"/>
                  </a:schemeClr>
                </a:solidFill>
              </a:rPr>
              <a:t>Trade associations</a:t>
            </a:r>
            <a:endParaRPr lang="en-GB" sz="16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57743" y="1356343"/>
            <a:ext cx="1397977" cy="670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 smtClean="0">
                <a:solidFill>
                  <a:schemeClr val="tx1">
                    <a:lumMod val="50000"/>
                  </a:schemeClr>
                </a:solidFill>
              </a:rPr>
              <a:t>Direct suppliers</a:t>
            </a:r>
            <a:endParaRPr lang="en-GB" sz="16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2633" y="2995276"/>
            <a:ext cx="1608196" cy="670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 smtClean="0">
                <a:solidFill>
                  <a:schemeClr val="tx1">
                    <a:lumMod val="50000"/>
                  </a:schemeClr>
                </a:solidFill>
              </a:rPr>
              <a:t>Indirect suppliers</a:t>
            </a:r>
            <a:endParaRPr lang="en-GB" sz="16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4566" y="5440824"/>
            <a:ext cx="2446866" cy="119789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 smtClean="0"/>
              <a:t>Only 54% of direct suppliers outside the UK are aware of the Code (94% UK).</a:t>
            </a:r>
          </a:p>
        </p:txBody>
      </p:sp>
    </p:spTree>
    <p:extLst>
      <p:ext uri="{BB962C8B-B14F-4D97-AF65-F5344CB8AC3E}">
        <p14:creationId xmlns:p14="http://schemas.microsoft.com/office/powerpoint/2010/main" val="138842843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739" y="728406"/>
            <a:ext cx="8858250" cy="466726"/>
          </a:xfrm>
        </p:spPr>
        <p:txBody>
          <a:bodyPr/>
          <a:lstStyle/>
          <a:p>
            <a:r>
              <a:rPr lang="en-GB" sz="3200" dirty="0" smtClean="0"/>
              <a:t>No increase in whether direct suppliers would raise issues with the GCA</a:t>
            </a:r>
            <a:endParaRPr lang="en-GB" sz="3200" dirty="0"/>
          </a:p>
        </p:txBody>
      </p:sp>
      <p:graphicFrame>
        <p:nvGraphicFramePr>
          <p:cNvPr id="16" name="Chart 15"/>
          <p:cNvGraphicFramePr/>
          <p:nvPr>
            <p:extLst/>
          </p:nvPr>
        </p:nvGraphicFramePr>
        <p:xfrm>
          <a:off x="503040" y="1124745"/>
          <a:ext cx="8640960" cy="37444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52400" y="5065841"/>
            <a:ext cx="8833589" cy="864095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S</a:t>
            </a:r>
            <a:r>
              <a:rPr lang="en-GB" sz="1400" b="1" dirty="0" smtClean="0"/>
              <a:t>maller suppliers are more likely to consider raising issues with the GCA than larger ones-</a:t>
            </a:r>
          </a:p>
          <a:p>
            <a:pPr algn="ctr"/>
            <a:r>
              <a:rPr lang="en-GB" sz="1400" b="1" dirty="0" smtClean="0"/>
              <a:t>53% of micro &amp; small suppliers say they would consider raising an issue, compared to 45% of large suppliers. </a:t>
            </a:r>
            <a:endParaRPr lang="en-GB" sz="1400" b="1" dirty="0"/>
          </a:p>
        </p:txBody>
      </p:sp>
      <p:sp>
        <p:nvSpPr>
          <p:cNvPr id="3" name="Rectangle 2"/>
          <p:cNvSpPr/>
          <p:nvPr/>
        </p:nvSpPr>
        <p:spPr>
          <a:xfrm>
            <a:off x="52634" y="3648231"/>
            <a:ext cx="1608196" cy="670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tx1">
                    <a:lumMod val="50000"/>
                  </a:schemeClr>
                </a:solidFill>
              </a:rPr>
              <a:t>Trade associations</a:t>
            </a:r>
            <a:endParaRPr lang="en-GB" sz="1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2634" y="1278775"/>
            <a:ext cx="1608196" cy="670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tx1">
                    <a:lumMod val="50000"/>
                  </a:schemeClr>
                </a:solidFill>
              </a:rPr>
              <a:t>Direct suppliers</a:t>
            </a:r>
            <a:endParaRPr lang="en-GB" sz="1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2634" y="2476574"/>
            <a:ext cx="1608196" cy="670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tx1">
                    <a:lumMod val="50000"/>
                  </a:schemeClr>
                </a:solidFill>
              </a:rPr>
              <a:t>Indirect suppliers</a:t>
            </a:r>
            <a:endParaRPr lang="en-GB" sz="1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27739" y="2360080"/>
            <a:ext cx="8858250" cy="1018902"/>
          </a:xfrm>
          <a:prstGeom prst="rect">
            <a:avLst/>
          </a:prstGeom>
          <a:noFill/>
          <a:ln w="28575">
            <a:solidFill>
              <a:srgbClr val="00B0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5610C8-4100-4700-A695-ED7D190A45BE}" type="slidenum">
              <a:rPr lang="en-GB" smtClean="0">
                <a:solidFill>
                  <a:srgbClr val="6D6F71"/>
                </a:solidFill>
              </a:rPr>
              <a:pPr/>
              <a:t>9</a:t>
            </a:fld>
            <a:endParaRPr lang="en-GB" dirty="0">
              <a:solidFill>
                <a:srgbClr val="6D6F71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4556864" y="2456857"/>
            <a:ext cx="1036320" cy="74023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134739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5610C8-4100-4700-A695-ED7D190A45BE}" type="slidenum">
              <a:rPr lang="en-GB" smtClean="0">
                <a:solidFill>
                  <a:srgbClr val="6D6F71"/>
                </a:solidFill>
              </a:rPr>
              <a:pPr/>
              <a:t>10</a:t>
            </a:fld>
            <a:endParaRPr lang="en-GB" dirty="0">
              <a:solidFill>
                <a:srgbClr val="6D6F71"/>
              </a:solidFill>
            </a:endParaRPr>
          </a:p>
        </p:txBody>
      </p:sp>
      <p:sp>
        <p:nvSpPr>
          <p:cNvPr id="32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313056" y="212401"/>
            <a:ext cx="8580438" cy="690492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3200" dirty="0" smtClean="0">
                <a:solidFill>
                  <a:schemeClr val="tx1">
                    <a:lumMod val="50000"/>
                  </a:schemeClr>
                </a:solidFill>
              </a:rPr>
              <a:t>Why not raise an issue?</a:t>
            </a:r>
            <a:endParaRPr lang="en-GB" sz="3200" dirty="0">
              <a:solidFill>
                <a:schemeClr val="tx1">
                  <a:lumMod val="50000"/>
                </a:schemeClr>
              </a:solidFill>
            </a:endParaRPr>
          </a:p>
        </p:txBody>
      </p:sp>
      <p:graphicFrame>
        <p:nvGraphicFramePr>
          <p:cNvPr id="33" name="Chart 32"/>
          <p:cNvGraphicFramePr/>
          <p:nvPr>
            <p:extLst>
              <p:ext uri="{D42A27DB-BD31-4B8C-83A1-F6EECF244321}">
                <p14:modId xmlns:p14="http://schemas.microsoft.com/office/powerpoint/2010/main" val="3811554463"/>
              </p:ext>
            </p:extLst>
          </p:nvPr>
        </p:nvGraphicFramePr>
        <p:xfrm>
          <a:off x="4286962" y="212401"/>
          <a:ext cx="4767188" cy="57885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3" name="Chart 42"/>
          <p:cNvGraphicFramePr/>
          <p:nvPr>
            <p:extLst>
              <p:ext uri="{D42A27DB-BD31-4B8C-83A1-F6EECF244321}">
                <p14:modId xmlns:p14="http://schemas.microsoft.com/office/powerpoint/2010/main" val="133764772"/>
              </p:ext>
            </p:extLst>
          </p:nvPr>
        </p:nvGraphicFramePr>
        <p:xfrm>
          <a:off x="152400" y="810079"/>
          <a:ext cx="3000556" cy="51908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Right Arrow 19"/>
          <p:cNvSpPr/>
          <p:nvPr/>
        </p:nvSpPr>
        <p:spPr>
          <a:xfrm rot="19292563">
            <a:off x="2230896" y="2184719"/>
            <a:ext cx="2331252" cy="1181135"/>
          </a:xfrm>
          <a:prstGeom prst="rightArrow">
            <a:avLst>
              <a:gd name="adj1" fmla="val 50000"/>
              <a:gd name="adj2" fmla="val 57023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Among this 17%...</a:t>
            </a:r>
            <a:endParaRPr lang="en-GB" sz="1400" dirty="0"/>
          </a:p>
        </p:txBody>
      </p:sp>
      <p:sp>
        <p:nvSpPr>
          <p:cNvPr id="13" name="Right Arrow 12"/>
          <p:cNvSpPr/>
          <p:nvPr/>
        </p:nvSpPr>
        <p:spPr>
          <a:xfrm>
            <a:off x="2691403" y="2945422"/>
            <a:ext cx="1678374" cy="3191303"/>
          </a:xfrm>
          <a:prstGeom prst="rightArrow">
            <a:avLst>
              <a:gd name="adj1" fmla="val 50000"/>
              <a:gd name="adj2" fmla="val 57023"/>
            </a:avLst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Among this 36%...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42780510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6"/>
          <p:cNvGraphicFramePr/>
          <p:nvPr>
            <p:extLst/>
          </p:nvPr>
        </p:nvGraphicFramePr>
        <p:xfrm>
          <a:off x="23732" y="764704"/>
          <a:ext cx="8868748" cy="5328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128651" y="4270552"/>
            <a:ext cx="2822914" cy="1286189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/>
              <a:t>An increase in the proportion of direct suppliers judging the GCA’s success based on ‘suppliers having greater influence over the terms of the supply’.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5610C8-4100-4700-A695-ED7D190A45BE}" type="slidenum">
              <a:rPr lang="en-GB" smtClean="0">
                <a:solidFill>
                  <a:srgbClr val="6D6F71"/>
                </a:solidFill>
              </a:rPr>
              <a:pPr/>
              <a:t>11</a:t>
            </a:fld>
            <a:endParaRPr lang="en-GB" dirty="0">
              <a:solidFill>
                <a:srgbClr val="6D6F71"/>
              </a:solidFill>
            </a:endParaRP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152400" y="326795"/>
            <a:ext cx="8858250" cy="466726"/>
          </a:xfrm>
          <a:prstGeom prst="rect">
            <a:avLst/>
          </a:prstGeom>
        </p:spPr>
        <p:txBody>
          <a:bodyPr vert="horz" lIns="90000" tIns="45720" rIns="91440" bIns="45720" rtlCol="0" anchor="b" anchorCtr="0">
            <a:noAutofit/>
          </a:bodyPr>
          <a:lstStyle>
            <a:lvl1pPr algn="l" defTabSz="984033" rtl="0" eaLnBrk="1" latinLnBrk="0" hangingPunct="1">
              <a:spcBef>
                <a:spcPct val="0"/>
              </a:spcBef>
              <a:buNone/>
              <a:defRPr sz="3600" b="0" kern="1200">
                <a:solidFill>
                  <a:srgbClr val="000000"/>
                </a:solidFill>
                <a:latin typeface="Calibri" panose="020F0502020204030204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sz="3200" smtClean="0"/>
              <a:t>The GCA’s Critical Success Factors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53537250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 smtClean="0">
                <a:solidFill>
                  <a:schemeClr val="tx1">
                    <a:lumMod val="50000"/>
                  </a:schemeClr>
                </a:solidFill>
              </a:rPr>
              <a:t>Training on the Code</a:t>
            </a:r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9625F87-44A5-4BCE-BECC-3F62853E43A0}" type="slidenum">
              <a:rPr lang="en-GB" smtClean="0"/>
              <a:pPr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7149906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5610C8-4100-4700-A695-ED7D190A45BE}" type="slidenum">
              <a:rPr lang="en-GB" smtClean="0">
                <a:solidFill>
                  <a:srgbClr val="6D6F71"/>
                </a:solidFill>
              </a:rPr>
              <a:pPr/>
              <a:t>13</a:t>
            </a:fld>
            <a:endParaRPr lang="en-GB" dirty="0">
              <a:solidFill>
                <a:srgbClr val="6D6F71"/>
              </a:solidFill>
            </a:endParaRP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152400" y="260344"/>
            <a:ext cx="8852716" cy="609789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800" dirty="0" smtClean="0">
                <a:solidFill>
                  <a:schemeClr val="tx1">
                    <a:lumMod val="50000"/>
                  </a:schemeClr>
                </a:solidFill>
              </a:rPr>
              <a:t>A rise in the proportion of direct suppliers receiving training</a:t>
            </a:r>
            <a:endParaRPr lang="en-GB" sz="2800" dirty="0">
              <a:solidFill>
                <a:schemeClr val="tx1">
                  <a:lumMod val="50000"/>
                </a:schemeClr>
              </a:solidFill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380867" y="1290752"/>
            <a:ext cx="3117205" cy="4155388"/>
            <a:chOff x="2778812" y="1350674"/>
            <a:chExt cx="3587952" cy="4155388"/>
          </a:xfrm>
        </p:grpSpPr>
        <p:graphicFrame>
          <p:nvGraphicFramePr>
            <p:cNvPr id="35" name="Chart 34"/>
            <p:cNvGraphicFramePr/>
            <p:nvPr>
              <p:extLst/>
            </p:nvPr>
          </p:nvGraphicFramePr>
          <p:xfrm>
            <a:off x="2982805" y="2410273"/>
            <a:ext cx="3179974" cy="203619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graphicFrame>
          <p:nvGraphicFramePr>
            <p:cNvPr id="34" name="Chart 33"/>
            <p:cNvGraphicFramePr/>
            <p:nvPr>
              <p:extLst>
                <p:ext uri="{D42A27DB-BD31-4B8C-83A1-F6EECF244321}">
                  <p14:modId xmlns:p14="http://schemas.microsoft.com/office/powerpoint/2010/main" val="2808498959"/>
                </p:ext>
              </p:extLst>
            </p:nvPr>
          </p:nvGraphicFramePr>
          <p:xfrm>
            <a:off x="2778812" y="1350674"/>
            <a:ext cx="3587952" cy="415538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36" name="Rectangle 35"/>
            <p:cNvSpPr/>
            <p:nvPr/>
          </p:nvSpPr>
          <p:spPr>
            <a:xfrm>
              <a:off x="4158006" y="2488356"/>
              <a:ext cx="829559" cy="282804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 smtClean="0">
                  <a:solidFill>
                    <a:schemeClr val="tx1">
                      <a:lumMod val="50000"/>
                    </a:schemeClr>
                  </a:solidFill>
                </a:rPr>
                <a:t>2015</a:t>
              </a:r>
              <a:endParaRPr lang="en-GB" sz="1600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</p:grpSp>
      <p:sp>
        <p:nvSpPr>
          <p:cNvPr id="33" name="Rectangle 32"/>
          <p:cNvSpPr/>
          <p:nvPr/>
        </p:nvSpPr>
        <p:spPr>
          <a:xfrm>
            <a:off x="665301" y="1288601"/>
            <a:ext cx="2548335" cy="46071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62" b="1" i="0" u="none" strike="noStrike" kern="1200" spc="0" baseline="0">
                <a:solidFill>
                  <a:srgbClr val="6D6F71">
                    <a:lumMod val="50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GB" b="1" dirty="0">
                <a:solidFill>
                  <a:schemeClr val="tx1">
                    <a:lumMod val="50000"/>
                  </a:schemeClr>
                </a:solidFill>
              </a:rPr>
              <a:t>Have you received any training on the Code?</a:t>
            </a:r>
          </a:p>
        </p:txBody>
      </p:sp>
      <p:graphicFrame>
        <p:nvGraphicFramePr>
          <p:cNvPr id="45" name="Chart 44"/>
          <p:cNvGraphicFramePr/>
          <p:nvPr>
            <p:extLst>
              <p:ext uri="{D42A27DB-BD31-4B8C-83A1-F6EECF244321}">
                <p14:modId xmlns:p14="http://schemas.microsoft.com/office/powerpoint/2010/main" val="3889838256"/>
              </p:ext>
            </p:extLst>
          </p:nvPr>
        </p:nvGraphicFramePr>
        <p:xfrm>
          <a:off x="5005960" y="1864946"/>
          <a:ext cx="3378437" cy="34018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Right Arrow 46"/>
          <p:cNvSpPr/>
          <p:nvPr/>
        </p:nvSpPr>
        <p:spPr>
          <a:xfrm>
            <a:off x="3050931" y="2841426"/>
            <a:ext cx="1863510" cy="899295"/>
          </a:xfrm>
          <a:prstGeom prst="rightArrow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 47"/>
          <p:cNvSpPr/>
          <p:nvPr/>
        </p:nvSpPr>
        <p:spPr>
          <a:xfrm>
            <a:off x="5506453" y="1288601"/>
            <a:ext cx="2548335" cy="46071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62" b="1" i="0" u="none" strike="noStrike" kern="1200" spc="0" baseline="0">
                <a:solidFill>
                  <a:srgbClr val="6D6F71">
                    <a:lumMod val="50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GB" b="1" dirty="0" smtClean="0">
                <a:solidFill>
                  <a:schemeClr val="tx1">
                    <a:lumMod val="50000"/>
                  </a:schemeClr>
                </a:solidFill>
              </a:rPr>
              <a:t>And who provided this training?</a:t>
            </a:r>
            <a:endParaRPr lang="en-GB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72877" y="5290601"/>
            <a:ext cx="6192699" cy="1035829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 smtClean="0"/>
              <a:t>45% of Large suppliers say they have received training on the Code, compared to 29% of Micro &amp; small suppliers and 28% of Medium sized suppliers.</a:t>
            </a:r>
          </a:p>
        </p:txBody>
      </p:sp>
    </p:spTree>
    <p:extLst>
      <p:ext uri="{BB962C8B-B14F-4D97-AF65-F5344CB8AC3E}">
        <p14:creationId xmlns:p14="http://schemas.microsoft.com/office/powerpoint/2010/main" val="413745719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5610C8-4100-4700-A695-ED7D190A45BE}" type="slidenum">
              <a:rPr lang="en-GB" smtClean="0">
                <a:solidFill>
                  <a:srgbClr val="6D6F71"/>
                </a:solidFill>
              </a:rPr>
              <a:pPr/>
              <a:t>14</a:t>
            </a:fld>
            <a:endParaRPr lang="en-GB" dirty="0">
              <a:solidFill>
                <a:srgbClr val="6D6F71"/>
              </a:solidFill>
            </a:endParaRP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291284" y="306791"/>
            <a:ext cx="8580438" cy="487237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3200" dirty="0" smtClean="0">
                <a:solidFill>
                  <a:schemeClr val="tx1">
                    <a:lumMod val="50000"/>
                  </a:schemeClr>
                </a:solidFill>
              </a:rPr>
              <a:t>Awareness of training is low</a:t>
            </a:r>
            <a:endParaRPr lang="en-GB" sz="3200" dirty="0">
              <a:solidFill>
                <a:schemeClr val="tx1">
                  <a:lumMod val="50000"/>
                </a:schemeClr>
              </a:solidFill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5352815" y="1283498"/>
            <a:ext cx="3117205" cy="4155388"/>
            <a:chOff x="2778812" y="1350674"/>
            <a:chExt cx="3587952" cy="4155388"/>
          </a:xfrm>
        </p:grpSpPr>
        <p:graphicFrame>
          <p:nvGraphicFramePr>
            <p:cNvPr id="35" name="Chart 34"/>
            <p:cNvGraphicFramePr/>
            <p:nvPr>
              <p:extLst/>
            </p:nvPr>
          </p:nvGraphicFramePr>
          <p:xfrm>
            <a:off x="2982805" y="2410273"/>
            <a:ext cx="3179974" cy="203619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graphicFrame>
          <p:nvGraphicFramePr>
            <p:cNvPr id="34" name="Chart 33"/>
            <p:cNvGraphicFramePr/>
            <p:nvPr>
              <p:extLst/>
            </p:nvPr>
          </p:nvGraphicFramePr>
          <p:xfrm>
            <a:off x="2778812" y="1350674"/>
            <a:ext cx="3587952" cy="415538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36" name="Rectangle 35"/>
            <p:cNvSpPr/>
            <p:nvPr/>
          </p:nvSpPr>
          <p:spPr>
            <a:xfrm>
              <a:off x="4158010" y="2481580"/>
              <a:ext cx="829559" cy="282804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>
                  <a:solidFill>
                    <a:schemeClr val="tx1">
                      <a:lumMod val="50000"/>
                    </a:schemeClr>
                  </a:solidFill>
                </a:rPr>
                <a:t>2015</a:t>
              </a:r>
              <a:endParaRPr lang="en-GB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</p:grpSp>
      <p:sp>
        <p:nvSpPr>
          <p:cNvPr id="33" name="Rectangle 32"/>
          <p:cNvSpPr/>
          <p:nvPr/>
        </p:nvSpPr>
        <p:spPr>
          <a:xfrm>
            <a:off x="5637249" y="1274835"/>
            <a:ext cx="2548335" cy="46071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62" b="1" i="0" u="none" strike="noStrike" kern="1200" spc="0" baseline="0">
                <a:solidFill>
                  <a:srgbClr val="6D6F71">
                    <a:lumMod val="50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GB" b="1" dirty="0">
                <a:solidFill>
                  <a:schemeClr val="tx1">
                    <a:lumMod val="50000"/>
                  </a:schemeClr>
                </a:solidFill>
              </a:rPr>
              <a:t>Have you received any training on the Code?</a:t>
            </a:r>
          </a:p>
        </p:txBody>
      </p:sp>
      <p:graphicFrame>
        <p:nvGraphicFramePr>
          <p:cNvPr id="46" name="Chart 45"/>
          <p:cNvGraphicFramePr/>
          <p:nvPr>
            <p:extLst>
              <p:ext uri="{D42A27DB-BD31-4B8C-83A1-F6EECF244321}">
                <p14:modId xmlns:p14="http://schemas.microsoft.com/office/powerpoint/2010/main" val="3658244253"/>
              </p:ext>
            </p:extLst>
          </p:nvPr>
        </p:nvGraphicFramePr>
        <p:xfrm>
          <a:off x="755210" y="1890292"/>
          <a:ext cx="4015567" cy="45105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Rectangle 14"/>
          <p:cNvSpPr/>
          <p:nvPr/>
        </p:nvSpPr>
        <p:spPr>
          <a:xfrm>
            <a:off x="1107814" y="1247985"/>
            <a:ext cx="3310361" cy="46071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62" b="1" i="0" u="none" strike="noStrike" kern="1200" spc="0" baseline="0">
                <a:solidFill>
                  <a:srgbClr val="6D6F71">
                    <a:lumMod val="50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GB" b="1" dirty="0" smtClean="0">
                <a:solidFill>
                  <a:schemeClr val="tx1">
                    <a:lumMod val="50000"/>
                  </a:schemeClr>
                </a:solidFill>
              </a:rPr>
              <a:t>And why haven’t you received any training on the Code?</a:t>
            </a:r>
            <a:endParaRPr lang="en-GB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6" name="Right Arrow 15"/>
          <p:cNvSpPr/>
          <p:nvPr/>
        </p:nvSpPr>
        <p:spPr>
          <a:xfrm rot="10800000">
            <a:off x="4009292" y="2925414"/>
            <a:ext cx="1730706" cy="899295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ight Brace 1"/>
          <p:cNvSpPr/>
          <p:nvPr/>
        </p:nvSpPr>
        <p:spPr>
          <a:xfrm>
            <a:off x="4199334" y="2096392"/>
            <a:ext cx="264919" cy="591013"/>
          </a:xfrm>
          <a:prstGeom prst="rightBrace">
            <a:avLst/>
          </a:prstGeom>
          <a:ln w="28575">
            <a:solidFill>
              <a:srgbClr val="53ACA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/>
          <p:cNvSpPr/>
          <p:nvPr/>
        </p:nvSpPr>
        <p:spPr>
          <a:xfrm>
            <a:off x="4418175" y="2164586"/>
            <a:ext cx="1101959" cy="44445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dirty="0" smtClean="0">
                <a:solidFill>
                  <a:schemeClr val="tx1">
                    <a:lumMod val="50000"/>
                  </a:schemeClr>
                </a:solidFill>
              </a:rPr>
              <a:t>Net: 56%</a:t>
            </a:r>
            <a:endParaRPr lang="en-GB" sz="1800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348531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Chart 13"/>
          <p:cNvGraphicFramePr/>
          <p:nvPr>
            <p:extLst>
              <p:ext uri="{D42A27DB-BD31-4B8C-83A1-F6EECF244321}">
                <p14:modId xmlns:p14="http://schemas.microsoft.com/office/powerpoint/2010/main" val="3725718026"/>
              </p:ext>
            </p:extLst>
          </p:nvPr>
        </p:nvGraphicFramePr>
        <p:xfrm>
          <a:off x="301869" y="1138092"/>
          <a:ext cx="4825497" cy="30000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9821" y="242728"/>
            <a:ext cx="8580438" cy="801687"/>
          </a:xfrm>
        </p:spPr>
        <p:txBody>
          <a:bodyPr/>
          <a:lstStyle/>
          <a:p>
            <a:r>
              <a:rPr lang="en-GB" sz="2800" dirty="0" smtClean="0"/>
              <a:t>Many unsure whether their trade association offers training</a:t>
            </a:r>
            <a:endParaRPr lang="en-GB" sz="28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5610C8-4100-4700-A695-ED7D190A45BE}" type="slidenum">
              <a:rPr lang="en-GB" smtClean="0">
                <a:solidFill>
                  <a:srgbClr val="6D6F71"/>
                </a:solidFill>
              </a:rPr>
              <a:pPr/>
              <a:t>15</a:t>
            </a:fld>
            <a:endParaRPr lang="en-GB" dirty="0">
              <a:solidFill>
                <a:srgbClr val="6D6F71"/>
              </a:solidFill>
            </a:endParaRPr>
          </a:p>
        </p:txBody>
      </p:sp>
      <p:graphicFrame>
        <p:nvGraphicFramePr>
          <p:cNvPr id="16" name="Chart 15"/>
          <p:cNvGraphicFramePr/>
          <p:nvPr>
            <p:extLst>
              <p:ext uri="{D42A27DB-BD31-4B8C-83A1-F6EECF244321}">
                <p14:modId xmlns:p14="http://schemas.microsoft.com/office/powerpoint/2010/main" val="1831776142"/>
              </p:ext>
            </p:extLst>
          </p:nvPr>
        </p:nvGraphicFramePr>
        <p:xfrm>
          <a:off x="301869" y="4138140"/>
          <a:ext cx="4825497" cy="21682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Chart 17"/>
          <p:cNvGraphicFramePr/>
          <p:nvPr>
            <p:extLst>
              <p:ext uri="{D42A27DB-BD31-4B8C-83A1-F6EECF244321}">
                <p14:modId xmlns:p14="http://schemas.microsoft.com/office/powerpoint/2010/main" val="2655895544"/>
              </p:ext>
            </p:extLst>
          </p:nvPr>
        </p:nvGraphicFramePr>
        <p:xfrm>
          <a:off x="5127366" y="1138093"/>
          <a:ext cx="3805620" cy="38295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4275053" y="5178928"/>
            <a:ext cx="3533424" cy="774749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/>
              <a:t>Large suppliers were more likely to favour classroom based training (48%) than micro &amp; small or medium suppliers (38% / 37%)</a:t>
            </a:r>
          </a:p>
        </p:txBody>
      </p:sp>
    </p:spTree>
    <p:extLst>
      <p:ext uri="{BB962C8B-B14F-4D97-AF65-F5344CB8AC3E}">
        <p14:creationId xmlns:p14="http://schemas.microsoft.com/office/powerpoint/2010/main" val="3881899559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Supply agreements and the CCO</a:t>
            </a:r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9625F87-44A5-4BCE-BECC-3F62853E43A0}" type="slidenum">
              <a:rPr lang="en-GB" smtClean="0"/>
              <a:pPr/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947608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14531"/>
            <a:ext cx="9188896" cy="466726"/>
          </a:xfrm>
        </p:spPr>
        <p:txBody>
          <a:bodyPr/>
          <a:lstStyle/>
          <a:p>
            <a:r>
              <a:rPr lang="en-GB" sz="3200" dirty="0" smtClean="0"/>
              <a:t>Have a written supply agreement with these retailers?</a:t>
            </a:r>
            <a:endParaRPr lang="en-GB" sz="3200" dirty="0"/>
          </a:p>
        </p:txBody>
      </p:sp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863643269"/>
              </p:ext>
            </p:extLst>
          </p:nvPr>
        </p:nvGraphicFramePr>
        <p:xfrm>
          <a:off x="-114594" y="808892"/>
          <a:ext cx="8316270" cy="54537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5610C8-4100-4700-A695-ED7D190A45BE}" type="slidenum">
              <a:rPr lang="en-GB" smtClean="0">
                <a:solidFill>
                  <a:srgbClr val="6D6F71"/>
                </a:solidFill>
              </a:rPr>
              <a:pPr/>
              <a:t>17</a:t>
            </a:fld>
            <a:endParaRPr lang="en-GB" dirty="0">
              <a:solidFill>
                <a:srgbClr val="6D6F7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86259" y="1960686"/>
            <a:ext cx="2214576" cy="2672666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bg1"/>
                </a:solidFill>
              </a:rPr>
              <a:t>Average across the 10 retailers and 3 years:</a:t>
            </a:r>
          </a:p>
          <a:p>
            <a:pPr algn="ctr"/>
            <a:endParaRPr lang="en-GB" sz="2000" dirty="0" smtClean="0">
              <a:solidFill>
                <a:schemeClr val="bg1"/>
              </a:solidFill>
            </a:endParaRPr>
          </a:p>
          <a:p>
            <a:pPr algn="ctr"/>
            <a:r>
              <a:rPr lang="en-GB" sz="2000" dirty="0" smtClean="0">
                <a:solidFill>
                  <a:schemeClr val="bg1"/>
                </a:solidFill>
              </a:rPr>
              <a:t>2016</a:t>
            </a:r>
            <a:r>
              <a:rPr lang="en-GB" sz="2000" dirty="0">
                <a:solidFill>
                  <a:schemeClr val="bg1"/>
                </a:solidFill>
              </a:rPr>
              <a:t>: </a:t>
            </a:r>
            <a:r>
              <a:rPr lang="en-GB" sz="2000" dirty="0" smtClean="0">
                <a:solidFill>
                  <a:schemeClr val="bg1"/>
                </a:solidFill>
              </a:rPr>
              <a:t>52%</a:t>
            </a:r>
            <a:endParaRPr lang="en-GB" sz="2000" dirty="0">
              <a:solidFill>
                <a:schemeClr val="bg1"/>
              </a:solidFill>
            </a:endParaRPr>
          </a:p>
          <a:p>
            <a:pPr algn="ctr"/>
            <a:r>
              <a:rPr lang="en-GB" sz="2000" dirty="0">
                <a:solidFill>
                  <a:schemeClr val="bg1"/>
                </a:solidFill>
              </a:rPr>
              <a:t>2015: </a:t>
            </a:r>
            <a:r>
              <a:rPr lang="en-GB" sz="2000" dirty="0" smtClean="0">
                <a:solidFill>
                  <a:schemeClr val="bg1"/>
                </a:solidFill>
              </a:rPr>
              <a:t>46%</a:t>
            </a:r>
            <a:endParaRPr lang="en-GB" sz="2000" dirty="0">
              <a:solidFill>
                <a:schemeClr val="bg1"/>
              </a:solidFill>
            </a:endParaRPr>
          </a:p>
          <a:p>
            <a:pPr algn="ctr"/>
            <a:r>
              <a:rPr lang="en-GB" sz="2000" dirty="0">
                <a:solidFill>
                  <a:schemeClr val="bg1"/>
                </a:solidFill>
              </a:rPr>
              <a:t>2014: </a:t>
            </a:r>
            <a:r>
              <a:rPr lang="en-GB" sz="2000" dirty="0" smtClean="0">
                <a:solidFill>
                  <a:schemeClr val="bg1"/>
                </a:solidFill>
              </a:rPr>
              <a:t>40%</a:t>
            </a:r>
            <a:endParaRPr lang="en-GB" sz="2000" dirty="0">
              <a:solidFill>
                <a:schemeClr val="bg1"/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5424854" y="1960686"/>
            <a:ext cx="589084" cy="448406"/>
          </a:xfrm>
          <a:prstGeom prst="ellipse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/>
          <p:cNvSpPr/>
          <p:nvPr/>
        </p:nvSpPr>
        <p:spPr>
          <a:xfrm>
            <a:off x="4299906" y="5392617"/>
            <a:ext cx="589084" cy="448406"/>
          </a:xfrm>
          <a:prstGeom prst="ellipse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/>
          <p:cNvSpPr/>
          <p:nvPr/>
        </p:nvSpPr>
        <p:spPr>
          <a:xfrm>
            <a:off x="4478215" y="4900435"/>
            <a:ext cx="589084" cy="448406"/>
          </a:xfrm>
          <a:prstGeom prst="ellipse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/>
          <p:cNvSpPr/>
          <p:nvPr/>
        </p:nvSpPr>
        <p:spPr>
          <a:xfrm>
            <a:off x="4594448" y="3399347"/>
            <a:ext cx="589084" cy="448406"/>
          </a:xfrm>
          <a:prstGeom prst="ellipse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596426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404664"/>
            <a:ext cx="8858250" cy="466726"/>
          </a:xfrm>
        </p:spPr>
        <p:txBody>
          <a:bodyPr/>
          <a:lstStyle/>
          <a:p>
            <a:r>
              <a:rPr lang="en-GB" sz="3200" dirty="0" smtClean="0"/>
              <a:t>Knowing who is or where to find the CCO</a:t>
            </a:r>
            <a:endParaRPr lang="en-GB" sz="3200" dirty="0"/>
          </a:p>
        </p:txBody>
      </p:sp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2584827420"/>
              </p:ext>
            </p:extLst>
          </p:nvPr>
        </p:nvGraphicFramePr>
        <p:xfrm>
          <a:off x="152400" y="943861"/>
          <a:ext cx="7701421" cy="5153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5610C8-4100-4700-A695-ED7D190A45BE}" type="slidenum">
              <a:rPr lang="en-GB" smtClean="0">
                <a:solidFill>
                  <a:srgbClr val="6D6F71"/>
                </a:solidFill>
              </a:rPr>
              <a:pPr/>
              <a:t>18</a:t>
            </a:fld>
            <a:endParaRPr lang="en-GB" dirty="0">
              <a:solidFill>
                <a:srgbClr val="6D6F7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86259" y="1468316"/>
            <a:ext cx="2214576" cy="3165036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bg1"/>
                </a:solidFill>
              </a:rPr>
              <a:t>Average across the 10 </a:t>
            </a:r>
            <a:r>
              <a:rPr lang="en-GB" sz="2000" b="1" dirty="0" smtClean="0">
                <a:solidFill>
                  <a:schemeClr val="bg1"/>
                </a:solidFill>
              </a:rPr>
              <a:t>retailers and 3 years:</a:t>
            </a:r>
          </a:p>
          <a:p>
            <a:pPr algn="ctr"/>
            <a:endParaRPr lang="en-GB" sz="2000" b="1" dirty="0">
              <a:solidFill>
                <a:schemeClr val="bg1"/>
              </a:solidFill>
            </a:endParaRPr>
          </a:p>
          <a:p>
            <a:pPr algn="ctr"/>
            <a:r>
              <a:rPr lang="en-GB" sz="2000" dirty="0">
                <a:solidFill>
                  <a:schemeClr val="bg1"/>
                </a:solidFill>
              </a:rPr>
              <a:t>2016: 46%</a:t>
            </a:r>
          </a:p>
          <a:p>
            <a:pPr algn="ctr"/>
            <a:r>
              <a:rPr lang="en-GB" sz="2000" dirty="0">
                <a:solidFill>
                  <a:schemeClr val="bg1"/>
                </a:solidFill>
              </a:rPr>
              <a:t>2015: 37%</a:t>
            </a:r>
          </a:p>
          <a:p>
            <a:pPr algn="ctr"/>
            <a:r>
              <a:rPr lang="en-GB" sz="2000" dirty="0">
                <a:solidFill>
                  <a:schemeClr val="bg1"/>
                </a:solidFill>
              </a:rPr>
              <a:t>2014: 26%</a:t>
            </a:r>
          </a:p>
        </p:txBody>
      </p:sp>
      <p:sp>
        <p:nvSpPr>
          <p:cNvPr id="11" name="Oval 10"/>
          <p:cNvSpPr/>
          <p:nvPr/>
        </p:nvSpPr>
        <p:spPr>
          <a:xfrm>
            <a:off x="4677508" y="2916273"/>
            <a:ext cx="589084" cy="448406"/>
          </a:xfrm>
          <a:prstGeom prst="ellipse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/>
          <p:cNvSpPr/>
          <p:nvPr/>
        </p:nvSpPr>
        <p:spPr>
          <a:xfrm>
            <a:off x="4677508" y="3938955"/>
            <a:ext cx="589084" cy="448406"/>
          </a:xfrm>
          <a:prstGeom prst="ellipse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950172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282575" y="2596551"/>
            <a:ext cx="8783048" cy="616425"/>
          </a:xfrm>
        </p:spPr>
        <p:txBody>
          <a:bodyPr>
            <a:noAutofit/>
          </a:bodyPr>
          <a:lstStyle/>
          <a:p>
            <a:r>
              <a:rPr lang="en-GB" dirty="0"/>
              <a:t>Experience of </a:t>
            </a:r>
            <a:r>
              <a:rPr lang="en-GB" dirty="0" smtClean="0"/>
              <a:t>issues</a:t>
            </a:r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9625F87-44A5-4BCE-BECC-3F62853E43A0}" type="slidenum">
              <a:rPr lang="en-GB" smtClean="0"/>
              <a:pPr/>
              <a:t>19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0158371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671135"/>
            <a:ext cx="9036496" cy="466726"/>
          </a:xfrm>
        </p:spPr>
        <p:txBody>
          <a:bodyPr/>
          <a:lstStyle/>
          <a:p>
            <a:r>
              <a:rPr lang="en-GB" sz="3200" dirty="0" smtClean="0"/>
              <a:t>Proportion of suppliers with issues falls by 8pp</a:t>
            </a:r>
            <a:br>
              <a:rPr lang="en-GB" sz="3200" dirty="0" smtClean="0"/>
            </a:br>
            <a:r>
              <a:rPr lang="en-GB" sz="2800" dirty="0" smtClean="0"/>
              <a:t>Issues in the language of the Code</a:t>
            </a:r>
            <a:endParaRPr lang="en-GB" sz="32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5610C8-4100-4700-A695-ED7D190A45BE}" type="slidenum">
              <a:rPr lang="en-GB" smtClean="0">
                <a:solidFill>
                  <a:srgbClr val="6D6F71"/>
                </a:solidFill>
              </a:rPr>
              <a:pPr/>
              <a:t>20</a:t>
            </a:fld>
            <a:endParaRPr lang="en-GB" dirty="0">
              <a:solidFill>
                <a:srgbClr val="6D6F71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07504" y="1145854"/>
            <a:ext cx="8568952" cy="5633236"/>
            <a:chOff x="107504" y="1145854"/>
            <a:chExt cx="8568952" cy="4949797"/>
          </a:xfrm>
        </p:grpSpPr>
        <p:graphicFrame>
          <p:nvGraphicFramePr>
            <p:cNvPr id="7" name="Chart 6"/>
            <p:cNvGraphicFramePr/>
            <p:nvPr>
              <p:extLst>
                <p:ext uri="{D42A27DB-BD31-4B8C-83A1-F6EECF244321}">
                  <p14:modId xmlns:p14="http://schemas.microsoft.com/office/powerpoint/2010/main" val="2876406384"/>
                </p:ext>
              </p:extLst>
            </p:nvPr>
          </p:nvGraphicFramePr>
          <p:xfrm>
            <a:off x="107504" y="1145854"/>
            <a:ext cx="8568952" cy="494979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5" name="Equal 4"/>
            <p:cNvSpPr/>
            <p:nvPr/>
          </p:nvSpPr>
          <p:spPr>
            <a:xfrm>
              <a:off x="6238467" y="2107334"/>
              <a:ext cx="222190" cy="182868"/>
            </a:xfrm>
            <a:prstGeom prst="mathEqual">
              <a:avLst/>
            </a:prstGeom>
            <a:solidFill>
              <a:srgbClr val="A7A9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1" name="Equal 10"/>
            <p:cNvSpPr/>
            <p:nvPr/>
          </p:nvSpPr>
          <p:spPr>
            <a:xfrm>
              <a:off x="6238467" y="2380964"/>
              <a:ext cx="222190" cy="182868"/>
            </a:xfrm>
            <a:prstGeom prst="mathEqual">
              <a:avLst/>
            </a:prstGeom>
            <a:solidFill>
              <a:srgbClr val="A7A9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4" name="Down Arrow 13"/>
            <p:cNvSpPr/>
            <p:nvPr/>
          </p:nvSpPr>
          <p:spPr>
            <a:xfrm>
              <a:off x="6234194" y="2909329"/>
              <a:ext cx="230736" cy="186894"/>
            </a:xfrm>
            <a:prstGeom prst="downArrow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1</a:t>
              </a:r>
            </a:p>
          </p:txBody>
        </p:sp>
        <p:sp>
          <p:nvSpPr>
            <p:cNvPr id="6" name="Up Arrow 5"/>
            <p:cNvSpPr/>
            <p:nvPr/>
          </p:nvSpPr>
          <p:spPr>
            <a:xfrm>
              <a:off x="6233817" y="2635699"/>
              <a:ext cx="231490" cy="182868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 smtClean="0"/>
                <a:t>2</a:t>
              </a:r>
              <a:endParaRPr lang="en-GB" sz="1200" dirty="0"/>
            </a:p>
          </p:txBody>
        </p:sp>
        <p:sp>
          <p:nvSpPr>
            <p:cNvPr id="15" name="Down Arrow 14"/>
            <p:cNvSpPr/>
            <p:nvPr/>
          </p:nvSpPr>
          <p:spPr>
            <a:xfrm>
              <a:off x="6234194" y="3172334"/>
              <a:ext cx="230736" cy="186894"/>
            </a:xfrm>
            <a:prstGeom prst="downArrow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1</a:t>
              </a:r>
            </a:p>
          </p:txBody>
        </p:sp>
        <p:sp>
          <p:nvSpPr>
            <p:cNvPr id="17" name="Up Arrow 16"/>
            <p:cNvSpPr/>
            <p:nvPr/>
          </p:nvSpPr>
          <p:spPr>
            <a:xfrm>
              <a:off x="6233817" y="3418247"/>
              <a:ext cx="231490" cy="182868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 smtClean="0"/>
                <a:t>2</a:t>
              </a:r>
              <a:endParaRPr lang="en-GB" sz="1200" dirty="0"/>
            </a:p>
          </p:txBody>
        </p:sp>
        <p:sp>
          <p:nvSpPr>
            <p:cNvPr id="18" name="Down Arrow 17"/>
            <p:cNvSpPr/>
            <p:nvPr/>
          </p:nvSpPr>
          <p:spPr>
            <a:xfrm>
              <a:off x="6234194" y="3689120"/>
              <a:ext cx="230736" cy="186894"/>
            </a:xfrm>
            <a:prstGeom prst="downArrow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1</a:t>
              </a:r>
            </a:p>
          </p:txBody>
        </p:sp>
        <p:sp>
          <p:nvSpPr>
            <p:cNvPr id="19" name="Up Arrow 18"/>
            <p:cNvSpPr/>
            <p:nvPr/>
          </p:nvSpPr>
          <p:spPr>
            <a:xfrm>
              <a:off x="6233817" y="3946866"/>
              <a:ext cx="231490" cy="182868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1</a:t>
              </a:r>
            </a:p>
          </p:txBody>
        </p:sp>
        <p:sp>
          <p:nvSpPr>
            <p:cNvPr id="20" name="Up Arrow 19"/>
            <p:cNvSpPr/>
            <p:nvPr/>
          </p:nvSpPr>
          <p:spPr>
            <a:xfrm>
              <a:off x="6233817" y="4206695"/>
              <a:ext cx="231490" cy="182868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 dirty="0" smtClean="0"/>
                <a:t>3</a:t>
              </a:r>
              <a:endParaRPr lang="en-GB" sz="1200" b="1" dirty="0"/>
            </a:p>
          </p:txBody>
        </p:sp>
        <p:sp>
          <p:nvSpPr>
            <p:cNvPr id="21" name="Up Arrow 20"/>
            <p:cNvSpPr/>
            <p:nvPr/>
          </p:nvSpPr>
          <p:spPr>
            <a:xfrm>
              <a:off x="6233817" y="4457978"/>
              <a:ext cx="231490" cy="182868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1</a:t>
              </a:r>
            </a:p>
          </p:txBody>
        </p:sp>
        <p:sp>
          <p:nvSpPr>
            <p:cNvPr id="22" name="Down Arrow 21"/>
            <p:cNvSpPr/>
            <p:nvPr/>
          </p:nvSpPr>
          <p:spPr>
            <a:xfrm>
              <a:off x="6234194" y="4742457"/>
              <a:ext cx="230736" cy="186894"/>
            </a:xfrm>
            <a:prstGeom prst="downArrow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 dirty="0" smtClean="0"/>
                <a:t>4</a:t>
              </a:r>
              <a:endParaRPr lang="en-GB" sz="1200" b="1" dirty="0"/>
            </a:p>
          </p:txBody>
        </p:sp>
        <p:sp>
          <p:nvSpPr>
            <p:cNvPr id="24" name="Down Arrow 23"/>
            <p:cNvSpPr/>
            <p:nvPr/>
          </p:nvSpPr>
          <p:spPr>
            <a:xfrm>
              <a:off x="6234194" y="4996138"/>
              <a:ext cx="230736" cy="186894"/>
            </a:xfrm>
            <a:prstGeom prst="downArrow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2</a:t>
              </a:r>
            </a:p>
          </p:txBody>
        </p:sp>
        <p:sp>
          <p:nvSpPr>
            <p:cNvPr id="25" name="Equal 24"/>
            <p:cNvSpPr/>
            <p:nvPr/>
          </p:nvSpPr>
          <p:spPr>
            <a:xfrm>
              <a:off x="6238467" y="5256702"/>
              <a:ext cx="222190" cy="182868"/>
            </a:xfrm>
            <a:prstGeom prst="mathEqual">
              <a:avLst/>
            </a:prstGeom>
            <a:solidFill>
              <a:srgbClr val="A7A9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26" name="Equal 25"/>
            <p:cNvSpPr/>
            <p:nvPr/>
          </p:nvSpPr>
          <p:spPr>
            <a:xfrm>
              <a:off x="6238467" y="5523038"/>
              <a:ext cx="222190" cy="182868"/>
            </a:xfrm>
            <a:prstGeom prst="mathEqual">
              <a:avLst/>
            </a:prstGeom>
            <a:solidFill>
              <a:srgbClr val="A7A9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817056" y="2954028"/>
              <a:ext cx="1793863" cy="365064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 dirty="0" smtClean="0">
                  <a:solidFill>
                    <a:schemeClr val="tx1">
                      <a:lumMod val="50000"/>
                    </a:schemeClr>
                  </a:solidFill>
                </a:rPr>
                <a:t>Issue position change compared to 2015</a:t>
              </a:r>
              <a:endParaRPr lang="en-GB" sz="1200" b="1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28" name="Up Arrow 27"/>
            <p:cNvSpPr/>
            <p:nvPr/>
          </p:nvSpPr>
          <p:spPr>
            <a:xfrm>
              <a:off x="7000819" y="3397920"/>
              <a:ext cx="231490" cy="182868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/>
            </a:p>
          </p:txBody>
        </p:sp>
        <p:sp>
          <p:nvSpPr>
            <p:cNvPr id="29" name="Equal 28"/>
            <p:cNvSpPr/>
            <p:nvPr/>
          </p:nvSpPr>
          <p:spPr>
            <a:xfrm>
              <a:off x="7010119" y="3671550"/>
              <a:ext cx="222190" cy="182868"/>
            </a:xfrm>
            <a:prstGeom prst="mathEqual">
              <a:avLst/>
            </a:prstGeom>
            <a:solidFill>
              <a:srgbClr val="A7A9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30" name="Down Arrow 29"/>
            <p:cNvSpPr/>
            <p:nvPr/>
          </p:nvSpPr>
          <p:spPr>
            <a:xfrm>
              <a:off x="7000819" y="3942840"/>
              <a:ext cx="230736" cy="186894"/>
            </a:xfrm>
            <a:prstGeom prst="downArrow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7231555" y="3397920"/>
              <a:ext cx="1098134" cy="182868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 smtClean="0">
                  <a:solidFill>
                    <a:schemeClr val="tx1">
                      <a:lumMod val="50000"/>
                    </a:schemeClr>
                  </a:solidFill>
                </a:rPr>
                <a:t>Moved up</a:t>
              </a:r>
              <a:endParaRPr lang="en-GB" sz="1200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7246068" y="3661834"/>
              <a:ext cx="1098134" cy="182868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 smtClean="0">
                  <a:solidFill>
                    <a:schemeClr val="tx1">
                      <a:lumMod val="50000"/>
                    </a:schemeClr>
                  </a:solidFill>
                </a:rPr>
                <a:t>No change</a:t>
              </a:r>
              <a:endParaRPr lang="en-GB" sz="1200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7324777" y="3928884"/>
              <a:ext cx="1098134" cy="182868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 smtClean="0">
                  <a:solidFill>
                    <a:schemeClr val="tx1">
                      <a:lumMod val="50000"/>
                    </a:schemeClr>
                  </a:solidFill>
                </a:rPr>
                <a:t>Moved down</a:t>
              </a:r>
              <a:endParaRPr lang="en-GB" sz="1200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936847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86267"/>
            <a:ext cx="9084732" cy="1055562"/>
          </a:xfrm>
        </p:spPr>
        <p:txBody>
          <a:bodyPr/>
          <a:lstStyle/>
          <a:p>
            <a:r>
              <a:rPr lang="en-GB" sz="3200" dirty="0" smtClean="0"/>
              <a:t>Incorrect deductions and excessive artwork charges:</a:t>
            </a:r>
            <a:br>
              <a:rPr lang="en-GB" sz="3200" dirty="0" smtClean="0"/>
            </a:br>
            <a:r>
              <a:rPr lang="en-GB" sz="2800" dirty="0" smtClean="0"/>
              <a:t>Issues </a:t>
            </a:r>
            <a:r>
              <a:rPr lang="en-GB" sz="2800" dirty="0"/>
              <a:t>in the language of </a:t>
            </a:r>
            <a:r>
              <a:rPr lang="en-GB" sz="2800" dirty="0" smtClean="0"/>
              <a:t>suppliers</a:t>
            </a:r>
            <a:endParaRPr lang="en-GB" sz="3200" dirty="0"/>
          </a:p>
        </p:txBody>
      </p:sp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3610405478"/>
              </p:ext>
            </p:extLst>
          </p:nvPr>
        </p:nvGraphicFramePr>
        <p:xfrm>
          <a:off x="107504" y="1083733"/>
          <a:ext cx="8880866" cy="52226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5610C8-4100-4700-A695-ED7D190A45BE}" type="slidenum">
              <a:rPr lang="en-GB" smtClean="0">
                <a:solidFill>
                  <a:srgbClr val="6D6F71"/>
                </a:solidFill>
              </a:rPr>
              <a:pPr/>
              <a:t>21</a:t>
            </a:fld>
            <a:endParaRPr lang="en-GB" dirty="0">
              <a:solidFill>
                <a:srgbClr val="6D6F71"/>
              </a:solidFill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7543800" y="2602253"/>
            <a:ext cx="1707037" cy="962213"/>
            <a:chOff x="8175036" y="4864365"/>
            <a:chExt cx="731100" cy="513710"/>
          </a:xfrm>
        </p:grpSpPr>
        <p:sp>
          <p:nvSpPr>
            <p:cNvPr id="14" name="Rectangle 13"/>
            <p:cNvSpPr/>
            <p:nvPr/>
          </p:nvSpPr>
          <p:spPr>
            <a:xfrm>
              <a:off x="8175036" y="4927623"/>
              <a:ext cx="156754" cy="161108"/>
            </a:xfrm>
            <a:prstGeom prst="rect">
              <a:avLst/>
            </a:prstGeom>
            <a:solidFill>
              <a:srgbClr val="53AC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175036" y="5166717"/>
              <a:ext cx="156754" cy="161108"/>
            </a:xfrm>
            <a:prstGeom prst="rect">
              <a:avLst/>
            </a:prstGeom>
            <a:solidFill>
              <a:srgbClr val="0D5D9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331790" y="4864365"/>
              <a:ext cx="574346" cy="261610"/>
            </a:xfrm>
            <a:prstGeom prst="rect">
              <a:avLst/>
            </a:prstGeom>
          </p:spPr>
          <p:txBody>
            <a:bodyPr wrap="square" rtlCol="0" anchor="ctr" anchorCtr="0">
              <a:spAutoFit/>
            </a:bodyPr>
            <a:lstStyle/>
            <a:p>
              <a:r>
                <a:rPr lang="en-GB" sz="1100" dirty="0" smtClean="0">
                  <a:solidFill>
                    <a:srgbClr val="000000"/>
                  </a:solidFill>
                </a:rPr>
                <a:t>2016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331790" y="5116465"/>
              <a:ext cx="574346" cy="261610"/>
            </a:xfrm>
            <a:prstGeom prst="rect">
              <a:avLst/>
            </a:prstGeom>
          </p:spPr>
          <p:txBody>
            <a:bodyPr wrap="square" rtlCol="0" anchor="ctr" anchorCtr="0">
              <a:spAutoFit/>
            </a:bodyPr>
            <a:lstStyle/>
            <a:p>
              <a:r>
                <a:rPr lang="en-GB" sz="1100" dirty="0" smtClean="0">
                  <a:solidFill>
                    <a:srgbClr val="000000"/>
                  </a:solidFill>
                </a:rPr>
                <a:t>2015</a:t>
              </a:r>
            </a:p>
          </p:txBody>
        </p:sp>
      </p:grpSp>
      <p:sp>
        <p:nvSpPr>
          <p:cNvPr id="18" name="Rectangle 17"/>
          <p:cNvSpPr/>
          <p:nvPr/>
        </p:nvSpPr>
        <p:spPr>
          <a:xfrm>
            <a:off x="2884841" y="5125565"/>
            <a:ext cx="165463" cy="13933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849552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693600"/>
            <a:ext cx="8858250" cy="466726"/>
          </a:xfrm>
        </p:spPr>
        <p:txBody>
          <a:bodyPr/>
          <a:lstStyle/>
          <a:p>
            <a:r>
              <a:rPr lang="en-GB" sz="3200" dirty="0" smtClean="0"/>
              <a:t>Aspects of retailer practice that have the most significant negative impact</a:t>
            </a:r>
            <a:endParaRPr lang="en-GB" sz="32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5610C8-4100-4700-A695-ED7D190A45BE}" type="slidenum">
              <a:rPr lang="en-GB" smtClean="0">
                <a:solidFill>
                  <a:srgbClr val="6D6F71"/>
                </a:solidFill>
              </a:rPr>
              <a:pPr/>
              <a:t>22</a:t>
            </a:fld>
            <a:endParaRPr lang="en-GB" dirty="0">
              <a:solidFill>
                <a:srgbClr val="6D6F71"/>
              </a:solidFill>
            </a:endParaRPr>
          </a:p>
        </p:txBody>
      </p:sp>
      <p:sp>
        <p:nvSpPr>
          <p:cNvPr id="13" name="Rounded Rectangular Callout 12"/>
          <p:cNvSpPr/>
          <p:nvPr/>
        </p:nvSpPr>
        <p:spPr>
          <a:xfrm>
            <a:off x="5250724" y="653683"/>
            <a:ext cx="3804024" cy="469054"/>
          </a:xfrm>
          <a:prstGeom prst="wedgeRoundRectCallout">
            <a:avLst>
              <a:gd name="adj1" fmla="val 21797"/>
              <a:gd name="adj2" fmla="val 60486"/>
              <a:gd name="adj3" fmla="val 16667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i="1" dirty="0" smtClean="0">
                <a:solidFill>
                  <a:schemeClr val="tx1">
                    <a:lumMod val="50000"/>
                  </a:schemeClr>
                </a:solidFill>
              </a:rPr>
              <a:t>‘Forecasting </a:t>
            </a:r>
            <a:r>
              <a:rPr lang="en-GB" sz="1400" b="1" i="1" dirty="0">
                <a:solidFill>
                  <a:schemeClr val="tx1">
                    <a:lumMod val="50000"/>
                  </a:schemeClr>
                </a:solidFill>
              </a:rPr>
              <a:t>issues not being communicated effectively &amp; resolved in a timely </a:t>
            </a:r>
            <a:r>
              <a:rPr lang="en-GB" sz="1400" b="1" i="1" dirty="0" smtClean="0">
                <a:solidFill>
                  <a:schemeClr val="tx1">
                    <a:lumMod val="50000"/>
                  </a:schemeClr>
                </a:solidFill>
              </a:rPr>
              <a:t>manner’</a:t>
            </a:r>
            <a:endParaRPr lang="en-GB" sz="1400" b="1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4" name="Rounded Rectangular Callout 13"/>
          <p:cNvSpPr/>
          <p:nvPr/>
        </p:nvSpPr>
        <p:spPr>
          <a:xfrm>
            <a:off x="5250725" y="1268199"/>
            <a:ext cx="3804023" cy="648354"/>
          </a:xfrm>
          <a:prstGeom prst="wedgeRoundRectCallout">
            <a:avLst>
              <a:gd name="adj1" fmla="val -22257"/>
              <a:gd name="adj2" fmla="val 62477"/>
              <a:gd name="adj3" fmla="val 16667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i="1" dirty="0">
                <a:solidFill>
                  <a:schemeClr val="tx1">
                    <a:lumMod val="50000"/>
                  </a:schemeClr>
                </a:solidFill>
              </a:rPr>
              <a:t>‘Delays in payments and attempts to change agreements already in place relating to payment terms’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8795" y="2068026"/>
            <a:ext cx="4572000" cy="3847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 smtClean="0"/>
              <a:t>.</a:t>
            </a:r>
            <a:endParaRPr lang="en-GB" dirty="0"/>
          </a:p>
        </p:txBody>
      </p:sp>
      <p:sp>
        <p:nvSpPr>
          <p:cNvPr id="15" name="Rounded Rectangular Callout 14"/>
          <p:cNvSpPr/>
          <p:nvPr/>
        </p:nvSpPr>
        <p:spPr>
          <a:xfrm>
            <a:off x="5250724" y="2077502"/>
            <a:ext cx="3792549" cy="1304656"/>
          </a:xfrm>
          <a:prstGeom prst="wedgeRoundRectCallout">
            <a:avLst>
              <a:gd name="adj1" fmla="val 21236"/>
              <a:gd name="adj2" fmla="val 65775"/>
              <a:gd name="adj3" fmla="val 16667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i="1" dirty="0">
                <a:solidFill>
                  <a:schemeClr val="tx1">
                    <a:lumMod val="50000"/>
                  </a:schemeClr>
                </a:solidFill>
              </a:rPr>
              <a:t>‘Demands for payments for loss of profit which could result in delists. Requests to move marketing costs into cost of goods - failure to do could result in delists. </a:t>
            </a:r>
            <a:r>
              <a:rPr lang="en-GB" sz="1400" b="1" i="1" dirty="0" smtClean="0">
                <a:solidFill>
                  <a:schemeClr val="tx1">
                    <a:lumMod val="50000"/>
                  </a:schemeClr>
                </a:solidFill>
              </a:rPr>
              <a:t>Overrides </a:t>
            </a:r>
            <a:r>
              <a:rPr lang="en-GB" sz="1400" b="1" i="1" dirty="0">
                <a:solidFill>
                  <a:schemeClr val="tx1">
                    <a:lumMod val="50000"/>
                  </a:schemeClr>
                </a:solidFill>
              </a:rPr>
              <a:t>demanded in order to engage on business growth </a:t>
            </a:r>
            <a:r>
              <a:rPr lang="en-GB" sz="1400" b="1" i="1" dirty="0" smtClean="0">
                <a:solidFill>
                  <a:schemeClr val="tx1">
                    <a:lumMod val="50000"/>
                  </a:schemeClr>
                </a:solidFill>
              </a:rPr>
              <a:t>initiatives </a:t>
            </a:r>
            <a:r>
              <a:rPr lang="en-GB" sz="1400" b="1" i="1" dirty="0">
                <a:solidFill>
                  <a:schemeClr val="tx1">
                    <a:lumMod val="50000"/>
                  </a:schemeClr>
                </a:solidFill>
              </a:rPr>
              <a:t>such as NPD.’</a:t>
            </a:r>
          </a:p>
        </p:txBody>
      </p:sp>
      <p:sp>
        <p:nvSpPr>
          <p:cNvPr id="16" name="Rounded Rectangular Callout 15"/>
          <p:cNvSpPr/>
          <p:nvPr/>
        </p:nvSpPr>
        <p:spPr>
          <a:xfrm>
            <a:off x="5262199" y="3638230"/>
            <a:ext cx="3792551" cy="1490211"/>
          </a:xfrm>
          <a:prstGeom prst="wedgeRoundRectCallout">
            <a:avLst>
              <a:gd name="adj1" fmla="val -22220"/>
              <a:gd name="adj2" fmla="val 63239"/>
              <a:gd name="adj3" fmla="val 16667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i="1" dirty="0">
                <a:solidFill>
                  <a:schemeClr val="tx1">
                    <a:lumMod val="50000"/>
                  </a:schemeClr>
                </a:solidFill>
              </a:rPr>
              <a:t>‘The biggest issue with supplying is the expectation of </a:t>
            </a:r>
            <a:r>
              <a:rPr lang="en-GB" sz="1400" b="1" i="1" dirty="0" smtClean="0">
                <a:solidFill>
                  <a:schemeClr val="tx1">
                    <a:lumMod val="50000"/>
                  </a:schemeClr>
                </a:solidFill>
              </a:rPr>
              <a:t>increased </a:t>
            </a:r>
            <a:r>
              <a:rPr lang="en-GB" sz="1400" b="1" i="1" dirty="0">
                <a:solidFill>
                  <a:schemeClr val="tx1">
                    <a:lumMod val="50000"/>
                  </a:schemeClr>
                </a:solidFill>
              </a:rPr>
              <a:t>rebates together with lower pricing. In some cases we trade for turnover only, and make no profit from trading. Also very late decisions on product/promotions makes operating without fines difficult.’</a:t>
            </a:r>
          </a:p>
        </p:txBody>
      </p:sp>
      <p:sp>
        <p:nvSpPr>
          <p:cNvPr id="17" name="Rounded Rectangular Callout 16"/>
          <p:cNvSpPr/>
          <p:nvPr/>
        </p:nvSpPr>
        <p:spPr>
          <a:xfrm>
            <a:off x="5262199" y="5384513"/>
            <a:ext cx="3792549" cy="567656"/>
          </a:xfrm>
          <a:prstGeom prst="wedgeRoundRectCallout">
            <a:avLst>
              <a:gd name="adj1" fmla="val 20987"/>
              <a:gd name="adj2" fmla="val 70236"/>
              <a:gd name="adj3" fmla="val 16667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i="1" dirty="0">
                <a:solidFill>
                  <a:schemeClr val="tx1">
                    <a:lumMod val="50000"/>
                  </a:schemeClr>
                </a:solidFill>
              </a:rPr>
              <a:t>‘Technical charges for testing, audits, artwork costs and late payment’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118511"/>
            <a:ext cx="4964612" cy="491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06850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96379" y="2199646"/>
            <a:ext cx="3117205" cy="4155388"/>
            <a:chOff x="2778816" y="1351548"/>
            <a:chExt cx="3587952" cy="4155388"/>
          </a:xfrm>
        </p:grpSpPr>
        <p:graphicFrame>
          <p:nvGraphicFramePr>
            <p:cNvPr id="24" name="Chart 23"/>
            <p:cNvGraphicFramePr/>
            <p:nvPr>
              <p:extLst/>
            </p:nvPr>
          </p:nvGraphicFramePr>
          <p:xfrm>
            <a:off x="2778816" y="1351548"/>
            <a:ext cx="3587952" cy="415538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graphicFrame>
          <p:nvGraphicFramePr>
            <p:cNvPr id="25" name="Chart 24"/>
            <p:cNvGraphicFramePr/>
            <p:nvPr>
              <p:extLst/>
            </p:nvPr>
          </p:nvGraphicFramePr>
          <p:xfrm>
            <a:off x="2982805" y="2410273"/>
            <a:ext cx="3179975" cy="203619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26" name="Rectangle 25"/>
            <p:cNvSpPr/>
            <p:nvPr/>
          </p:nvSpPr>
          <p:spPr>
            <a:xfrm>
              <a:off x="4183024" y="2454272"/>
              <a:ext cx="829559" cy="282804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 smtClean="0">
                  <a:solidFill>
                    <a:schemeClr val="tx1">
                      <a:lumMod val="50000"/>
                    </a:schemeClr>
                  </a:solidFill>
                </a:rPr>
                <a:t>2015</a:t>
              </a:r>
              <a:endParaRPr lang="en-GB" sz="1600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</p:grpSp>
      <p:graphicFrame>
        <p:nvGraphicFramePr>
          <p:cNvPr id="9" name="Chart 8"/>
          <p:cNvGraphicFramePr/>
          <p:nvPr>
            <p:extLst>
              <p:ext uri="{D42A27DB-BD31-4B8C-83A1-F6EECF244321}">
                <p14:modId xmlns:p14="http://schemas.microsoft.com/office/powerpoint/2010/main" val="2627143077"/>
              </p:ext>
            </p:extLst>
          </p:nvPr>
        </p:nvGraphicFramePr>
        <p:xfrm>
          <a:off x="6224864" y="1222131"/>
          <a:ext cx="3096344" cy="45747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Striped Right Arrow 11"/>
          <p:cNvSpPr/>
          <p:nvPr/>
        </p:nvSpPr>
        <p:spPr>
          <a:xfrm>
            <a:off x="2467072" y="2970174"/>
            <a:ext cx="1147836" cy="470263"/>
          </a:xfrm>
          <a:prstGeom prst="stripedRightArrow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/>
          <p:cNvSpPr/>
          <p:nvPr/>
        </p:nvSpPr>
        <p:spPr>
          <a:xfrm>
            <a:off x="49467" y="2292737"/>
            <a:ext cx="2247268" cy="3765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>
                <a:solidFill>
                  <a:schemeClr val="tx1">
                    <a:lumMod val="50000"/>
                  </a:schemeClr>
                </a:solidFill>
              </a:rPr>
              <a:t>Raised an issue over the</a:t>
            </a:r>
          </a:p>
          <a:p>
            <a:pPr algn="ctr"/>
            <a:r>
              <a:rPr lang="en-GB" sz="1600" dirty="0" smtClean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GB" sz="1600" b="1" dirty="0" smtClean="0">
                <a:solidFill>
                  <a:schemeClr val="tx1">
                    <a:lumMod val="50000"/>
                  </a:schemeClr>
                </a:solidFill>
              </a:rPr>
              <a:t>last 12 months?</a:t>
            </a:r>
            <a:endParaRPr lang="en-GB" sz="16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7390" y="6343474"/>
            <a:ext cx="2057400" cy="365125"/>
          </a:xfrm>
        </p:spPr>
        <p:txBody>
          <a:bodyPr/>
          <a:lstStyle/>
          <a:p>
            <a:fld id="{79625F87-44A5-4BCE-BECC-3F62853E43A0}" type="slidenum">
              <a:rPr lang="en-GB" smtClean="0"/>
              <a:pPr/>
              <a:t>23</a:t>
            </a:fld>
            <a:endParaRPr lang="en-GB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49467" y="178303"/>
            <a:ext cx="8767443" cy="690492"/>
          </a:xfrm>
        </p:spPr>
        <p:txBody>
          <a:bodyPr>
            <a:normAutofit/>
          </a:bodyPr>
          <a:lstStyle/>
          <a:p>
            <a:r>
              <a:rPr lang="en-GB" sz="2800" dirty="0" smtClean="0"/>
              <a:t>4pp fall in suppliers having raised an issue with a retailer</a:t>
            </a:r>
            <a:endParaRPr lang="en-GB" sz="2800" dirty="0"/>
          </a:p>
        </p:txBody>
      </p:sp>
      <p:sp>
        <p:nvSpPr>
          <p:cNvPr id="18" name="Striped Right Arrow 17"/>
          <p:cNvSpPr/>
          <p:nvPr/>
        </p:nvSpPr>
        <p:spPr>
          <a:xfrm rot="17978164">
            <a:off x="1907845" y="2297471"/>
            <a:ext cx="1070136" cy="470263"/>
          </a:xfrm>
          <a:prstGeom prst="stripedRightArrow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ounded Rectangle 18"/>
          <p:cNvSpPr/>
          <p:nvPr/>
        </p:nvSpPr>
        <p:spPr>
          <a:xfrm>
            <a:off x="309344" y="1445622"/>
            <a:ext cx="3205275" cy="572733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/>
              <a:t>14% of micro &amp; small, 14% of medium, 11% of large direct suppliers </a:t>
            </a:r>
            <a:endParaRPr lang="en-GB" sz="1400" b="1" dirty="0"/>
          </a:p>
        </p:txBody>
      </p:sp>
      <p:graphicFrame>
        <p:nvGraphicFramePr>
          <p:cNvPr id="27" name="Chart 26"/>
          <p:cNvGraphicFramePr/>
          <p:nvPr>
            <p:extLst>
              <p:ext uri="{D42A27DB-BD31-4B8C-83A1-F6EECF244321}">
                <p14:modId xmlns:p14="http://schemas.microsoft.com/office/powerpoint/2010/main" val="573688670"/>
              </p:ext>
            </p:extLst>
          </p:nvPr>
        </p:nvGraphicFramePr>
        <p:xfrm>
          <a:off x="3028310" y="1112665"/>
          <a:ext cx="3096344" cy="47135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0" name="Oval 19"/>
          <p:cNvSpPr/>
          <p:nvPr/>
        </p:nvSpPr>
        <p:spPr>
          <a:xfrm>
            <a:off x="5278180" y="1951260"/>
            <a:ext cx="388397" cy="394505"/>
          </a:xfrm>
          <a:prstGeom prst="ellipse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/>
          <p:cNvSpPr/>
          <p:nvPr/>
        </p:nvSpPr>
        <p:spPr>
          <a:xfrm>
            <a:off x="7761135" y="2335349"/>
            <a:ext cx="388397" cy="394505"/>
          </a:xfrm>
          <a:prstGeom prst="ellipse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Oval 27"/>
          <p:cNvSpPr/>
          <p:nvPr/>
        </p:nvSpPr>
        <p:spPr>
          <a:xfrm>
            <a:off x="5308142" y="2373506"/>
            <a:ext cx="388397" cy="394505"/>
          </a:xfrm>
          <a:prstGeom prst="ellipse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488100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679128"/>
            <a:ext cx="9036496" cy="466726"/>
          </a:xfrm>
        </p:spPr>
        <p:txBody>
          <a:bodyPr/>
          <a:lstStyle/>
          <a:p>
            <a:r>
              <a:rPr lang="en-GB" sz="3200" dirty="0" smtClean="0"/>
              <a:t>Issues categorised by the Code: Which issues have direct suppliers experienced? – by  retailer</a:t>
            </a:r>
            <a:endParaRPr lang="en-GB" sz="32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152400" y="6306375"/>
            <a:ext cx="704332" cy="472715"/>
          </a:xfrm>
          <a:prstGeom prst="rect">
            <a:avLst/>
          </a:prstGeom>
        </p:spPr>
        <p:txBody>
          <a:bodyPr/>
          <a:lstStyle/>
          <a:p>
            <a:fld id="{8F5610C8-4100-4700-A695-ED7D190A45BE}" type="slidenum">
              <a:rPr lang="en-GB" smtClean="0">
                <a:solidFill>
                  <a:srgbClr val="6D6F71"/>
                </a:solidFill>
              </a:rPr>
              <a:pPr/>
              <a:t>24</a:t>
            </a:fld>
            <a:endParaRPr lang="en-GB" dirty="0">
              <a:solidFill>
                <a:srgbClr val="6D6F7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39590" y="-19972"/>
            <a:ext cx="4804410" cy="1941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GB" sz="1200" i="1" dirty="0">
              <a:solidFill>
                <a:schemeClr val="bg1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5284895"/>
              </p:ext>
            </p:extLst>
          </p:nvPr>
        </p:nvGraphicFramePr>
        <p:xfrm>
          <a:off x="152400" y="1207028"/>
          <a:ext cx="8741404" cy="4827257"/>
        </p:xfrm>
        <a:graphic>
          <a:graphicData uri="http://schemas.openxmlformats.org/drawingml/2006/table">
            <a:tbl>
              <a:tblPr/>
              <a:tblGrid>
                <a:gridCol w="1714074"/>
                <a:gridCol w="702733"/>
                <a:gridCol w="702733"/>
                <a:gridCol w="702733"/>
                <a:gridCol w="702733"/>
                <a:gridCol w="702733"/>
                <a:gridCol w="702733"/>
                <a:gridCol w="702733"/>
                <a:gridCol w="702733"/>
                <a:gridCol w="702733"/>
                <a:gridCol w="702733"/>
              </a:tblGrid>
              <a:tr h="380987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Retailer 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Retailer 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Retailer 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Retailer 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Retailer 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Retailer 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Retailer 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Retailer 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Retailer 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Retailer 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1045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1200" b="0" i="0" u="none" strike="noStrike" dirty="0">
                          <a:solidFill>
                            <a:srgbClr val="363739"/>
                          </a:solidFill>
                          <a:effectLst/>
                          <a:latin typeface="Calibri" panose="020F0502020204030204" pitchFamily="34" charset="0"/>
                        </a:rPr>
                        <a:t>De-listing without giving reasonable notice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741045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1200" b="0" i="0" u="none" strike="noStrike" dirty="0">
                          <a:solidFill>
                            <a:srgbClr val="363739"/>
                          </a:solidFill>
                          <a:effectLst/>
                          <a:latin typeface="Calibri" panose="020F0502020204030204" pitchFamily="34" charset="0"/>
                        </a:rPr>
                        <a:t>Incorrect deductions from invoices with or without notice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741045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1200" b="0" i="0" u="none" strike="noStrike" dirty="0">
                          <a:solidFill>
                            <a:srgbClr val="363739"/>
                          </a:solidFill>
                          <a:effectLst/>
                          <a:latin typeface="Calibri" panose="020F0502020204030204" pitchFamily="34" charset="0"/>
                        </a:rPr>
                        <a:t>No compensation for/ incurring penalty charges as a result of inaccurate forecasting by the retailer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11%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741045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1200" b="0" i="0" u="none" strike="noStrike" dirty="0">
                          <a:solidFill>
                            <a:srgbClr val="363739"/>
                          </a:solidFill>
                          <a:effectLst/>
                          <a:latin typeface="Calibri" panose="020F0502020204030204" pitchFamily="34" charset="0"/>
                        </a:rPr>
                        <a:t>Excessive retailer charges for artwork/ design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741045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1200" b="0" i="0" u="none" strike="noStrike" dirty="0">
                          <a:solidFill>
                            <a:srgbClr val="363739"/>
                          </a:solidFill>
                          <a:effectLst/>
                          <a:latin typeface="Calibri" panose="020F0502020204030204" pitchFamily="34" charset="0"/>
                        </a:rPr>
                        <a:t>Unjustified payments for consumer complaints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741045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1200" b="0" i="0" u="none" strike="noStrike" dirty="0">
                          <a:solidFill>
                            <a:srgbClr val="363739"/>
                          </a:solidFill>
                          <a:effectLst/>
                          <a:latin typeface="Calibri" panose="020F0502020204030204" pitchFamily="34" charset="0"/>
                        </a:rPr>
                        <a:t>Drop and drive: delivery performance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D6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848175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Overall assessment</a:t>
            </a:r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9625F87-44A5-4BCE-BECC-3F62853E43A0}" type="slidenum">
              <a:rPr lang="en-GB" smtClean="0"/>
              <a:pPr/>
              <a:t>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6763235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41530"/>
            <a:ext cx="8858250" cy="466726"/>
          </a:xfrm>
        </p:spPr>
        <p:txBody>
          <a:bodyPr/>
          <a:lstStyle/>
          <a:p>
            <a:r>
              <a:rPr lang="en-GB" sz="2800" dirty="0" smtClean="0"/>
              <a:t>Change in retailer practice over the last year</a:t>
            </a:r>
            <a:endParaRPr lang="en-GB" sz="2800" dirty="0"/>
          </a:p>
        </p:txBody>
      </p:sp>
      <p:graphicFrame>
        <p:nvGraphicFramePr>
          <p:cNvPr id="7" name="Chart 6"/>
          <p:cNvGraphicFramePr/>
          <p:nvPr>
            <p:extLst/>
          </p:nvPr>
        </p:nvGraphicFramePr>
        <p:xfrm>
          <a:off x="685877" y="1106255"/>
          <a:ext cx="7617614" cy="504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893999" y="1252476"/>
            <a:ext cx="1039622" cy="16676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rgbClr val="6D6F71">
                    <a:lumMod val="50000"/>
                  </a:srgbClr>
                </a:solidFill>
              </a:rPr>
              <a:t>Tesco</a:t>
            </a:r>
            <a:endParaRPr lang="en-GB" sz="1400" b="1" dirty="0">
              <a:solidFill>
                <a:srgbClr val="6D6F71">
                  <a:lumMod val="50000"/>
                </a:srgb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58328" y="1734807"/>
            <a:ext cx="1039622" cy="16676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rgbClr val="6D6F71">
                    <a:lumMod val="50000"/>
                  </a:srgbClr>
                </a:solidFill>
              </a:rPr>
              <a:t>Aldi</a:t>
            </a:r>
            <a:endParaRPr lang="en-GB" sz="1400" b="1" dirty="0">
              <a:solidFill>
                <a:srgbClr val="6D6F71">
                  <a:lumMod val="50000"/>
                </a:srgbClr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81271" y="3556191"/>
            <a:ext cx="1039622" cy="16676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rgbClr val="6D6F71">
                    <a:lumMod val="50000"/>
                  </a:srgbClr>
                </a:solidFill>
              </a:rPr>
              <a:t>Sainsbury's</a:t>
            </a:r>
            <a:endParaRPr lang="en-GB" sz="1400" b="1" dirty="0">
              <a:solidFill>
                <a:srgbClr val="6D6F71">
                  <a:lumMod val="50000"/>
                </a:srgbClr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93999" y="5430664"/>
            <a:ext cx="1039622" cy="16676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rgbClr val="6D6F71">
                    <a:lumMod val="50000"/>
                  </a:srgbClr>
                </a:solidFill>
              </a:rPr>
              <a:t>Asda</a:t>
            </a:r>
            <a:endParaRPr lang="en-GB" sz="1400" b="1" dirty="0">
              <a:solidFill>
                <a:srgbClr val="6D6F71">
                  <a:lumMod val="50000"/>
                </a:srgbClr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66802" y="2647046"/>
            <a:ext cx="1039622" cy="16676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err="1" smtClean="0">
                <a:solidFill>
                  <a:srgbClr val="6D6F71">
                    <a:lumMod val="50000"/>
                  </a:srgbClr>
                </a:solidFill>
              </a:rPr>
              <a:t>Lidl</a:t>
            </a:r>
            <a:endParaRPr lang="en-GB" sz="1400" b="1" dirty="0">
              <a:solidFill>
                <a:srgbClr val="6D6F71">
                  <a:lumMod val="50000"/>
                </a:srgbClr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06681" y="4002161"/>
            <a:ext cx="1039622" cy="16676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err="1" smtClean="0">
                <a:solidFill>
                  <a:srgbClr val="6D6F71">
                    <a:lumMod val="50000"/>
                  </a:srgbClr>
                </a:solidFill>
              </a:rPr>
              <a:t>Morrisons</a:t>
            </a:r>
            <a:endParaRPr lang="en-GB" sz="1400" b="1" dirty="0">
              <a:solidFill>
                <a:srgbClr val="6D6F71">
                  <a:lumMod val="50000"/>
                </a:srgbClr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6511" y="4953504"/>
            <a:ext cx="1644382" cy="735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rgbClr val="6D6F71">
                    <a:lumMod val="50000"/>
                  </a:srgbClr>
                </a:solidFill>
              </a:rPr>
              <a:t>Marks and Spencer</a:t>
            </a:r>
            <a:endParaRPr lang="en-GB" sz="1400" b="1" dirty="0">
              <a:solidFill>
                <a:srgbClr val="6D6F71">
                  <a:lumMod val="50000"/>
                </a:srgbClr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17282" y="2207704"/>
            <a:ext cx="1219134" cy="11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rgbClr val="6D6F71">
                    <a:lumMod val="50000"/>
                  </a:srgbClr>
                </a:solidFill>
              </a:rPr>
              <a:t>Co-operative</a:t>
            </a:r>
            <a:endParaRPr lang="en-GB" sz="1400" b="1" dirty="0">
              <a:solidFill>
                <a:srgbClr val="6D6F71">
                  <a:lumMod val="50000"/>
                </a:srgbClr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40210" y="4466921"/>
            <a:ext cx="1039622" cy="16676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rgbClr val="6D6F71">
                    <a:lumMod val="50000"/>
                  </a:srgbClr>
                </a:solidFill>
              </a:rPr>
              <a:t>Waitrose</a:t>
            </a:r>
            <a:endParaRPr lang="en-GB" sz="1400" b="1" dirty="0">
              <a:solidFill>
                <a:srgbClr val="6D6F71">
                  <a:lumMod val="50000"/>
                </a:srgbClr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66291" y="3111229"/>
            <a:ext cx="1039622" cy="16676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rgbClr val="6D6F71">
                    <a:lumMod val="50000"/>
                  </a:srgbClr>
                </a:solidFill>
              </a:rPr>
              <a:t>Iceland</a:t>
            </a:r>
            <a:endParaRPr lang="en-GB" sz="1400" b="1" dirty="0">
              <a:solidFill>
                <a:srgbClr val="6D6F71">
                  <a:lumMod val="50000"/>
                </a:srgbClr>
              </a:solidFill>
            </a:endParaRP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5610C8-4100-4700-A695-ED7D190A45BE}" type="slidenum">
              <a:rPr lang="en-GB" smtClean="0">
                <a:solidFill>
                  <a:srgbClr val="6D6F71"/>
                </a:solidFill>
              </a:rPr>
              <a:pPr/>
              <a:t>26</a:t>
            </a:fld>
            <a:endParaRPr lang="en-GB" dirty="0">
              <a:solidFill>
                <a:srgbClr val="6D6F7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756950" y="312206"/>
            <a:ext cx="1387050" cy="7706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>
                <a:solidFill>
                  <a:schemeClr val="tx1">
                    <a:lumMod val="50000"/>
                  </a:schemeClr>
                </a:solidFill>
              </a:rPr>
              <a:t>Net improvement </a:t>
            </a:r>
          </a:p>
          <a:p>
            <a:pPr algn="ctr"/>
            <a:r>
              <a:rPr lang="en-GB" sz="1200" b="1" dirty="0" smtClean="0">
                <a:solidFill>
                  <a:schemeClr val="tx1">
                    <a:lumMod val="50000"/>
                  </a:schemeClr>
                </a:solidFill>
              </a:rPr>
              <a:t>score (2016)</a:t>
            </a:r>
          </a:p>
          <a:p>
            <a:pPr algn="ctr"/>
            <a:r>
              <a:rPr lang="en-GB" sz="1200" b="1" dirty="0" smtClean="0">
                <a:solidFill>
                  <a:schemeClr val="tx1">
                    <a:lumMod val="50000"/>
                  </a:schemeClr>
                </a:solidFill>
              </a:rPr>
              <a:t>(improved% minus worsened%)</a:t>
            </a:r>
            <a:endParaRPr lang="en-GB" sz="1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195900" y="2558726"/>
            <a:ext cx="554631" cy="307994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>
                <a:solidFill>
                  <a:schemeClr val="bg1"/>
                </a:solidFill>
              </a:rPr>
              <a:t>14</a:t>
            </a:r>
            <a:endParaRPr lang="en-GB" sz="1200" b="1" dirty="0">
              <a:solidFill>
                <a:schemeClr val="bg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199453" y="1214706"/>
            <a:ext cx="554631" cy="307994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>
                <a:solidFill>
                  <a:schemeClr val="bg1"/>
                </a:solidFill>
              </a:rPr>
              <a:t>60</a:t>
            </a:r>
            <a:endParaRPr lang="en-GB" sz="1200" b="1" dirty="0">
              <a:solidFill>
                <a:schemeClr val="bg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195900" y="3494331"/>
            <a:ext cx="554631" cy="307994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>
                <a:solidFill>
                  <a:schemeClr val="bg1"/>
                </a:solidFill>
              </a:rPr>
              <a:t>13</a:t>
            </a:r>
            <a:endParaRPr lang="en-GB" sz="1200" b="1" dirty="0">
              <a:solidFill>
                <a:schemeClr val="bg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199453" y="1671759"/>
            <a:ext cx="554631" cy="307994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>
                <a:solidFill>
                  <a:schemeClr val="bg1"/>
                </a:solidFill>
              </a:rPr>
              <a:t>18</a:t>
            </a:r>
            <a:endParaRPr lang="en-GB" sz="1200" b="1" dirty="0">
              <a:solidFill>
                <a:schemeClr val="bg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195900" y="2111607"/>
            <a:ext cx="554631" cy="307994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>
                <a:solidFill>
                  <a:schemeClr val="bg1"/>
                </a:solidFill>
              </a:rPr>
              <a:t>16</a:t>
            </a:r>
            <a:endParaRPr lang="en-GB" sz="1200" b="1" dirty="0">
              <a:solidFill>
                <a:schemeClr val="bg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194770" y="4418503"/>
            <a:ext cx="554631" cy="30799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>
                    <a:lumMod val="50000"/>
                  </a:schemeClr>
                </a:solidFill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95900" y="3021286"/>
            <a:ext cx="554631" cy="307994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>
                <a:solidFill>
                  <a:schemeClr val="bg1"/>
                </a:solidFill>
              </a:rPr>
              <a:t>14</a:t>
            </a:r>
            <a:endParaRPr lang="en-GB" sz="1200" b="1" dirty="0">
              <a:solidFill>
                <a:schemeClr val="bg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194769" y="4861110"/>
            <a:ext cx="554631" cy="307994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>
                <a:solidFill>
                  <a:schemeClr val="bg1"/>
                </a:solidFill>
              </a:rPr>
              <a:t>-1</a:t>
            </a:r>
            <a:endParaRPr lang="en-GB" sz="1200" b="1" dirty="0">
              <a:solidFill>
                <a:schemeClr val="bg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194770" y="3936938"/>
            <a:ext cx="554631" cy="30799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>
                <a:solidFill>
                  <a:schemeClr val="tx1">
                    <a:lumMod val="50000"/>
                  </a:schemeClr>
                </a:solidFill>
              </a:rPr>
              <a:t>0</a:t>
            </a:r>
            <a:endParaRPr lang="en-GB" sz="1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194769" y="5298560"/>
            <a:ext cx="554631" cy="307994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>
                <a:solidFill>
                  <a:schemeClr val="bg1"/>
                </a:solidFill>
              </a:rPr>
              <a:t>-10</a:t>
            </a:r>
            <a:endParaRPr lang="en-GB" sz="1200" b="1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17282" y="6560814"/>
            <a:ext cx="3716538" cy="22566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50" dirty="0" smtClean="0">
                <a:solidFill>
                  <a:schemeClr val="tx1">
                    <a:lumMod val="50000"/>
                  </a:schemeClr>
                </a:solidFill>
              </a:rPr>
              <a:t>Retailers ranked by net improvement minus worsened score</a:t>
            </a:r>
            <a:endParaRPr lang="en-GB" sz="105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4034950" y="1062695"/>
            <a:ext cx="589084" cy="448406"/>
          </a:xfrm>
          <a:prstGeom prst="ellipse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Oval 32"/>
          <p:cNvSpPr/>
          <p:nvPr/>
        </p:nvSpPr>
        <p:spPr>
          <a:xfrm>
            <a:off x="3003387" y="2887026"/>
            <a:ext cx="589084" cy="448406"/>
          </a:xfrm>
          <a:prstGeom prst="ellipse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231431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42017"/>
            <a:ext cx="8681317" cy="466726"/>
          </a:xfrm>
        </p:spPr>
        <p:txBody>
          <a:bodyPr/>
          <a:lstStyle/>
          <a:p>
            <a:r>
              <a:rPr lang="en-GB" sz="3200" dirty="0" smtClean="0"/>
              <a:t>Overall assessment of compliance with the Code</a:t>
            </a:r>
            <a:endParaRPr lang="en-GB" sz="3200" dirty="0"/>
          </a:p>
        </p:txBody>
      </p:sp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2447474314"/>
              </p:ext>
            </p:extLst>
          </p:nvPr>
        </p:nvGraphicFramePr>
        <p:xfrm>
          <a:off x="197297" y="907365"/>
          <a:ext cx="8694014" cy="53990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206236" y="2976134"/>
            <a:ext cx="1039622" cy="16676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 smtClean="0">
                <a:solidFill>
                  <a:schemeClr val="tx1">
                    <a:lumMod val="50000"/>
                  </a:schemeClr>
                </a:solidFill>
              </a:rPr>
              <a:t>Tesco</a:t>
            </a:r>
            <a:endParaRPr lang="en-GB" sz="16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36921" y="1047271"/>
            <a:ext cx="1039622" cy="16676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 smtClean="0">
                <a:solidFill>
                  <a:schemeClr val="tx1">
                    <a:lumMod val="50000"/>
                  </a:schemeClr>
                </a:solidFill>
              </a:rPr>
              <a:t>Aldi</a:t>
            </a:r>
            <a:endParaRPr lang="en-GB" sz="16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568" y="1533952"/>
            <a:ext cx="1247286" cy="17100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 smtClean="0">
                <a:solidFill>
                  <a:schemeClr val="tx1">
                    <a:lumMod val="50000"/>
                  </a:schemeClr>
                </a:solidFill>
              </a:rPr>
              <a:t>Sainsbury's</a:t>
            </a:r>
            <a:endParaRPr lang="en-GB" sz="16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32175" y="4483138"/>
            <a:ext cx="1039622" cy="16676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 smtClean="0">
                <a:solidFill>
                  <a:schemeClr val="tx1">
                    <a:lumMod val="50000"/>
                  </a:schemeClr>
                </a:solidFill>
              </a:rPr>
              <a:t>Asda</a:t>
            </a:r>
            <a:endParaRPr lang="en-GB" sz="16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56232" y="2035340"/>
            <a:ext cx="1039622" cy="16676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 err="1" smtClean="0">
                <a:solidFill>
                  <a:schemeClr val="tx1">
                    <a:lumMod val="50000"/>
                  </a:schemeClr>
                </a:solidFill>
              </a:rPr>
              <a:t>Lidl</a:t>
            </a:r>
            <a:endParaRPr lang="en-GB" sz="16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4226" y="5430129"/>
            <a:ext cx="1165338" cy="1543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 err="1" smtClean="0">
                <a:solidFill>
                  <a:schemeClr val="tx1">
                    <a:lumMod val="50000"/>
                  </a:schemeClr>
                </a:solidFill>
              </a:rPr>
              <a:t>Morrisons</a:t>
            </a:r>
            <a:endParaRPr lang="en-GB" sz="16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-108969" y="3551292"/>
            <a:ext cx="1598772" cy="1552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 smtClean="0">
                <a:solidFill>
                  <a:schemeClr val="tx1">
                    <a:lumMod val="50000"/>
                  </a:schemeClr>
                </a:solidFill>
              </a:rPr>
              <a:t>Marks and Spencer</a:t>
            </a:r>
            <a:endParaRPr lang="en-GB" sz="16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-32131" y="4035734"/>
            <a:ext cx="1408683" cy="1048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 smtClean="0">
                <a:solidFill>
                  <a:schemeClr val="tx1">
                    <a:lumMod val="50000"/>
                  </a:schemeClr>
                </a:solidFill>
              </a:rPr>
              <a:t>Co-operative</a:t>
            </a:r>
            <a:endParaRPr lang="en-GB" sz="16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19942" y="2504054"/>
            <a:ext cx="1039622" cy="16676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 smtClean="0">
                <a:solidFill>
                  <a:schemeClr val="tx1">
                    <a:lumMod val="50000"/>
                  </a:schemeClr>
                </a:solidFill>
              </a:rPr>
              <a:t>Waitrose</a:t>
            </a:r>
            <a:endParaRPr lang="en-GB" sz="16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70606" y="4984965"/>
            <a:ext cx="1039622" cy="16676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 smtClean="0">
                <a:solidFill>
                  <a:schemeClr val="tx1">
                    <a:lumMod val="50000"/>
                  </a:schemeClr>
                </a:solidFill>
              </a:rPr>
              <a:t>Iceland</a:t>
            </a:r>
            <a:endParaRPr lang="en-GB" sz="16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0" name="Slide Number Placeholder 29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5610C8-4100-4700-A695-ED7D190A45BE}" type="slidenum">
              <a:rPr lang="en-GB" smtClean="0">
                <a:solidFill>
                  <a:srgbClr val="6D6F71"/>
                </a:solidFill>
              </a:rPr>
              <a:pPr/>
              <a:t>27</a:t>
            </a:fld>
            <a:endParaRPr lang="en-GB" dirty="0">
              <a:solidFill>
                <a:srgbClr val="6D6F7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504997"/>
            <a:ext cx="4181376" cy="3841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dirty="0" smtClean="0">
                <a:solidFill>
                  <a:schemeClr val="tx1">
                    <a:lumMod val="50000"/>
                  </a:schemeClr>
                </a:solidFill>
              </a:rPr>
              <a:t>Retailers ranked by net ‘consistently well’ and ‘mostly’</a:t>
            </a:r>
            <a:endParaRPr lang="en-GB" sz="105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121047" y="532508"/>
            <a:ext cx="1046284" cy="48432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>
                <a:solidFill>
                  <a:schemeClr val="tx1">
                    <a:lumMod val="50000"/>
                  </a:schemeClr>
                </a:solidFill>
              </a:rPr>
              <a:t>Consistently well + mostly</a:t>
            </a:r>
            <a:endParaRPr lang="en-GB" sz="1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326571" y="2479535"/>
            <a:ext cx="554631" cy="307994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>
                <a:solidFill>
                  <a:schemeClr val="bg1"/>
                </a:solidFill>
              </a:rPr>
              <a:t>95</a:t>
            </a:r>
            <a:endParaRPr lang="en-GB" sz="1200" b="1" dirty="0">
              <a:solidFill>
                <a:schemeClr val="bg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315226" y="1001837"/>
            <a:ext cx="554631" cy="307994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>
                <a:solidFill>
                  <a:schemeClr val="bg1"/>
                </a:solidFill>
              </a:rPr>
              <a:t>98</a:t>
            </a:r>
            <a:endParaRPr lang="en-GB" sz="1200" b="1" dirty="0">
              <a:solidFill>
                <a:schemeClr val="bg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332812" y="3452873"/>
            <a:ext cx="554631" cy="307994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>
                <a:solidFill>
                  <a:schemeClr val="bg1"/>
                </a:solidFill>
              </a:rPr>
              <a:t>90</a:t>
            </a:r>
            <a:endParaRPr lang="en-GB" sz="1200" b="1" dirty="0">
              <a:solidFill>
                <a:schemeClr val="bg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315226" y="1474584"/>
            <a:ext cx="554631" cy="307994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>
                <a:solidFill>
                  <a:schemeClr val="bg1"/>
                </a:solidFill>
              </a:rPr>
              <a:t>96</a:t>
            </a:r>
            <a:endParaRPr lang="en-GB" sz="1200" b="1" dirty="0">
              <a:solidFill>
                <a:schemeClr val="bg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326571" y="1995398"/>
            <a:ext cx="554631" cy="307994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>
                <a:solidFill>
                  <a:schemeClr val="bg1"/>
                </a:solidFill>
              </a:rPr>
              <a:t>95</a:t>
            </a:r>
            <a:endParaRPr lang="en-GB" sz="1200" b="1" dirty="0">
              <a:solidFill>
                <a:schemeClr val="bg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331862" y="4408421"/>
            <a:ext cx="554631" cy="307994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>
                <a:solidFill>
                  <a:schemeClr val="bg1"/>
                </a:solidFill>
              </a:rPr>
              <a:t>81</a:t>
            </a:r>
            <a:endParaRPr lang="en-GB" sz="1200" b="1" dirty="0">
              <a:solidFill>
                <a:schemeClr val="bg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326571" y="2964831"/>
            <a:ext cx="554631" cy="307994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bg1"/>
                </a:solidFill>
              </a:rPr>
              <a:t>9</a:t>
            </a:r>
            <a:r>
              <a:rPr lang="en-GB" sz="1200" b="1" dirty="0" smtClean="0">
                <a:solidFill>
                  <a:schemeClr val="bg1"/>
                </a:solidFill>
              </a:rPr>
              <a:t>4</a:t>
            </a:r>
            <a:endParaRPr lang="en-GB" sz="1200" b="1" dirty="0">
              <a:solidFill>
                <a:schemeClr val="bg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333860" y="3941557"/>
            <a:ext cx="554631" cy="307994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>
                <a:solidFill>
                  <a:schemeClr val="bg1"/>
                </a:solidFill>
              </a:rPr>
              <a:t>88</a:t>
            </a:r>
            <a:endParaRPr lang="en-GB" sz="1200" b="1" dirty="0">
              <a:solidFill>
                <a:schemeClr val="bg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334126" y="4915037"/>
            <a:ext cx="554631" cy="307994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>
                <a:solidFill>
                  <a:schemeClr val="bg1"/>
                </a:solidFill>
              </a:rPr>
              <a:t>81</a:t>
            </a:r>
            <a:endParaRPr lang="en-GB" sz="1200" b="1" dirty="0">
              <a:solidFill>
                <a:schemeClr val="bg1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326572" y="5382298"/>
            <a:ext cx="554631" cy="307994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>
                <a:solidFill>
                  <a:schemeClr val="bg1"/>
                </a:solidFill>
              </a:rPr>
              <a:t>80</a:t>
            </a:r>
            <a:endParaRPr lang="en-GB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666873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 smtClean="0">
                <a:solidFill>
                  <a:schemeClr val="tx1">
                    <a:lumMod val="50000"/>
                  </a:schemeClr>
                </a:solidFill>
              </a:rPr>
              <a:t>Key trends</a:t>
            </a:r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9625F87-44A5-4BCE-BECC-3F62853E43A0}" type="slidenum">
              <a:rPr lang="en-GB" smtClean="0"/>
              <a:pPr/>
              <a:t>28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892704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GB" dirty="0" smtClean="0"/>
              <a:t>Selected key trends 2014 to 2016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9625F87-44A5-4BCE-BECC-3F62853E43A0}" type="slidenum">
              <a:rPr lang="en-GB" smtClean="0"/>
              <a:pPr/>
              <a:t>29</a:t>
            </a:fld>
            <a:endParaRPr lang="en-GB" dirty="0"/>
          </a:p>
        </p:txBody>
      </p:sp>
      <p:graphicFrame>
        <p:nvGraphicFramePr>
          <p:cNvPr id="55" name="Chart 54"/>
          <p:cNvGraphicFramePr/>
          <p:nvPr>
            <p:extLst>
              <p:ext uri="{D42A27DB-BD31-4B8C-83A1-F6EECF244321}">
                <p14:modId xmlns:p14="http://schemas.microsoft.com/office/powerpoint/2010/main" val="1855375192"/>
              </p:ext>
            </p:extLst>
          </p:nvPr>
        </p:nvGraphicFramePr>
        <p:xfrm>
          <a:off x="369277" y="1178169"/>
          <a:ext cx="8493736" cy="47742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67254332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TP://WWW.FORGETDATA.COM/SLIDES/4" val="&lt;?xml version=&quot;1.0&quot; encoding=&quot;utf-16&quot;?&gt;&lt;PresentationLink xmlns:i=&quot;http://www.w3.org/2001/XMLSchema-instance&quot; xmlns=&quot;http://www.forgetdata.com/Slides&quot;&gt;&lt;DataContext&gt;&lt;Connection xmlns:i=&quot;http://www.w3.org/2001/XMLSchema-instance&quot; xmlns=&quot;http://www.forgetdata.com/ReportingSuite&quot;&gt;&lt;ConnectionString&gt;C:\Users\garyn\Documents\Marketing Slides\Co-op bail in.xlsx&lt;/ConnectionString&gt;&lt;Name&gt;Item0&lt;/Name&gt;&lt;Provider&gt;Excel 2007/2010 Provider&lt;/Provider&gt;&lt;/Connection&gt;&lt;/DataContext&gt;&lt;Version&gt;4.2.0.0&lt;/Version&gt;&lt;/PresentationLink&gt;"/>
  <p:tag name="ISPRING_RESOURCE_PATHS_HASH_2" val="17aa32b0a1b1442e635738162ad8924d8d41f51"/>
  <p:tag name="ISPRING_RESOURCE_PATHS_HASH_PRESENTER" val="5cfbde8965822beafd6ef0565a341e386795c553"/>
</p:tagLst>
</file>

<file path=ppt/theme/theme1.xml><?xml version="1.0" encoding="utf-8"?>
<a:theme xmlns:a="http://schemas.openxmlformats.org/drawingml/2006/main" name="YouGov_TEMPLATE_Calibri">
  <a:themeElements>
    <a:clrScheme name="You Gov - 20-8-14">
      <a:dk1>
        <a:srgbClr val="6D6F71"/>
      </a:dk1>
      <a:lt1>
        <a:srgbClr val="FFFFFF"/>
      </a:lt1>
      <a:dk2>
        <a:srgbClr val="EE2D27"/>
      </a:dk2>
      <a:lt2>
        <a:srgbClr val="A7A9AC"/>
      </a:lt2>
      <a:accent1>
        <a:srgbClr val="93D023"/>
      </a:accent1>
      <a:accent2>
        <a:srgbClr val="53ACAF"/>
      </a:accent2>
      <a:accent3>
        <a:srgbClr val="D3975B"/>
      </a:accent3>
      <a:accent4>
        <a:srgbClr val="117CC6"/>
      </a:accent4>
      <a:accent5>
        <a:srgbClr val="DEE705"/>
      </a:accent5>
      <a:accent6>
        <a:srgbClr val="885788"/>
      </a:accent6>
      <a:hlink>
        <a:srgbClr val="117CC6"/>
      </a:hlink>
      <a:folHlink>
        <a:srgbClr val="083E63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 flip="none" rotWithShape="1">
          <a:gsLst>
            <a:gs pos="0">
              <a:srgbClr val="D60000"/>
            </a:gs>
            <a:gs pos="100000">
              <a:srgbClr val="800000"/>
            </a:gs>
          </a:gsLst>
          <a:lin ang="5400000" scaled="1"/>
          <a:tileRect/>
        </a:gra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txDef>
      <a:spPr/>
      <a:bodyPr anchor="ctr" anchorCtr="0"/>
      <a:lstStyle>
        <a:defPPr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lank" id="{7750378D-DF76-43D1-A189-BD405C5E6A90}" vid="{E10A26E5-8D80-46F6-B5E7-1C5B8934C5E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9583</TotalTime>
  <Words>1203</Words>
  <Application>Microsoft Office PowerPoint</Application>
  <PresentationFormat>On-screen Show (4:3)</PresentationFormat>
  <Paragraphs>275</Paragraphs>
  <Slides>29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Wingdings</vt:lpstr>
      <vt:lpstr>Calibri</vt:lpstr>
      <vt:lpstr>YouGov_TEMPLATE_Calibri</vt:lpstr>
      <vt:lpstr>PowerPoint Presentation</vt:lpstr>
      <vt:lpstr>PowerPoint Presentation</vt:lpstr>
      <vt:lpstr>PowerPoint Presentation</vt:lpstr>
      <vt:lpstr>Who took part?</vt:lpstr>
      <vt:lpstr>Which retailers supplied?</vt:lpstr>
      <vt:lpstr>PowerPoint Presentation</vt:lpstr>
      <vt:lpstr>‘Good’ level of Code understanding rises by 7pp</vt:lpstr>
      <vt:lpstr>‘Good’ understanding of the GCA’s role and responsibilities rises by 7pp</vt:lpstr>
      <vt:lpstr>No increase in whether direct suppliers would raise issues with the GCA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Many unsure whether their trade association offers training</vt:lpstr>
      <vt:lpstr>PowerPoint Presentation</vt:lpstr>
      <vt:lpstr>Have a written supply agreement with these retailers?</vt:lpstr>
      <vt:lpstr>Knowing who is or where to find the CCO</vt:lpstr>
      <vt:lpstr>PowerPoint Presentation</vt:lpstr>
      <vt:lpstr>Proportion of suppliers with issues falls by 8pp Issues in the language of the Code</vt:lpstr>
      <vt:lpstr>Incorrect deductions and excessive artwork charges: Issues in the language of suppliers</vt:lpstr>
      <vt:lpstr>Aspects of retailer practice that have the most significant negative impact</vt:lpstr>
      <vt:lpstr>PowerPoint Presentation</vt:lpstr>
      <vt:lpstr>Issues categorised by the Code: Which issues have direct suppliers experienced? – by  retailer</vt:lpstr>
      <vt:lpstr>PowerPoint Presentation</vt:lpstr>
      <vt:lpstr>Change in retailer practice over the last year</vt:lpstr>
      <vt:lpstr>Overall assessment of compliance with the Code</vt:lpstr>
      <vt:lpstr>PowerPoint Presentation</vt:lpstr>
      <vt:lpstr>PowerPoint Presentation</vt:lpstr>
    </vt:vector>
  </TitlesOfParts>
  <Company>YouGov Plc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Olivia Bonito</dc:creator>
  <cp:lastModifiedBy>judith johnston</cp:lastModifiedBy>
  <cp:revision>458</cp:revision>
  <cp:lastPrinted>2016-06-10T07:57:01Z</cp:lastPrinted>
  <dcterms:created xsi:type="dcterms:W3CDTF">2015-04-30T12:41:58Z</dcterms:created>
  <dcterms:modified xsi:type="dcterms:W3CDTF">2016-06-20T15:28:25Z</dcterms:modified>
</cp:coreProperties>
</file>