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5" r:id="rId3"/>
    <p:sldId id="262" r:id="rId4"/>
    <p:sldId id="263" r:id="rId5"/>
    <p:sldId id="264" r:id="rId6"/>
    <p:sldId id="267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4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1" autoAdjust="0"/>
    <p:restoredTop sz="60468" autoAdjust="0"/>
  </p:normalViewPr>
  <p:slideViewPr>
    <p:cSldViewPr snapToGrid="0">
      <p:cViewPr varScale="1">
        <p:scale>
          <a:sx n="76" d="100"/>
          <a:sy n="76" d="100"/>
        </p:scale>
        <p:origin x="210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60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123EC-8C43-458C-99D2-38D07DC7A8AF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582EE-A63F-4D85-AB72-275D991CBD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137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E5254-8076-47E6-8332-7F470F23861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822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E5254-8076-47E6-8332-7F470F23861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70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 smtClean="0">
              <a:solidFill>
                <a:srgbClr val="C00000"/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E5254-8076-47E6-8332-7F470F23861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715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E5254-8076-47E6-8332-7F470F23861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32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40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17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42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848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049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87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86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83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69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08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682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RS_title slide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72" y="1041011"/>
            <a:ext cx="5601480" cy="4038988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4267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37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RS_Powerpoint title slide_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5578" y="993741"/>
            <a:ext cx="3047839" cy="1321160"/>
          </a:xfrm>
        </p:spPr>
        <p:txBody>
          <a:bodyPr anchor="t">
            <a:normAutofit/>
          </a:bodyPr>
          <a:lstStyle>
            <a:lvl1pPr algn="l">
              <a:defRPr sz="2133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3311056" y="993742"/>
            <a:ext cx="8722197" cy="478900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133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3717" y="71967"/>
            <a:ext cx="3860800" cy="366184"/>
          </a:xfrm>
        </p:spPr>
        <p:txBody>
          <a:bodyPr/>
          <a:lstStyle>
            <a:lvl1pPr algn="l">
              <a:defRPr sz="1067">
                <a:solidFill>
                  <a:srgbClr val="1C1D1D"/>
                </a:solidFill>
              </a:defRPr>
            </a:lvl1pPr>
          </a:lstStyle>
          <a:p>
            <a:pPr>
              <a:defRPr/>
            </a:pPr>
            <a:r>
              <a:rPr lang="en-US"/>
              <a:t>Title of presentation or section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9353551" y="71967"/>
            <a:ext cx="2844800" cy="366184"/>
          </a:xfrm>
        </p:spPr>
        <p:txBody>
          <a:bodyPr/>
          <a:lstStyle>
            <a:lvl1pPr>
              <a:defRPr sz="1067">
                <a:solidFill>
                  <a:srgbClr val="1C1D1D"/>
                </a:solidFill>
              </a:defRPr>
            </a:lvl1pPr>
          </a:lstStyle>
          <a:p>
            <a:fld id="{82340BF7-E0AE-4C32-A550-12175E1185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668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RS_Powerpoint title slide_4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517" y="1013988"/>
            <a:ext cx="5009836" cy="130537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4267" b="1">
                <a:solidFill>
                  <a:srgbClr val="AD062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4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06057-C2C6-4A89-9394-BF91D6543020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19424-2EA5-44C4-9F47-9520CEC3F1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51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/>
          <p:cNvSpPr>
            <a:spLocks noGrp="1"/>
          </p:cNvSpPr>
          <p:nvPr>
            <p:ph type="title"/>
          </p:nvPr>
        </p:nvSpPr>
        <p:spPr>
          <a:xfrm>
            <a:off x="74084" y="1250951"/>
            <a:ext cx="5526616" cy="4038600"/>
          </a:xfrm>
        </p:spPr>
        <p:txBody>
          <a:bodyPr/>
          <a:lstStyle/>
          <a:p>
            <a:r>
              <a:rPr lang="en-US" altLang="en-US" sz="3733" dirty="0" smtClean="0">
                <a:latin typeface="+mn-lt"/>
                <a:ea typeface="ＭＳ Ｐゴシック" panose="020B0600070205080204" pitchFamily="34" charset="-128"/>
              </a:rPr>
              <a:t>Science practicals and wider research</a:t>
            </a:r>
            <a:r>
              <a:rPr lang="en-US" altLang="en-US" sz="3200" b="0" dirty="0"/>
              <a:t/>
            </a:r>
            <a:br>
              <a:rPr lang="en-US" altLang="en-US" sz="3200" b="0" dirty="0"/>
            </a:br>
            <a:r>
              <a:rPr lang="en-US" altLang="en-US" sz="3200" b="0" dirty="0"/>
              <a:t/>
            </a:r>
            <a:br>
              <a:rPr lang="en-US" altLang="en-US" sz="3200" b="0" dirty="0"/>
            </a:br>
            <a:r>
              <a:rPr lang="en-US" altLang="en-US" sz="2400" b="0" dirty="0" smtClean="0"/>
              <a:t>Rosalind Mist</a:t>
            </a:r>
            <a:r>
              <a:rPr lang="en-US" altLang="en-US" sz="2400" b="0" dirty="0"/>
              <a:t/>
            </a:r>
            <a:br>
              <a:rPr lang="en-US" altLang="en-US" sz="2400" b="0" dirty="0"/>
            </a:br>
            <a:r>
              <a:rPr lang="en-US" altLang="en-US" sz="2400" b="0" dirty="0" smtClean="0"/>
              <a:t>Head of Education</a:t>
            </a:r>
            <a:r>
              <a:rPr lang="en-US" altLang="en-US" sz="2400" b="0" dirty="0"/>
              <a:t/>
            </a:r>
            <a:br>
              <a:rPr lang="en-US" altLang="en-US" sz="2400" b="0" dirty="0"/>
            </a:br>
            <a:r>
              <a:rPr lang="en-US" altLang="en-US" sz="2400" b="0" dirty="0"/>
              <a:t>Science Policy Centre</a:t>
            </a:r>
          </a:p>
        </p:txBody>
      </p:sp>
    </p:spTree>
    <p:extLst>
      <p:ext uri="{BB962C8B-B14F-4D97-AF65-F5344CB8AC3E}">
        <p14:creationId xmlns:p14="http://schemas.microsoft.com/office/powerpoint/2010/main" val="271328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0397" y="399382"/>
            <a:ext cx="3635173" cy="102262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130" b="0" dirty="0" smtClean="0">
                <a:solidFill>
                  <a:srgbClr val="333132"/>
                </a:solidFill>
                <a:cs typeface="Arial" pitchFamily="34" charset="0"/>
              </a:rPr>
              <a:t>What is happening</a:t>
            </a:r>
            <a: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endParaRPr lang="en-GB" sz="2400" b="0" dirty="0">
              <a:solidFill>
                <a:srgbClr val="33313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395" y="2499502"/>
            <a:ext cx="10760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Practical skills will be assessed both written exams covering the theory and application of practical skills and students’ practical skills will be directly assessed by teachers.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0396" y="4036270"/>
            <a:ext cx="10760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will be awarded a </a:t>
            </a: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practical endorsement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indicating they have demonstrated mastery in practical skills, but this will not contribute to their A-level grade or carry UCAS points.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396" y="1422010"/>
            <a:ext cx="10760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From September 2017 the assessment of practical skills in science A-levels is changing in England.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67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0397" y="399382"/>
            <a:ext cx="3635173" cy="102262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130" b="0" dirty="0" smtClean="0">
                <a:solidFill>
                  <a:srgbClr val="333132"/>
                </a:solidFill>
                <a:cs typeface="Arial" pitchFamily="34" charset="0"/>
              </a:rPr>
              <a:t>What does this mean for HEIs?</a:t>
            </a:r>
            <a: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endParaRPr lang="en-GB" sz="2400" b="0" dirty="0">
              <a:solidFill>
                <a:srgbClr val="33313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397" y="1190732"/>
            <a:ext cx="1076063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Passing the practical endorsement indicates a student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has:</a:t>
            </a:r>
          </a:p>
          <a:p>
            <a:pPr marL="838190" lvl="1" indent="-38099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comprehensive understanding of science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subjects</a:t>
            </a:r>
          </a:p>
          <a:p>
            <a:pPr marL="838190" lvl="1" indent="-38099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Mastered essential skills </a:t>
            </a:r>
          </a:p>
          <a:p>
            <a:pPr marL="838190" lvl="1" indent="-38099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ability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succeed in degree-level study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signals HEIs send can have a big influence over school </a:t>
            </a:r>
            <a:r>
              <a:rPr lang="en-US" sz="24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behaviour</a:t>
            </a: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838190" lvl="1" indent="-38099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encourage HEIs to specify that the endorsement for practical work is an essential part of A-level study.</a:t>
            </a:r>
          </a:p>
          <a:p>
            <a:pPr marL="838190" lvl="1" indent="-38099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38190" lvl="1" indent="-38099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It is vital to communicate to schools how the practical endorsement fits into your admissions criteria.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08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08804" y="306445"/>
            <a:ext cx="3047839" cy="102262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130" b="0" dirty="0" smtClean="0">
                <a:solidFill>
                  <a:srgbClr val="333132"/>
                </a:solidFill>
                <a:cs typeface="Arial" pitchFamily="34" charset="0"/>
              </a:rPr>
              <a:t>Answers to questions before you ask them!</a:t>
            </a:r>
            <a: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endParaRPr lang="en-GB" sz="2400" b="0" dirty="0">
              <a:solidFill>
                <a:srgbClr val="33313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0399" y="1276438"/>
            <a:ext cx="10760639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Should a student be accepted onto a course if they fail the practical endorsement?</a:t>
            </a:r>
            <a:r>
              <a:rPr lang="en-US" sz="2133" dirty="0">
                <a:latin typeface="+mj-lt"/>
                <a:ea typeface="ＭＳ Ｐゴシック" pitchFamily="34" charset="-128"/>
                <a:cs typeface="Arial" panose="020B0604020202020204" pitchFamily="34" charset="0"/>
              </a:rPr>
              <a:t/>
            </a:r>
            <a:br>
              <a:rPr lang="en-US" sz="2133" dirty="0">
                <a:latin typeface="+mj-lt"/>
                <a:ea typeface="ＭＳ Ｐゴシック" pitchFamily="34" charset="-128"/>
                <a:cs typeface="Arial" panose="020B0604020202020204" pitchFamily="34" charset="0"/>
              </a:rPr>
            </a:br>
            <a:endParaRPr lang="en-GB" sz="2133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0398" y="2722436"/>
            <a:ext cx="10760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 </a:t>
            </a: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it valid to ask for the practical science endorsement if a student is applying for a non-science course</a:t>
            </a: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?</a:t>
            </a:r>
            <a:endParaRPr lang="en-GB" sz="2133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8804" y="4199764"/>
            <a:ext cx="10760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How </a:t>
            </a: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does the English qualification compare to those of other UK nations</a:t>
            </a: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?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0398" y="5284246"/>
            <a:ext cx="10760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What </a:t>
            </a: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about </a:t>
            </a: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AS-levels?</a:t>
            </a:r>
            <a:endParaRPr lang="en-GB" sz="2133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380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7444" y="509110"/>
            <a:ext cx="3047839" cy="102262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2130" b="0" dirty="0" smtClean="0">
                <a:solidFill>
                  <a:srgbClr val="333132"/>
                </a:solidFill>
                <a:cs typeface="Arial" pitchFamily="34" charset="0"/>
              </a:rPr>
              <a:t>Mathematical and Quantitative skills</a:t>
            </a:r>
            <a:r>
              <a:rPr lang="en-GB" sz="2400" dirty="0" smtClean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 smtClean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sz="2400" dirty="0" smtClean="0">
                <a:solidFill>
                  <a:srgbClr val="333132"/>
                </a:solidFill>
                <a:latin typeface="Arial" pitchFamily="34" charset="0"/>
                <a:cs typeface="Arial" pitchFamily="34" charset="0"/>
              </a:rPr>
            </a:br>
            <a:endParaRPr lang="en-GB" sz="2400" b="0" dirty="0">
              <a:solidFill>
                <a:srgbClr val="33313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443" y="2629041"/>
            <a:ext cx="11388857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More </a:t>
            </a:r>
            <a:r>
              <a:rPr lang="en-US" sz="24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Maths</a:t>
            </a: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content in A levels, including in Sciences and Humanities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43" y="3721767"/>
            <a:ext cx="11388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Ask schools for Core Mathematics, the size of an AS-level but providing </a:t>
            </a:r>
            <a:r>
              <a:rPr lang="en-US" sz="24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Maths</a:t>
            </a: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skills needed by non-mathematicians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43" y="4570965"/>
            <a:ext cx="11388857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Changes to GCSE </a:t>
            </a:r>
            <a:r>
              <a:rPr lang="en-US" sz="24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Maths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7443" y="1680589"/>
            <a:ext cx="11388857" cy="71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New </a:t>
            </a:r>
            <a:r>
              <a:rPr lang="en-US" sz="24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Maths</a:t>
            </a:r>
            <a:r>
              <a:rPr lang="en-US" sz="24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A-Levels will come on stream in 2016 and be implemented by 2018</a:t>
            </a:r>
          </a:p>
        </p:txBody>
      </p:sp>
    </p:spTree>
    <p:extLst>
      <p:ext uri="{BB962C8B-B14F-4D97-AF65-F5344CB8AC3E}">
        <p14:creationId xmlns:p14="http://schemas.microsoft.com/office/powerpoint/2010/main" val="225218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Research and other activity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Assessing impact of changes on schools</a:t>
            </a:r>
          </a:p>
          <a:p>
            <a:pPr lvl="1"/>
            <a:r>
              <a:rPr lang="en-GB" dirty="0" smtClean="0"/>
              <a:t>HEI surveys</a:t>
            </a:r>
          </a:p>
          <a:p>
            <a:pPr lvl="1"/>
            <a:r>
              <a:rPr lang="en-GB" dirty="0" smtClean="0"/>
              <a:t>School level research</a:t>
            </a:r>
          </a:p>
          <a:p>
            <a:pPr lvl="1"/>
            <a:endParaRPr lang="en-GB" dirty="0"/>
          </a:p>
          <a:p>
            <a:r>
              <a:rPr lang="en-GB" dirty="0" smtClean="0"/>
              <a:t>How best to assess experimental science and problem-solving</a:t>
            </a:r>
          </a:p>
          <a:p>
            <a:pPr lvl="1"/>
            <a:r>
              <a:rPr lang="en-GB" dirty="0" smtClean="0"/>
              <a:t>ACME problem-solving</a:t>
            </a:r>
          </a:p>
          <a:p>
            <a:pPr lvl="1"/>
            <a:r>
              <a:rPr lang="en-GB" dirty="0" smtClean="0"/>
              <a:t>Royal Society Conference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851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731476" y="2202707"/>
            <a:ext cx="5837861" cy="3083531"/>
          </a:xfrm>
        </p:spPr>
        <p:txBody>
          <a:bodyPr/>
          <a:lstStyle/>
          <a:p>
            <a:r>
              <a:rPr lang="en-GB" altLang="en-US" sz="5333" dirty="0" smtClean="0">
                <a:solidFill>
                  <a:srgbClr val="C00000"/>
                </a:solidFill>
                <a:latin typeface="+mn-lt"/>
                <a:ea typeface="ＭＳ Ｐゴシック" panose="020B0600070205080204" pitchFamily="34" charset="-128"/>
              </a:rPr>
              <a:t>Any Questions?</a:t>
            </a:r>
            <a:endParaRPr lang="en-US" altLang="en-US" sz="5333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337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311</Words>
  <Application>Microsoft Office PowerPoint</Application>
  <PresentationFormat>Widescreen</PresentationFormat>
  <Paragraphs>39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Calibri</vt:lpstr>
      <vt:lpstr>Calibri Light</vt:lpstr>
      <vt:lpstr>Office Theme</vt:lpstr>
      <vt:lpstr>Science practicals and wider research  Rosalind Mist Head of Education Science Policy Centre</vt:lpstr>
      <vt:lpstr>What is happening  </vt:lpstr>
      <vt:lpstr>What does this mean for HEIs?  </vt:lpstr>
      <vt:lpstr>Answers to questions before you ask them!  </vt:lpstr>
      <vt:lpstr>Mathematical and Quantitative skills  </vt:lpstr>
      <vt:lpstr>Research and other activity</vt:lpstr>
      <vt:lpstr>Any Questions?</vt:lpstr>
    </vt:vector>
  </TitlesOfParts>
  <Company>Royal Society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POLICY:  A view from the Royal Society  Ryan Mercer Policy Adviser Science Policy Centre</dc:title>
  <dc:creator>Mercer, Ryan</dc:creator>
  <cp:lastModifiedBy>Hannah Bradley</cp:lastModifiedBy>
  <cp:revision>36</cp:revision>
  <dcterms:created xsi:type="dcterms:W3CDTF">2016-02-29T10:30:45Z</dcterms:created>
  <dcterms:modified xsi:type="dcterms:W3CDTF">2016-03-09T11:45:27Z</dcterms:modified>
</cp:coreProperties>
</file>