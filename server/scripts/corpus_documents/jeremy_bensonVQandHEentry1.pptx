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5"/>
    <p:sldMasterId id="2147483650" r:id="rId6"/>
    <p:sldMasterId id="2147483792" r:id="rId7"/>
    <p:sldMasterId id="2147483804" r:id="rId8"/>
    <p:sldMasterId id="2147483876" r:id="rId9"/>
    <p:sldMasterId id="2147483888" r:id="rId10"/>
  </p:sldMasterIdLst>
  <p:notesMasterIdLst>
    <p:notesMasterId r:id="rId24"/>
  </p:notesMasterIdLst>
  <p:handoutMasterIdLst>
    <p:handoutMasterId r:id="rId25"/>
  </p:handoutMasterIdLst>
  <p:sldIdLst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01" r:id="rId23"/>
  </p:sldIdLst>
  <p:sldSz cx="9144000" cy="6858000" type="screen4x3"/>
  <p:notesSz cx="6797675" cy="9926638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3EE4C9A-F42A-416A-91A7-DC79ADBFEDA7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  <p14:section name="Untitled Section" id="{3497B8C0-73D8-48CA-A051-4B2F67022BD5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BD49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76138" autoAdjust="0"/>
  </p:normalViewPr>
  <p:slideViewPr>
    <p:cSldViewPr showGuides="1">
      <p:cViewPr varScale="1">
        <p:scale>
          <a:sx n="96" d="100"/>
          <a:sy n="96" d="100"/>
        </p:scale>
        <p:origin x="20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216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7.xml"/><Relationship Id="rId2" Type="http://schemas.openxmlformats.org/officeDocument/2006/relationships/slide" Target="slides/slide6.xml"/><Relationship Id="rId1" Type="http://schemas.openxmlformats.org/officeDocument/2006/relationships/slide" Target="slides/slide5.xml"/><Relationship Id="rId6" Type="http://schemas.openxmlformats.org/officeDocument/2006/relationships/slide" Target="slides/slide12.xml"/><Relationship Id="rId5" Type="http://schemas.openxmlformats.org/officeDocument/2006/relationships/slide" Target="slides/slide11.xml"/><Relationship Id="rId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46B78-B870-40F2-AE74-AB8E6C780931}" type="datetimeFigureOut">
              <a:rPr lang="en-GB" smtClean="0"/>
              <a:t>09/03/2016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69E65B-C007-44C0-B642-DD2CA10B43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361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3B0C38D-D10D-46C5-8B79-2299751880A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19207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0C38D-D10D-46C5-8B79-2299751880AA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195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2EDC4-188C-4412-A465-1F49CB5942FE}" type="slidenum">
              <a:rPr lang="en-GB" smtClean="0"/>
              <a:pPr eaLnBrk="1" hangingPunct="1"/>
              <a:t>2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4126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2EDC4-188C-4412-A465-1F49CB5942FE}" type="slidenum">
              <a:rPr lang="en-GB" smtClean="0"/>
              <a:pPr eaLnBrk="1" hangingPunct="1"/>
              <a:t>3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71756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2EDC4-188C-4412-A465-1F49CB5942FE}" type="slidenum">
              <a:rPr lang="en-GB" smtClean="0"/>
              <a:pPr eaLnBrk="1" hangingPunct="1"/>
              <a:t>4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04529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68E990-B0F8-45F3-B23C-B53D180951FC}" type="slidenum">
              <a:rPr lang="en-GB" altLang="en-US"/>
              <a:pPr eaLnBrk="1" hangingPunct="1"/>
              <a:t>5</a:t>
            </a:fld>
            <a:endParaRPr lang="en-GB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baseline="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345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2EDC4-188C-4412-A465-1F49CB5942FE}" type="slidenum">
              <a:rPr lang="en-GB" smtClean="0"/>
              <a:pPr eaLnBrk="1" hangingPunct="1"/>
              <a:t>6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aseline="0" dirty="0" smtClean="0"/>
          </a:p>
        </p:txBody>
      </p:sp>
    </p:spTree>
    <p:extLst>
      <p:ext uri="{BB962C8B-B14F-4D97-AF65-F5344CB8AC3E}">
        <p14:creationId xmlns:p14="http://schemas.microsoft.com/office/powerpoint/2010/main" val="365365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68E990-B0F8-45F3-B23C-B53D180951FC}" type="slidenum">
              <a:rPr lang="en-GB" altLang="en-US"/>
              <a:pPr eaLnBrk="1" hangingPunct="1"/>
              <a:t>7</a:t>
            </a:fld>
            <a:endParaRPr lang="en-GB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baseline="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650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2EDC4-188C-4412-A465-1F49CB5942FE}" type="slidenum">
              <a:rPr lang="en-GB" smtClean="0"/>
              <a:pPr eaLnBrk="1" hangingPunct="1"/>
              <a:t>8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baseline="0" dirty="0" smtClean="0"/>
          </a:p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2810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68E990-B0F8-45F3-B23C-B53D180951FC}" type="slidenum">
              <a:rPr lang="en-GB" altLang="en-US"/>
              <a:pPr eaLnBrk="1" hangingPunct="1"/>
              <a:t>9</a:t>
            </a:fld>
            <a:endParaRPr lang="en-GB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965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8A2EDC4-188C-4412-A465-1F49CB5942FE}" type="slidenum">
              <a:rPr lang="en-GB" smtClean="0"/>
              <a:pPr eaLnBrk="1" hangingPunct="1"/>
              <a:t>10</a:t>
            </a:fld>
            <a:endParaRPr lang="en-GB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99477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468E990-B0F8-45F3-B23C-B53D180951FC}" type="slidenum">
              <a:rPr lang="en-GB" altLang="en-US"/>
              <a:pPr eaLnBrk="1" hangingPunct="1"/>
              <a:t>11</a:t>
            </a:fld>
            <a:endParaRPr lang="en-GB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baseline="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311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05C536C-4156-4815-84EB-CF5EB51EA5B7}" type="slidenum">
              <a:rPr lang="en-GB" altLang="en-US" smtClean="0"/>
              <a:pPr eaLnBrk="1" hangingPunct="1"/>
              <a:t>12</a:t>
            </a:fld>
            <a:endParaRPr lang="en-GB" alt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58401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B0C38D-D10D-46C5-8B79-2299751880AA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8481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Ofqual-Slide-1.jpg                                             003789C4Macintosh HD                   C16F22C3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9144000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3573463"/>
            <a:ext cx="7772400" cy="5032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6725" y="6116638"/>
            <a:ext cx="64008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8514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439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37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0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46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159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75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6550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779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980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404813"/>
            <a:ext cx="2057400" cy="5532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6725" y="404813"/>
            <a:ext cx="6019800" cy="5532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9637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37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00213"/>
            <a:ext cx="9144000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395288" y="3573463"/>
            <a:ext cx="7772400" cy="5032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1229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66725" y="6116638"/>
            <a:ext cx="64008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923213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975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21815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156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8366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6788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383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1585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69203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5173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404813"/>
            <a:ext cx="2057400" cy="5532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6725" y="404813"/>
            <a:ext cx="6019800" cy="5532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1110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33550"/>
            <a:ext cx="9144000" cy="176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3573463"/>
            <a:ext cx="7772400" cy="50323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6725" y="6116638"/>
            <a:ext cx="64008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3058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1906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471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7241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5694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715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2301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61414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3623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7971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404813"/>
            <a:ext cx="2057400" cy="5532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6725" y="404813"/>
            <a:ext cx="6019800" cy="5532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5310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Ofqual-Slide-2.jpg                                             003789C4Macintosh HD                   C16F22C3: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6400"/>
            <a:ext cx="9144000" cy="176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5288" y="3573463"/>
            <a:ext cx="7772400" cy="50323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6725" y="6116638"/>
            <a:ext cx="6400800" cy="625475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48845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611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44920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6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438275"/>
            <a:ext cx="4038600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1408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2154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4834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8344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7665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60552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324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8925" y="404813"/>
            <a:ext cx="2057400" cy="55324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6725" y="404813"/>
            <a:ext cx="6019800" cy="55324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261935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8"/>
          <p:cNvGrpSpPr>
            <a:grpSpLocks/>
          </p:cNvGrpSpPr>
          <p:nvPr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4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684" cy="4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rgbClr val="008000"/>
                </a:solidFill>
              </a:endParaRPr>
            </a:p>
          </p:txBody>
        </p:sp>
        <p:grpSp>
          <p:nvGrpSpPr>
            <p:cNvPr id="5" name="Group 40"/>
            <p:cNvGrpSpPr>
              <a:grpSpLocks/>
            </p:cNvGrpSpPr>
            <p:nvPr/>
          </p:nvGrpSpPr>
          <p:grpSpPr bwMode="auto">
            <a:xfrm>
              <a:off x="48" y="103"/>
              <a:ext cx="96" cy="4126"/>
              <a:chOff x="48" y="103"/>
              <a:chExt cx="96" cy="4126"/>
            </a:xfrm>
          </p:grpSpPr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/>
            </p:nvSpPr>
            <p:spPr bwMode="auto">
              <a:xfrm>
                <a:off x="48" y="2116"/>
                <a:ext cx="96" cy="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/>
            </p:nvSpPr>
            <p:spPr bwMode="auto">
              <a:xfrm>
                <a:off x="48" y="2404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48" y="2549"/>
                <a:ext cx="96" cy="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48" y="2691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9" name="Rectangle 18"/>
              <p:cNvSpPr>
                <a:spLocks noChangeArrowheads="1"/>
              </p:cNvSpPr>
              <p:nvPr/>
            </p:nvSpPr>
            <p:spPr bwMode="auto">
              <a:xfrm>
                <a:off x="48" y="2979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0" name="Rectangle 19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2" name="Rectangle 21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3" name="Rectangle 22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4" name="Rectangle 23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6" name="Rectangle 25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7" name="Rectangle 26"/>
              <p:cNvSpPr>
                <a:spLocks noChangeArrowheads="1"/>
              </p:cNvSpPr>
              <p:nvPr/>
            </p:nvSpPr>
            <p:spPr bwMode="auto">
              <a:xfrm>
                <a:off x="48" y="4134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48" y="103"/>
                <a:ext cx="96" cy="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29" name="Rectangle 28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30" name="Rectangle 29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31" name="Rectangle 30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32" name="Rectangle 31"/>
              <p:cNvSpPr>
                <a:spLocks noChangeArrowheads="1"/>
              </p:cNvSpPr>
              <p:nvPr/>
            </p:nvSpPr>
            <p:spPr bwMode="auto">
              <a:xfrm>
                <a:off x="48" y="678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33" name="Rectangle 32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34" name="Rectangle 33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</p:grpSp>
      </p:grpSp>
      <p:sp>
        <p:nvSpPr>
          <p:cNvPr id="35" name="Rectangle 40"/>
          <p:cNvSpPr>
            <a:spLocks noChangeArrowheads="1"/>
          </p:cNvSpPr>
          <p:nvPr userDrawn="1"/>
        </p:nvSpPr>
        <p:spPr bwMode="auto">
          <a:xfrm>
            <a:off x="1443038" y="1809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8000"/>
              </a:solidFill>
            </a:endParaRPr>
          </a:p>
        </p:txBody>
      </p:sp>
      <p:sp>
        <p:nvSpPr>
          <p:cNvPr id="27682" name="Rectangle 34"/>
          <p:cNvSpPr>
            <a:spLocks noGrp="1" noChangeArrowheads="1"/>
          </p:cNvSpPr>
          <p:nvPr>
            <p:ph type="ctrTitle" sz="quarter"/>
          </p:nvPr>
        </p:nvSpPr>
        <p:spPr>
          <a:xfrm>
            <a:off x="152400" y="152400"/>
            <a:ext cx="5791200" cy="7620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31990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9195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6834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19088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618984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5259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33609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98308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47573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49629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76200"/>
            <a:ext cx="2133600" cy="6400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520" y="188640"/>
            <a:ext cx="6248400" cy="6400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9498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66725" y="3645024"/>
            <a:ext cx="7772400" cy="503237"/>
          </a:xfrm>
        </p:spPr>
        <p:txBody>
          <a:bodyPr/>
          <a:lstStyle>
            <a:lvl1pPr>
              <a:defRPr sz="27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66725" y="4509120"/>
            <a:ext cx="6400800" cy="100811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661793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"/>
            <a:ext cx="9144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4359" y="2251884"/>
            <a:ext cx="7772400" cy="503237"/>
          </a:xfrm>
        </p:spPr>
        <p:txBody>
          <a:bodyPr/>
          <a:lstStyle>
            <a:lvl1pPr>
              <a:defRPr sz="2700" baseline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2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4359" y="3121608"/>
            <a:ext cx="6400800" cy="102747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1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7344442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" y="0"/>
            <a:ext cx="9130047" cy="68536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896036" y="2420888"/>
            <a:ext cx="3888432" cy="1800200"/>
          </a:xfrm>
        </p:spPr>
        <p:txBody>
          <a:bodyPr/>
          <a:lstStyle>
            <a:lvl1pPr>
              <a:defRPr sz="270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896036" y="4509120"/>
            <a:ext cx="3888432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100" b="0">
                <a:solidFill>
                  <a:srgbClr val="83B81A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06070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34900" indent="-234900">
              <a:buFont typeface="Arial" panose="020B0604020202020204" pitchFamily="34" charset="0"/>
              <a:buChar char="■"/>
              <a:defRPr sz="1800"/>
            </a:lvl1pPr>
            <a:lvl2pPr marL="469106" indent="-226219">
              <a:buFont typeface="Arial" panose="020B0604020202020204" pitchFamily="34" charset="0"/>
              <a:buChar char="□"/>
              <a:defRPr sz="1650"/>
            </a:lvl2pPr>
            <a:lvl3pPr marL="670322" indent="-185738">
              <a:buFont typeface="Arial" panose="020B0604020202020204" pitchFamily="34" charset="0"/>
              <a:buChar char="▪"/>
              <a:defRPr sz="1500"/>
            </a:lvl3pPr>
            <a:lvl4pPr marL="942975" indent="-191691">
              <a:buClr>
                <a:schemeClr val="tx2"/>
              </a:buClr>
              <a:buFont typeface="Arial" panose="020B0604020202020204" pitchFamily="34" charset="0"/>
              <a:buChar char="▫"/>
              <a:defRPr sz="1350"/>
            </a:lvl4pPr>
            <a:lvl5pPr marL="1144800" indent="-191700">
              <a:buClr>
                <a:schemeClr val="tx2"/>
              </a:buClr>
              <a:buFont typeface="Arial" panose="020B0604020202020204" pitchFamily="34" charset="0"/>
              <a:buChar char="›"/>
              <a:defRPr sz="1350"/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  <a:p>
            <a:pPr lvl="0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4626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7"/>
            <a:ext cx="7772400" cy="1362075"/>
          </a:xfrm>
        </p:spPr>
        <p:txBody>
          <a:bodyPr/>
          <a:lstStyle>
            <a:lvl1pPr algn="l">
              <a:defRPr sz="2250" b="1" cap="all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257175" indent="0">
              <a:buNone/>
              <a:defRPr sz="1013"/>
            </a:lvl2pPr>
            <a:lvl3pPr marL="514350" indent="0">
              <a:buNone/>
              <a:defRPr sz="900"/>
            </a:lvl3pPr>
            <a:lvl4pPr marL="771525" indent="0">
              <a:buNone/>
              <a:defRPr sz="788"/>
            </a:lvl4pPr>
            <a:lvl5pPr marL="1028700" indent="0">
              <a:buNone/>
              <a:defRPr sz="788"/>
            </a:lvl5pPr>
            <a:lvl6pPr marL="1285875" indent="0">
              <a:buNone/>
              <a:defRPr sz="788"/>
            </a:lvl6pPr>
            <a:lvl7pPr marL="1543050" indent="0">
              <a:buNone/>
              <a:defRPr sz="788"/>
            </a:lvl7pPr>
            <a:lvl8pPr marL="1800225" indent="0">
              <a:buNone/>
              <a:defRPr sz="788"/>
            </a:lvl8pPr>
            <a:lvl9pPr marL="2057400" indent="0">
              <a:buNone/>
              <a:defRPr sz="788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3495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66725" y="1438283"/>
            <a:ext cx="4038600" cy="4498975"/>
          </a:xfrm>
        </p:spPr>
        <p:txBody>
          <a:bodyPr/>
          <a:lstStyle>
            <a:lvl1pPr marL="234900" indent="-234900">
              <a:buFont typeface="Arial" panose="020B0604020202020204" pitchFamily="34" charset="0"/>
              <a:buChar char="■"/>
              <a:defRPr sz="1800"/>
            </a:lvl1pPr>
            <a:lvl2pPr marL="469800" indent="-226800">
              <a:buFont typeface="Arial" panose="020B0604020202020204" pitchFamily="34" charset="0"/>
              <a:buChar char="□"/>
              <a:defRPr sz="1650"/>
            </a:lvl2pPr>
            <a:lvl3pPr marL="669600" indent="-186300">
              <a:buFont typeface="Arial" panose="020B0604020202020204" pitchFamily="34" charset="0"/>
              <a:buChar char="▪"/>
              <a:defRPr sz="1500"/>
            </a:lvl3pPr>
            <a:lvl4pPr marL="942300" indent="-191700">
              <a:buClr>
                <a:schemeClr val="tx2"/>
              </a:buClr>
              <a:buFont typeface="Arial" panose="020B0604020202020204" pitchFamily="34" charset="0"/>
              <a:buChar char="▫"/>
              <a:defRPr sz="1350"/>
            </a:lvl4pPr>
            <a:lvl5pPr marL="1144191" indent="-191691">
              <a:buClr>
                <a:schemeClr val="tx2"/>
              </a:buClr>
              <a:buFont typeface="Arial" panose="020B0604020202020204" pitchFamily="34" charset="0"/>
              <a:buChar char="›"/>
              <a:defRPr sz="135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438283"/>
            <a:ext cx="4038600" cy="4498975"/>
          </a:xfrm>
        </p:spPr>
        <p:txBody>
          <a:bodyPr/>
          <a:lstStyle>
            <a:lvl1pPr marL="234900" indent="-234900">
              <a:buFont typeface="Arial" panose="020B0604020202020204" pitchFamily="34" charset="0"/>
              <a:buChar char="■"/>
              <a:defRPr sz="1800"/>
            </a:lvl1pPr>
            <a:lvl2pPr marL="469800" indent="-226800">
              <a:buFont typeface="Arial" panose="020B0604020202020204" pitchFamily="34" charset="0"/>
              <a:buChar char="□"/>
              <a:defRPr sz="1650"/>
            </a:lvl2pPr>
            <a:lvl3pPr marL="669600" indent="-186300">
              <a:buFont typeface="Arial" panose="020B0604020202020204" pitchFamily="34" charset="0"/>
              <a:buChar char="▪"/>
              <a:defRPr sz="1500"/>
            </a:lvl3pPr>
            <a:lvl4pPr marL="872729" indent="-191691">
              <a:buClr>
                <a:schemeClr val="tx2"/>
              </a:buClr>
              <a:buFont typeface="Arial" panose="020B0604020202020204" pitchFamily="34" charset="0"/>
              <a:buChar char="▫"/>
              <a:defRPr sz="1350"/>
            </a:lvl4pPr>
            <a:lvl5pPr marL="1073944" indent="-191691">
              <a:buClr>
                <a:schemeClr val="tx2"/>
              </a:buClr>
              <a:buFont typeface="Arial" panose="020B0604020202020204" pitchFamily="34" charset="0"/>
              <a:buChar char="›"/>
              <a:defRPr sz="1350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8367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marL="234900" indent="-234900">
              <a:buFont typeface="Arial" panose="020B0604020202020204" pitchFamily="34" charset="0"/>
              <a:buChar char="■"/>
              <a:defRPr sz="1800"/>
            </a:lvl1pPr>
            <a:lvl2pPr marL="469800" indent="-226800">
              <a:buFont typeface="Arial" panose="020B0604020202020204" pitchFamily="34" charset="0"/>
              <a:buChar char="□"/>
              <a:defRPr sz="1650"/>
            </a:lvl2pPr>
            <a:lvl3pPr marL="669600" indent="-191700">
              <a:buFont typeface="Arial" panose="020B0604020202020204" pitchFamily="34" charset="0"/>
              <a:buChar char="▪"/>
              <a:defRPr sz="1500"/>
            </a:lvl3pPr>
            <a:lvl4pPr marL="942300" indent="-191700">
              <a:buClr>
                <a:schemeClr val="tx2"/>
              </a:buClr>
              <a:buFont typeface="Arial" panose="020B0604020202020204" pitchFamily="34" charset="0"/>
              <a:buChar char="▫"/>
              <a:defRPr sz="1350"/>
            </a:lvl4pPr>
            <a:lvl5pPr marL="1144800" indent="-191700">
              <a:buClr>
                <a:schemeClr val="tx2"/>
              </a:buClr>
              <a:buFont typeface="Arial" panose="020B0604020202020204" pitchFamily="34" charset="0"/>
              <a:buChar char="›"/>
              <a:defRPr sz="135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535115"/>
            <a:ext cx="4041775" cy="639763"/>
          </a:xfrm>
        </p:spPr>
        <p:txBody>
          <a:bodyPr anchor="b"/>
          <a:lstStyle>
            <a:lvl1pPr marL="0" indent="0">
              <a:buNone/>
              <a:defRPr sz="150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/>
          <a:lstStyle>
            <a:lvl1pPr marL="234900" indent="-234900">
              <a:buFont typeface="Arial" panose="020B0604020202020204" pitchFamily="34" charset="0"/>
              <a:buChar char="■"/>
              <a:defRPr sz="1800"/>
            </a:lvl1pPr>
            <a:lvl2pPr marL="469800" indent="-226800">
              <a:buFont typeface="Arial" panose="020B0604020202020204" pitchFamily="34" charset="0"/>
              <a:buChar char="□"/>
              <a:defRPr sz="1650"/>
            </a:lvl2pPr>
            <a:lvl3pPr marL="669600" indent="-191700">
              <a:buFont typeface="Arial" panose="020B0604020202020204" pitchFamily="34" charset="0"/>
              <a:buChar char="▪"/>
              <a:defRPr sz="1500"/>
            </a:lvl3pPr>
            <a:lvl4pPr marL="942300" indent="-191700">
              <a:buClr>
                <a:schemeClr val="tx2"/>
              </a:buClr>
              <a:buFont typeface="Arial" panose="020B0604020202020204" pitchFamily="34" charset="0"/>
              <a:buChar char="▫"/>
              <a:defRPr sz="1350"/>
            </a:lvl4pPr>
            <a:lvl5pPr marL="1144800" indent="-191700">
              <a:buClr>
                <a:schemeClr val="tx2"/>
              </a:buClr>
              <a:buFont typeface="Arial" panose="020B0604020202020204" pitchFamily="34" charset="0"/>
              <a:buChar char="›"/>
              <a:defRPr sz="135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0187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21971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460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73051"/>
            <a:ext cx="3008313" cy="116205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8"/>
            <a:ext cx="5111750" cy="5853113"/>
          </a:xfrm>
        </p:spPr>
        <p:txBody>
          <a:bodyPr/>
          <a:lstStyle>
            <a:lvl1pPr marL="234900" indent="-234900">
              <a:buFont typeface="Arial" panose="020B0604020202020204" pitchFamily="34" charset="0"/>
              <a:buChar char="■"/>
              <a:defRPr sz="1650"/>
            </a:lvl1pPr>
            <a:lvl2pPr marL="469800" indent="-226800">
              <a:buFont typeface="Arial" panose="020B0604020202020204" pitchFamily="34" charset="0"/>
              <a:buChar char="□"/>
              <a:defRPr sz="1650"/>
            </a:lvl2pPr>
            <a:lvl3pPr marL="669600" indent="-191700">
              <a:buFont typeface="Arial" panose="020B0604020202020204" pitchFamily="34" charset="0"/>
              <a:buChar char="▪"/>
              <a:defRPr sz="1500"/>
            </a:lvl3pPr>
            <a:lvl4pPr marL="942300" indent="-191700">
              <a:buClr>
                <a:schemeClr val="tx2"/>
              </a:buClr>
              <a:buFont typeface="Arial" panose="020B0604020202020204" pitchFamily="34" charset="0"/>
              <a:buChar char="▫"/>
              <a:defRPr sz="1350"/>
            </a:lvl4pPr>
            <a:lvl5pPr marL="1144800" indent="-191700">
              <a:buClr>
                <a:schemeClr val="tx2"/>
              </a:buClr>
              <a:buFont typeface="Arial" panose="020B0604020202020204" pitchFamily="34" charset="0"/>
              <a:buChar char="›"/>
              <a:defRPr sz="1350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4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72134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4323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6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0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11.jpe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404813"/>
            <a:ext cx="634682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38275"/>
            <a:ext cx="82296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pic>
        <p:nvPicPr>
          <p:cNvPr id="2052" name="Picture 7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9" descr="block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6308725"/>
            <a:ext cx="8229600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 b="1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5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381000" indent="-3810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buBlip>
          <a:blip r:embed="rId15"/>
        </a:buBlip>
        <a:defRPr sz="2000" b="1">
          <a:solidFill>
            <a:srgbClr val="4D4D4D"/>
          </a:solidFill>
          <a:latin typeface="+mn-lt"/>
        </a:defRPr>
      </a:lvl3pPr>
      <a:lvl4pPr marL="762000" indent="-381000" algn="l" rtl="0" eaLnBrk="0" fontAlgn="base" hangingPunct="0">
        <a:spcBef>
          <a:spcPct val="5000"/>
        </a:spcBef>
        <a:spcAft>
          <a:spcPct val="5000"/>
        </a:spcAft>
        <a:buChar char="–"/>
        <a:defRPr sz="2000">
          <a:solidFill>
            <a:srgbClr val="4D4D4D"/>
          </a:solidFill>
          <a:latin typeface="+mn-lt"/>
        </a:defRPr>
      </a:lvl4pPr>
      <a:lvl5pPr marL="762000" indent="1066800" algn="l" rtl="0" eaLnBrk="0" fontAlgn="base" hangingPunct="0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5pPr>
      <a:lvl6pPr marL="12192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6pPr>
      <a:lvl7pPr marL="16764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7pPr>
      <a:lvl8pPr marL="21336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8pPr>
      <a:lvl9pPr marL="25908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404813"/>
            <a:ext cx="634682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38275"/>
            <a:ext cx="82296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pic>
        <p:nvPicPr>
          <p:cNvPr id="3076" name="Picture 8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11" descr="blocks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6308725"/>
            <a:ext cx="8229600" cy="14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 b="1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5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381000" indent="-3810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buBlip>
          <a:blip r:embed="rId15"/>
        </a:buBlip>
        <a:defRPr sz="2000" b="1">
          <a:solidFill>
            <a:srgbClr val="4D4D4D"/>
          </a:solidFill>
          <a:latin typeface="+mn-lt"/>
        </a:defRPr>
      </a:lvl3pPr>
      <a:lvl4pPr marL="762000" indent="-381000" algn="l" rtl="0" eaLnBrk="0" fontAlgn="base" hangingPunct="0">
        <a:spcBef>
          <a:spcPct val="5000"/>
        </a:spcBef>
        <a:spcAft>
          <a:spcPct val="5000"/>
        </a:spcAft>
        <a:buChar char="–"/>
        <a:defRPr sz="2000">
          <a:solidFill>
            <a:srgbClr val="4D4D4D"/>
          </a:solidFill>
          <a:latin typeface="+mn-lt"/>
        </a:defRPr>
      </a:lvl4pPr>
      <a:lvl5pPr marL="762000" indent="1066800" algn="l" rtl="0" eaLnBrk="0" fontAlgn="base" hangingPunct="0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5pPr>
      <a:lvl6pPr marL="12192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6pPr>
      <a:lvl7pPr marL="16764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7pPr>
      <a:lvl8pPr marL="21336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8pPr>
      <a:lvl9pPr marL="25908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404813"/>
            <a:ext cx="634682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38275"/>
            <a:ext cx="82296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pic>
        <p:nvPicPr>
          <p:cNvPr id="4100" name="Picture 7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8" descr="DOTTED SQUARE_Port.bmp                                         003789C4Macintosh HD                   C16F22C3: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24600"/>
            <a:ext cx="8231188" cy="1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86BE3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 b="1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5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381000" indent="-3810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buBlip>
          <a:blip r:embed="rId15"/>
        </a:buBlip>
        <a:defRPr sz="2000" b="1">
          <a:solidFill>
            <a:srgbClr val="4D4D4D"/>
          </a:solidFill>
          <a:latin typeface="+mn-lt"/>
        </a:defRPr>
      </a:lvl3pPr>
      <a:lvl4pPr marL="762000" indent="-381000" algn="l" rtl="0" eaLnBrk="0" fontAlgn="base" hangingPunct="0">
        <a:spcBef>
          <a:spcPct val="5000"/>
        </a:spcBef>
        <a:spcAft>
          <a:spcPct val="5000"/>
        </a:spcAft>
        <a:buChar char="–"/>
        <a:defRPr sz="2000">
          <a:solidFill>
            <a:srgbClr val="4D4D4D"/>
          </a:solidFill>
          <a:latin typeface="+mn-lt"/>
        </a:defRPr>
      </a:lvl4pPr>
      <a:lvl5pPr marL="762000" indent="1066800" algn="l" rtl="0" eaLnBrk="0" fontAlgn="base" hangingPunct="0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5pPr>
      <a:lvl6pPr marL="12192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6pPr>
      <a:lvl7pPr marL="16764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7pPr>
      <a:lvl8pPr marL="21336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8pPr>
      <a:lvl9pPr marL="25908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9" descr="DOTTED SQUARE_Port.bmp                                         003789C4Macintosh HD                   C16F22C3: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324600"/>
            <a:ext cx="8231188" cy="14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6725" y="404813"/>
            <a:ext cx="634682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38275"/>
            <a:ext cx="82296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pic>
        <p:nvPicPr>
          <p:cNvPr id="5125" name="Picture 8" descr="ofqual_cmyk_no_strap.tif                                       003921CEMacintosh HD                   C16F22C3: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1000"/>
            <a:ext cx="1800225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 b="1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5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381000" indent="-381000" algn="l" rtl="0" eaLnBrk="0" fontAlgn="base" hangingPunct="0">
        <a:spcBef>
          <a:spcPct val="30000"/>
        </a:spcBef>
        <a:spcAft>
          <a:spcPct val="5000"/>
        </a:spcAft>
        <a:buClr>
          <a:srgbClr val="86BE3D"/>
        </a:buClr>
        <a:buFont typeface="Wingdings" panose="05000000000000000000" pitchFamily="2" charset="2"/>
        <a:buBlip>
          <a:blip r:embed="rId15"/>
        </a:buBlip>
        <a:defRPr sz="2000" b="1">
          <a:solidFill>
            <a:srgbClr val="4D4D4D"/>
          </a:solidFill>
          <a:latin typeface="+mn-lt"/>
        </a:defRPr>
      </a:lvl3pPr>
      <a:lvl4pPr marL="762000" indent="-381000" algn="l" rtl="0" eaLnBrk="0" fontAlgn="base" hangingPunct="0">
        <a:spcBef>
          <a:spcPct val="5000"/>
        </a:spcBef>
        <a:spcAft>
          <a:spcPct val="5000"/>
        </a:spcAft>
        <a:buChar char="–"/>
        <a:defRPr sz="2000">
          <a:solidFill>
            <a:srgbClr val="4D4D4D"/>
          </a:solidFill>
          <a:latin typeface="+mn-lt"/>
        </a:defRPr>
      </a:lvl4pPr>
      <a:lvl5pPr marL="762000" indent="1066800" algn="l" rtl="0" eaLnBrk="0" fontAlgn="base" hangingPunct="0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5pPr>
      <a:lvl6pPr marL="12192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6pPr>
      <a:lvl7pPr marL="16764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7pPr>
      <a:lvl8pPr marL="21336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8pPr>
      <a:lvl9pPr marL="2590800" algn="l" rtl="0" fontAlgn="base">
        <a:spcBef>
          <a:spcPct val="5000"/>
        </a:spcBef>
        <a:spcAft>
          <a:spcPct val="5000"/>
        </a:spcAft>
        <a:buChar char="»"/>
        <a:defRPr sz="20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FFFFFF"/>
          </a:fgClr>
          <a:bgClr>
            <a:srgbClr val="FFFFFF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3" descr="template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7" name="Group 2"/>
          <p:cNvGrpSpPr>
            <a:grpSpLocks/>
          </p:cNvGrpSpPr>
          <p:nvPr/>
        </p:nvGrpSpPr>
        <p:grpSpPr bwMode="auto">
          <a:xfrm>
            <a:off x="0" y="0"/>
            <a:ext cx="1085850" cy="6854825"/>
            <a:chOff x="0" y="0"/>
            <a:chExt cx="684" cy="4318"/>
          </a:xfrm>
        </p:grpSpPr>
        <p:sp>
          <p:nvSpPr>
            <p:cNvPr id="1032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684" cy="4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>
                <a:solidFill>
                  <a:srgbClr val="008000"/>
                </a:solidFill>
              </a:endParaRPr>
            </a:p>
          </p:txBody>
        </p:sp>
        <p:grpSp>
          <p:nvGrpSpPr>
            <p:cNvPr id="1033" name="Group 4"/>
            <p:cNvGrpSpPr>
              <a:grpSpLocks/>
            </p:cNvGrpSpPr>
            <p:nvPr/>
          </p:nvGrpSpPr>
          <p:grpSpPr bwMode="auto">
            <a:xfrm>
              <a:off x="48" y="102"/>
              <a:ext cx="96" cy="4128"/>
              <a:chOff x="48" y="102"/>
              <a:chExt cx="96" cy="4128"/>
            </a:xfrm>
          </p:grpSpPr>
          <p:sp>
            <p:nvSpPr>
              <p:cNvPr id="1034" name="Rectangle 5"/>
              <p:cNvSpPr>
                <a:spLocks noChangeArrowheads="1"/>
              </p:cNvSpPr>
              <p:nvPr/>
            </p:nvSpPr>
            <p:spPr bwMode="auto">
              <a:xfrm>
                <a:off x="48" y="1105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35" name="Rectangle 6"/>
              <p:cNvSpPr>
                <a:spLocks noChangeArrowheads="1"/>
              </p:cNvSpPr>
              <p:nvPr/>
            </p:nvSpPr>
            <p:spPr bwMode="auto">
              <a:xfrm>
                <a:off x="48" y="1250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36" name="Rectangle 7"/>
              <p:cNvSpPr>
                <a:spLocks noChangeArrowheads="1"/>
              </p:cNvSpPr>
              <p:nvPr/>
            </p:nvSpPr>
            <p:spPr bwMode="auto">
              <a:xfrm>
                <a:off x="48" y="1393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37" name="Rectangle 8"/>
              <p:cNvSpPr>
                <a:spLocks noChangeArrowheads="1"/>
              </p:cNvSpPr>
              <p:nvPr/>
            </p:nvSpPr>
            <p:spPr bwMode="auto">
              <a:xfrm>
                <a:off x="48" y="1538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38" name="Rectangle 9"/>
              <p:cNvSpPr>
                <a:spLocks noChangeArrowheads="1"/>
              </p:cNvSpPr>
              <p:nvPr/>
            </p:nvSpPr>
            <p:spPr bwMode="auto">
              <a:xfrm>
                <a:off x="48" y="1683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39" name="Rectangle 10"/>
              <p:cNvSpPr>
                <a:spLocks noChangeArrowheads="1"/>
              </p:cNvSpPr>
              <p:nvPr/>
            </p:nvSpPr>
            <p:spPr bwMode="auto">
              <a:xfrm>
                <a:off x="48" y="1826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0" name="Rectangle 11"/>
              <p:cNvSpPr>
                <a:spLocks noChangeArrowheads="1"/>
              </p:cNvSpPr>
              <p:nvPr/>
            </p:nvSpPr>
            <p:spPr bwMode="auto">
              <a:xfrm>
                <a:off x="48" y="1971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1" name="Rectangle 12"/>
              <p:cNvSpPr>
                <a:spLocks noChangeArrowheads="1"/>
              </p:cNvSpPr>
              <p:nvPr/>
            </p:nvSpPr>
            <p:spPr bwMode="auto">
              <a:xfrm>
                <a:off x="48" y="2115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2" name="Rectangle 13"/>
              <p:cNvSpPr>
                <a:spLocks noChangeArrowheads="1"/>
              </p:cNvSpPr>
              <p:nvPr/>
            </p:nvSpPr>
            <p:spPr bwMode="auto">
              <a:xfrm>
                <a:off x="48" y="2259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3" name="Rectangle 14"/>
              <p:cNvSpPr>
                <a:spLocks noChangeArrowheads="1"/>
              </p:cNvSpPr>
              <p:nvPr/>
            </p:nvSpPr>
            <p:spPr bwMode="auto">
              <a:xfrm>
                <a:off x="48" y="2403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4" name="Rectangle 15"/>
              <p:cNvSpPr>
                <a:spLocks noChangeArrowheads="1"/>
              </p:cNvSpPr>
              <p:nvPr/>
            </p:nvSpPr>
            <p:spPr bwMode="auto">
              <a:xfrm>
                <a:off x="48" y="2548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5" name="Rectangle 16"/>
              <p:cNvSpPr>
                <a:spLocks noChangeArrowheads="1"/>
              </p:cNvSpPr>
              <p:nvPr/>
            </p:nvSpPr>
            <p:spPr bwMode="auto">
              <a:xfrm>
                <a:off x="48" y="2692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6" name="Rectangle 17"/>
              <p:cNvSpPr>
                <a:spLocks noChangeArrowheads="1"/>
              </p:cNvSpPr>
              <p:nvPr/>
            </p:nvSpPr>
            <p:spPr bwMode="auto">
              <a:xfrm>
                <a:off x="48" y="2836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7" name="Rectangle 18"/>
              <p:cNvSpPr>
                <a:spLocks noChangeArrowheads="1"/>
              </p:cNvSpPr>
              <p:nvPr/>
            </p:nvSpPr>
            <p:spPr bwMode="auto">
              <a:xfrm>
                <a:off x="48" y="2980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8" name="Rectangle 19"/>
              <p:cNvSpPr>
                <a:spLocks noChangeArrowheads="1"/>
              </p:cNvSpPr>
              <p:nvPr/>
            </p:nvSpPr>
            <p:spPr bwMode="auto">
              <a:xfrm>
                <a:off x="48" y="3124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49" name="Rectangle 20"/>
              <p:cNvSpPr>
                <a:spLocks noChangeArrowheads="1"/>
              </p:cNvSpPr>
              <p:nvPr/>
            </p:nvSpPr>
            <p:spPr bwMode="auto">
              <a:xfrm>
                <a:off x="48" y="3269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0" name="Rectangle 21"/>
              <p:cNvSpPr>
                <a:spLocks noChangeArrowheads="1"/>
              </p:cNvSpPr>
              <p:nvPr/>
            </p:nvSpPr>
            <p:spPr bwMode="auto">
              <a:xfrm>
                <a:off x="48" y="3412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1" name="Rectangle 22"/>
              <p:cNvSpPr>
                <a:spLocks noChangeArrowheads="1"/>
              </p:cNvSpPr>
              <p:nvPr/>
            </p:nvSpPr>
            <p:spPr bwMode="auto">
              <a:xfrm>
                <a:off x="48" y="3557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2" name="Rectangle 23"/>
              <p:cNvSpPr>
                <a:spLocks noChangeArrowheads="1"/>
              </p:cNvSpPr>
              <p:nvPr/>
            </p:nvSpPr>
            <p:spPr bwMode="auto">
              <a:xfrm>
                <a:off x="48" y="3702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3" name="Rectangle 24"/>
              <p:cNvSpPr>
                <a:spLocks noChangeArrowheads="1"/>
              </p:cNvSpPr>
              <p:nvPr/>
            </p:nvSpPr>
            <p:spPr bwMode="auto">
              <a:xfrm>
                <a:off x="48" y="3845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4" name="Rectangle 25"/>
              <p:cNvSpPr>
                <a:spLocks noChangeArrowheads="1"/>
              </p:cNvSpPr>
              <p:nvPr/>
            </p:nvSpPr>
            <p:spPr bwMode="auto">
              <a:xfrm>
                <a:off x="48" y="3990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5" name="Rectangle 26"/>
              <p:cNvSpPr>
                <a:spLocks noChangeArrowheads="1"/>
              </p:cNvSpPr>
              <p:nvPr/>
            </p:nvSpPr>
            <p:spPr bwMode="auto">
              <a:xfrm>
                <a:off x="48" y="4133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6" name="Rectangle 27"/>
              <p:cNvSpPr>
                <a:spLocks noChangeArrowheads="1"/>
              </p:cNvSpPr>
              <p:nvPr/>
            </p:nvSpPr>
            <p:spPr bwMode="auto">
              <a:xfrm>
                <a:off x="48" y="102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7" name="Rectangle 28"/>
              <p:cNvSpPr>
                <a:spLocks noChangeArrowheads="1"/>
              </p:cNvSpPr>
              <p:nvPr/>
            </p:nvSpPr>
            <p:spPr bwMode="auto">
              <a:xfrm>
                <a:off x="48" y="246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8" name="Rectangle 29"/>
              <p:cNvSpPr>
                <a:spLocks noChangeArrowheads="1"/>
              </p:cNvSpPr>
              <p:nvPr/>
            </p:nvSpPr>
            <p:spPr bwMode="auto">
              <a:xfrm>
                <a:off x="48" y="391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59" name="Rectangle 30"/>
              <p:cNvSpPr>
                <a:spLocks noChangeArrowheads="1"/>
              </p:cNvSpPr>
              <p:nvPr/>
            </p:nvSpPr>
            <p:spPr bwMode="auto">
              <a:xfrm>
                <a:off x="48" y="535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60" name="Rectangle 31"/>
              <p:cNvSpPr>
                <a:spLocks noChangeArrowheads="1"/>
              </p:cNvSpPr>
              <p:nvPr/>
            </p:nvSpPr>
            <p:spPr bwMode="auto">
              <a:xfrm>
                <a:off x="48" y="679"/>
                <a:ext cx="96" cy="9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61" name="Rectangle 32"/>
              <p:cNvSpPr>
                <a:spLocks noChangeArrowheads="1"/>
              </p:cNvSpPr>
              <p:nvPr/>
            </p:nvSpPr>
            <p:spPr bwMode="auto">
              <a:xfrm>
                <a:off x="48" y="823"/>
                <a:ext cx="96" cy="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  <p:sp>
            <p:nvSpPr>
              <p:cNvPr id="1062" name="Rectangle 33"/>
              <p:cNvSpPr>
                <a:spLocks noChangeArrowheads="1"/>
              </p:cNvSpPr>
              <p:nvPr/>
            </p:nvSpPr>
            <p:spPr bwMode="auto">
              <a:xfrm>
                <a:off x="48" y="968"/>
                <a:ext cx="96" cy="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 smtClean="0">
                  <a:solidFill>
                    <a:srgbClr val="008000"/>
                  </a:solidFill>
                </a:endParaRPr>
              </a:p>
            </p:txBody>
          </p:sp>
        </p:grpSp>
      </p:grpSp>
      <p:sp>
        <p:nvSpPr>
          <p:cNvPr id="1028" name="Rectangle 34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76200"/>
            <a:ext cx="5715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</a:t>
            </a:r>
          </a:p>
        </p:txBody>
      </p:sp>
      <p:sp>
        <p:nvSpPr>
          <p:cNvPr id="1029" name="Rectangle 3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30" name="Rectangle 41"/>
          <p:cNvSpPr>
            <a:spLocks noChangeArrowheads="1"/>
          </p:cNvSpPr>
          <p:nvPr userDrawn="1"/>
        </p:nvSpPr>
        <p:spPr bwMode="auto">
          <a:xfrm>
            <a:off x="1443038" y="18097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endParaRPr lang="en-US" altLang="en-US" smtClean="0">
              <a:solidFill>
                <a:srgbClr val="008000"/>
              </a:solidFill>
            </a:endParaRPr>
          </a:p>
        </p:txBody>
      </p:sp>
      <p:pic>
        <p:nvPicPr>
          <p:cNvPr id="1031" name="Picture 38" descr="C:\Users\tmccomiskey\AppData\Local\Microsoft\Windows\Temporary Internet Files\Content.Outlook\HBZ01BIT\Accreditation CCEA logo.jp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95"/>
          <a:stretch>
            <a:fillRect/>
          </a:stretch>
        </p:blipFill>
        <p:spPr bwMode="auto">
          <a:xfrm>
            <a:off x="7000875" y="123825"/>
            <a:ext cx="1500188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0578941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FFFF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800">
          <a:solidFill>
            <a:srgbClr val="0000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400">
          <a:solidFill>
            <a:srgbClr val="000099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000">
          <a:solidFill>
            <a:srgbClr val="000099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000">
          <a:solidFill>
            <a:srgbClr val="00009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Font typeface="Wingdings" panose="05000000000000000000" pitchFamily="2" charset="2"/>
        <a:buChar char="§"/>
        <a:defRPr sz="2000">
          <a:solidFill>
            <a:srgbClr val="0000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>
          <a:solidFill>
            <a:srgbClr val="0000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>
          <a:solidFill>
            <a:srgbClr val="0000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>
          <a:solidFill>
            <a:srgbClr val="0000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§"/>
        <a:defRPr>
          <a:solidFill>
            <a:srgbClr val="0000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6730" y="404819"/>
            <a:ext cx="6346825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title style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6725" y="1438283"/>
            <a:ext cx="822960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 smtClean="0"/>
              <a:t>Click to edit Master text styles</a:t>
            </a:r>
          </a:p>
          <a:p>
            <a:pPr lvl="1"/>
            <a:r>
              <a:rPr lang="en-GB" altLang="en-US" dirty="0" smtClean="0"/>
              <a:t>Second level</a:t>
            </a:r>
          </a:p>
          <a:p>
            <a:pPr lvl="2"/>
            <a:r>
              <a:rPr lang="en-GB" altLang="en-US" dirty="0" smtClean="0"/>
              <a:t>Third level</a:t>
            </a:r>
          </a:p>
          <a:p>
            <a:pPr lvl="3"/>
            <a:r>
              <a:rPr lang="en-GB" altLang="en-US" dirty="0" smtClean="0"/>
              <a:t>Fourth level</a:t>
            </a:r>
          </a:p>
          <a:p>
            <a:pPr lvl="4"/>
            <a:r>
              <a:rPr lang="en-GB" alt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3340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rgbClr val="83B81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5pPr>
      <a:lvl6pPr marL="257175" algn="l" rtl="0" fontAlgn="base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6pPr>
      <a:lvl7pPr marL="514350" algn="l" rtl="0" fontAlgn="base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7pPr>
      <a:lvl8pPr marL="771525" algn="l" rtl="0" fontAlgn="base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8pPr>
      <a:lvl9pPr marL="1028700" algn="l" rtl="0" fontAlgn="base">
        <a:spcBef>
          <a:spcPct val="0"/>
        </a:spcBef>
        <a:spcAft>
          <a:spcPct val="0"/>
        </a:spcAft>
        <a:defRPr sz="135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ts val="225"/>
        </a:spcBef>
        <a:spcAft>
          <a:spcPts val="450"/>
        </a:spcAft>
        <a:buClr>
          <a:srgbClr val="86BE3D"/>
        </a:buClr>
        <a:buFont typeface="Wingdings" panose="05000000000000000000" pitchFamily="2" charset="2"/>
        <a:buNone/>
        <a:defRPr sz="1500" b="0" baseline="0">
          <a:solidFill>
            <a:srgbClr val="4D4D4D"/>
          </a:solidFill>
          <a:latin typeface="+mn-lt"/>
          <a:ea typeface="+mn-ea"/>
          <a:cs typeface="+mn-cs"/>
        </a:defRPr>
      </a:lvl1pPr>
      <a:lvl2pPr marL="417910" indent="-160735" algn="l" rtl="0" eaLnBrk="0" fontAlgn="base" hangingPunct="0">
        <a:spcBef>
          <a:spcPts val="0"/>
        </a:spcBef>
        <a:spcAft>
          <a:spcPts val="450"/>
        </a:spcAft>
        <a:buClr>
          <a:srgbClr val="86BE3D"/>
        </a:buClr>
        <a:buFont typeface="Wingdings" panose="05000000000000000000" pitchFamily="2" charset="2"/>
        <a:defRPr sz="1500">
          <a:solidFill>
            <a:srgbClr val="4D4D4D"/>
          </a:solidFill>
          <a:latin typeface="+mn-lt"/>
        </a:defRPr>
      </a:lvl2pPr>
      <a:lvl3pPr marL="539354" indent="0" algn="l" rtl="0" eaLnBrk="0" fontAlgn="base" hangingPunct="0">
        <a:spcBef>
          <a:spcPts val="0"/>
        </a:spcBef>
        <a:spcAft>
          <a:spcPts val="450"/>
        </a:spcAft>
        <a:buClr>
          <a:srgbClr val="83B81A"/>
        </a:buClr>
        <a:buFont typeface="Wingdings 2" panose="05020102010507070707" pitchFamily="18" charset="2"/>
        <a:buNone/>
        <a:defRPr sz="1500" b="0">
          <a:solidFill>
            <a:srgbClr val="4D4D4D"/>
          </a:solidFill>
          <a:latin typeface="+mn-lt"/>
        </a:defRPr>
      </a:lvl3pPr>
      <a:lvl4pPr marL="807244" indent="0" algn="l" rtl="0" eaLnBrk="0" fontAlgn="base" hangingPunct="0">
        <a:spcBef>
          <a:spcPts val="0"/>
        </a:spcBef>
        <a:spcAft>
          <a:spcPts val="450"/>
        </a:spcAft>
        <a:buNone/>
        <a:defRPr sz="1500">
          <a:solidFill>
            <a:srgbClr val="4D4D4D"/>
          </a:solidFill>
          <a:latin typeface="+mn-lt"/>
        </a:defRPr>
      </a:lvl4pPr>
      <a:lvl5pPr marL="1073944" indent="0" algn="l" rtl="0" eaLnBrk="0" fontAlgn="base" hangingPunct="0">
        <a:spcBef>
          <a:spcPts val="0"/>
        </a:spcBef>
        <a:spcAft>
          <a:spcPts val="450"/>
        </a:spcAft>
        <a:buNone/>
        <a:defRPr sz="1500">
          <a:solidFill>
            <a:srgbClr val="4D4D4D"/>
          </a:solidFill>
          <a:latin typeface="+mn-lt"/>
        </a:defRPr>
      </a:lvl5pPr>
      <a:lvl6pPr marL="685800" algn="l" rtl="0" fontAlgn="base">
        <a:spcBef>
          <a:spcPct val="5000"/>
        </a:spcBef>
        <a:spcAft>
          <a:spcPct val="5000"/>
        </a:spcAft>
        <a:buChar char="»"/>
        <a:defRPr sz="1125">
          <a:solidFill>
            <a:srgbClr val="4D4D4D"/>
          </a:solidFill>
          <a:latin typeface="+mn-lt"/>
        </a:defRPr>
      </a:lvl6pPr>
      <a:lvl7pPr marL="942975" algn="l" rtl="0" fontAlgn="base">
        <a:spcBef>
          <a:spcPct val="5000"/>
        </a:spcBef>
        <a:spcAft>
          <a:spcPct val="5000"/>
        </a:spcAft>
        <a:buChar char="»"/>
        <a:defRPr sz="1125">
          <a:solidFill>
            <a:srgbClr val="4D4D4D"/>
          </a:solidFill>
          <a:latin typeface="+mn-lt"/>
        </a:defRPr>
      </a:lvl7pPr>
      <a:lvl8pPr marL="1200150" algn="l" rtl="0" fontAlgn="base">
        <a:spcBef>
          <a:spcPct val="5000"/>
        </a:spcBef>
        <a:spcAft>
          <a:spcPct val="5000"/>
        </a:spcAft>
        <a:buChar char="»"/>
        <a:defRPr sz="1125">
          <a:solidFill>
            <a:srgbClr val="4D4D4D"/>
          </a:solidFill>
          <a:latin typeface="+mn-lt"/>
        </a:defRPr>
      </a:lvl8pPr>
      <a:lvl9pPr marL="1457325" algn="l" rtl="0" fontAlgn="base">
        <a:spcBef>
          <a:spcPct val="5000"/>
        </a:spcBef>
        <a:spcAft>
          <a:spcPct val="5000"/>
        </a:spcAft>
        <a:buChar char="»"/>
        <a:defRPr sz="1125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ofqual.blog.gov.uk/2015/10/01/explaining-the-rqf/" TargetMode="External"/><Relationship Id="rId3" Type="http://schemas.openxmlformats.org/officeDocument/2006/relationships/hyperlink" Target="http://register.ofqual.gov.uk/" TargetMode="External"/><Relationship Id="rId7" Type="http://schemas.openxmlformats.org/officeDocument/2006/relationships/hyperlink" Target="https://www.gov.uk/government/speeches/reforming-regulation-of-vocational-qualifications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Relationship Id="rId6" Type="http://schemas.openxmlformats.org/officeDocument/2006/relationships/hyperlink" Target="https://www.gov.uk/government/publications/16-to-19-vocational-qualifications-technical-guidance" TargetMode="External"/><Relationship Id="rId11" Type="http://schemas.openxmlformats.org/officeDocument/2006/relationships/hyperlink" Target="mailto:naomi.nicholson@ofqual.gov.uk" TargetMode="External"/><Relationship Id="rId5" Type="http://schemas.openxmlformats.org/officeDocument/2006/relationships/hyperlink" Target="https://www.gov.uk/government/publications/14-to-16-qualifications-technical-guidance" TargetMode="External"/><Relationship Id="rId10" Type="http://schemas.openxmlformats.org/officeDocument/2006/relationships/hyperlink" Target="https://www.gov.uk/government/speeches/regulating-vocational-qualifications-implementing-our-regulatory-strategy" TargetMode="External"/><Relationship Id="rId4" Type="http://schemas.openxmlformats.org/officeDocument/2006/relationships/hyperlink" Target="http://alpharegister.ofqual.gov.uk/" TargetMode="External"/><Relationship Id="rId9" Type="http://schemas.openxmlformats.org/officeDocument/2006/relationships/hyperlink" Target="http://www.gov.uk/government/speeches/qualifications-place-in-a-high-performing-vocational-syste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74359" y="2251884"/>
            <a:ext cx="7772400" cy="869724"/>
          </a:xfrm>
        </p:spPr>
        <p:txBody>
          <a:bodyPr/>
          <a:lstStyle/>
          <a:p>
            <a:r>
              <a:rPr lang="en-GB" altLang="en-US" dirty="0"/>
              <a:t>Vocational qualifications and HE entry in England</a:t>
            </a:r>
            <a:endParaRPr lang="en-GB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Jeremy Benson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6543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 smtClean="0"/>
              <a:t>The story in </a:t>
            </a:r>
            <a:r>
              <a:rPr lang="en-GB" dirty="0"/>
              <a:t>n</a:t>
            </a:r>
            <a:r>
              <a:rPr lang="en-GB" dirty="0" smtClean="0"/>
              <a:t>umbers</a:t>
            </a:r>
            <a:endParaRPr lang="en-GB" dirty="0"/>
          </a:p>
        </p:txBody>
      </p:sp>
      <p:pic>
        <p:nvPicPr>
          <p:cNvPr id="8" name="Picture 7"/>
          <p:cNvPicPr/>
          <p:nvPr/>
        </p:nvPicPr>
        <p:blipFill rotWithShape="1">
          <a:blip r:embed="rId3"/>
          <a:srcRect l="13627" t="8567" r="14247" b="4866"/>
          <a:stretch/>
        </p:blipFill>
        <p:spPr bwMode="auto">
          <a:xfrm>
            <a:off x="755576" y="1171312"/>
            <a:ext cx="7056784" cy="43459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971600" y="5301208"/>
            <a:ext cx="74168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/>
              <a:t>UK 18 year old entry rate by type of qualification held (logarithmic scale</a:t>
            </a:r>
            <a:r>
              <a:rPr lang="en-GB" sz="1600" b="1" dirty="0" smtClean="0"/>
              <a:t>)</a:t>
            </a:r>
          </a:p>
          <a:p>
            <a:endParaRPr lang="en-GB" sz="1600" dirty="0" smtClean="0"/>
          </a:p>
          <a:p>
            <a:pPr algn="r"/>
            <a:r>
              <a:rPr lang="en-GB" sz="1600" dirty="0" smtClean="0"/>
              <a:t>			</a:t>
            </a:r>
            <a:r>
              <a:rPr lang="en-GB" sz="1600" i="1" dirty="0" smtClean="0"/>
              <a:t>Source: UCAS End of Cycle Report 2015, p135</a:t>
            </a:r>
            <a:endParaRPr lang="en-GB" sz="1600" i="1" dirty="0"/>
          </a:p>
        </p:txBody>
      </p:sp>
    </p:spTree>
    <p:extLst>
      <p:ext uri="{BB962C8B-B14F-4D97-AF65-F5344CB8AC3E}">
        <p14:creationId xmlns:p14="http://schemas.microsoft.com/office/powerpoint/2010/main" val="1644804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 smtClean="0"/>
              <a:t>What would you need to know if…</a:t>
            </a:r>
            <a:endParaRPr lang="en-GB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340768"/>
            <a:ext cx="8229600" cy="4498975"/>
          </a:xfrm>
        </p:spPr>
        <p:txBody>
          <a:bodyPr/>
          <a:lstStyle/>
          <a:p>
            <a:pPr marL="0" lvl="2" indent="0" algn="ctr" eaLnBrk="1" hangingPunct="1">
              <a:buClr>
                <a:srgbClr val="68BD49"/>
              </a:buClr>
              <a:buNone/>
            </a:pPr>
            <a:r>
              <a:rPr lang="en-GB" sz="2400" dirty="0" smtClean="0"/>
              <a:t>... you were an admissions tutor thinking about starting to use vocational qualifications to inform admissions decisions?</a:t>
            </a:r>
          </a:p>
          <a:p>
            <a:pPr lvl="2" eaLnBrk="1" hangingPunct="1">
              <a:buClr>
                <a:srgbClr val="68BD49"/>
              </a:buClr>
            </a:pPr>
            <a:endParaRPr lang="en-GB" dirty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r>
              <a:rPr lang="en-GB" sz="2200" dirty="0" smtClean="0"/>
              <a:t>What skills do vocational qualifications recognise?</a:t>
            </a:r>
          </a:p>
          <a:p>
            <a:pPr lvl="2" eaLnBrk="1" hangingPunct="1">
              <a:buClr>
                <a:srgbClr val="68BD49"/>
              </a:buClr>
            </a:pPr>
            <a:r>
              <a:rPr lang="en-GB" sz="2200" dirty="0" smtClean="0"/>
              <a:t>What is different about vocational qualifications compared to qualifications I’m more familiar with?</a:t>
            </a:r>
          </a:p>
          <a:p>
            <a:pPr lvl="2" eaLnBrk="1" hangingPunct="1">
              <a:buClr>
                <a:srgbClr val="68BD49"/>
              </a:buClr>
            </a:pPr>
            <a:r>
              <a:rPr lang="en-GB" sz="2200" dirty="0" smtClean="0"/>
              <a:t>What other things might I need to consider if I want to start using vocational qualifications?</a:t>
            </a:r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/>
          </a:p>
          <a:p>
            <a:endParaRPr lang="en-GB" sz="1800" dirty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172394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GB" dirty="0"/>
              <a:t>What skills do vocational qualifications recognise?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340768"/>
            <a:ext cx="8229600" cy="4498975"/>
          </a:xfrm>
        </p:spPr>
        <p:txBody>
          <a:bodyPr/>
          <a:lstStyle/>
          <a:p>
            <a:pPr marL="0" lvl="2" indent="0" algn="ctr" eaLnBrk="1" hangingPunct="1">
              <a:buClr>
                <a:srgbClr val="68BD49"/>
              </a:buClr>
              <a:buNone/>
            </a:pPr>
            <a:r>
              <a:rPr lang="en-GB" sz="2200" dirty="0" smtClean="0"/>
              <a:t>A wide range…</a:t>
            </a:r>
          </a:p>
          <a:p>
            <a:pPr lvl="2" eaLnBrk="1" hangingPunct="1">
              <a:buClr>
                <a:srgbClr val="68BD49"/>
              </a:buClr>
            </a:pPr>
            <a:r>
              <a:rPr lang="en-GB" sz="2200" dirty="0" smtClean="0"/>
              <a:t>How can I find out?</a:t>
            </a:r>
          </a:p>
          <a:p>
            <a:pPr lvl="3" eaLnBrk="1" hangingPunct="1">
              <a:buClr>
                <a:srgbClr val="68BD49"/>
              </a:buClr>
            </a:pPr>
            <a:r>
              <a:rPr lang="en-GB" sz="2200" dirty="0" smtClean="0"/>
              <a:t>Title</a:t>
            </a:r>
          </a:p>
          <a:p>
            <a:pPr lvl="3" eaLnBrk="1" hangingPunct="1">
              <a:buClr>
                <a:srgbClr val="68BD49"/>
              </a:buClr>
            </a:pPr>
            <a:r>
              <a:rPr lang="en-GB" sz="2200" dirty="0" smtClean="0"/>
              <a:t>Ofqual’s Register of Regulated Qualifications</a:t>
            </a:r>
          </a:p>
          <a:p>
            <a:pPr lvl="3" eaLnBrk="1" hangingPunct="1">
              <a:buClr>
                <a:srgbClr val="68BD49"/>
              </a:buClr>
            </a:pPr>
            <a:r>
              <a:rPr lang="en-GB" sz="2200" dirty="0" smtClean="0"/>
              <a:t>Check the specification</a:t>
            </a:r>
          </a:p>
          <a:p>
            <a:pPr lvl="3" eaLnBrk="1" hangingPunct="1">
              <a:buClr>
                <a:srgbClr val="68BD49"/>
              </a:buClr>
            </a:pPr>
            <a:r>
              <a:rPr lang="en-GB" sz="2200" dirty="0" smtClean="0"/>
              <a:t>Ask the awarding body</a:t>
            </a:r>
          </a:p>
          <a:p>
            <a:pPr lvl="3" eaLnBrk="1" hangingPunct="1">
              <a:buClr>
                <a:srgbClr val="68BD49"/>
              </a:buClr>
            </a:pPr>
            <a:endParaRPr lang="en-GB" sz="2200" dirty="0" smtClean="0"/>
          </a:p>
          <a:p>
            <a:pPr lvl="2" eaLnBrk="1" hangingPunct="1">
              <a:buClr>
                <a:srgbClr val="68BD49"/>
              </a:buClr>
            </a:pPr>
            <a:r>
              <a:rPr lang="en-GB" sz="2200" dirty="0" smtClean="0"/>
              <a:t>Each vocational qualification is individually designed by the awarding body</a:t>
            </a:r>
          </a:p>
          <a:p>
            <a:pPr lvl="3" eaLnBrk="1" hangingPunct="1">
              <a:buClr>
                <a:srgbClr val="68BD49"/>
              </a:buClr>
            </a:pPr>
            <a:r>
              <a:rPr lang="en-GB" sz="2200" dirty="0" smtClean="0"/>
              <a:t>Many are based on employer-designed skills standards</a:t>
            </a:r>
          </a:p>
          <a:p>
            <a:pPr lvl="3" eaLnBrk="1" hangingPunct="1">
              <a:buClr>
                <a:srgbClr val="68BD49"/>
              </a:buClr>
            </a:pPr>
            <a:r>
              <a:rPr lang="en-GB" sz="2200" dirty="0" smtClean="0"/>
              <a:t>Others may be designed more to meet learner demand </a:t>
            </a:r>
            <a:r>
              <a:rPr lang="en-GB" sz="2200" dirty="0"/>
              <a:t>/</a:t>
            </a:r>
            <a:r>
              <a:rPr lang="en-GB" sz="2200" dirty="0" smtClean="0"/>
              <a:t>  school/college interest</a:t>
            </a:r>
          </a:p>
          <a:p>
            <a:pPr lvl="2" eaLnBrk="1" hangingPunct="1">
              <a:buClr>
                <a:srgbClr val="68BD49"/>
              </a:buClr>
            </a:pPr>
            <a:endParaRPr lang="en-GB" sz="2200" dirty="0" smtClean="0"/>
          </a:p>
          <a:p>
            <a:pPr lvl="2" eaLnBrk="1" hangingPunct="1">
              <a:buClr>
                <a:srgbClr val="68BD49"/>
              </a:buClr>
            </a:pPr>
            <a:endParaRPr lang="en-GB" sz="2200" dirty="0" smtClean="0"/>
          </a:p>
          <a:p>
            <a:pPr lvl="2" eaLnBrk="1" hangingPunct="1">
              <a:buClr>
                <a:srgbClr val="68BD49"/>
              </a:buClr>
            </a:pPr>
            <a:endParaRPr lang="en-GB" dirty="0"/>
          </a:p>
          <a:p>
            <a:endParaRPr lang="en-GB" sz="1800" dirty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3484252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Titles</a:t>
            </a:r>
            <a:endParaRPr lang="en-GB" altLang="en-US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/>
          </p:nvPr>
        </p:nvGraphicFramePr>
        <p:xfrm>
          <a:off x="466724" y="1297731"/>
          <a:ext cx="8065715" cy="446869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9132"/>
                <a:gridCol w="1080120"/>
                <a:gridCol w="3096344"/>
                <a:gridCol w="1080119"/>
              </a:tblGrid>
              <a:tr h="318892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</a:rPr>
                        <a:t>Applied</a:t>
                      </a:r>
                      <a:r>
                        <a:rPr lang="en-GB" sz="1800" baseline="0" dirty="0" smtClean="0">
                          <a:effectLst/>
                        </a:rPr>
                        <a:t> Generals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800" dirty="0" smtClean="0">
                          <a:effectLst/>
                        </a:rPr>
                        <a:t>Tech Levels</a:t>
                      </a:r>
                      <a:endParaRPr lang="en-GB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188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b="1" dirty="0">
                          <a:solidFill>
                            <a:schemeClr val="tx1"/>
                          </a:solidFill>
                          <a:effectLst/>
                        </a:rPr>
                        <a:t>Title</a:t>
                      </a:r>
                      <a:endParaRPr lang="en-GB" sz="1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b="1" dirty="0" smtClean="0">
                          <a:effectLst/>
                        </a:rPr>
                        <a:t>Cert </a:t>
                      </a:r>
                      <a:r>
                        <a:rPr lang="en-GB" sz="1600" b="1" dirty="0" err="1" smtClean="0">
                          <a:effectLst/>
                        </a:rPr>
                        <a:t>no.s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600" b="1" dirty="0">
                          <a:effectLst/>
                        </a:rPr>
                        <a:t>Title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600" b="1" dirty="0" smtClean="0">
                          <a:effectLst/>
                        </a:rPr>
                        <a:t>Cert </a:t>
                      </a:r>
                      <a:r>
                        <a:rPr lang="en-GB" sz="1600" b="1" dirty="0" err="1" smtClean="0">
                          <a:effectLst/>
                        </a:rPr>
                        <a:t>no.s</a:t>
                      </a:r>
                      <a:endParaRPr lang="en-GB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7340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Extended Diploma in Health and Social Care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12,670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Extended Diploma in Art and Design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11,160</a:t>
                      </a:r>
                      <a:endParaRPr lang="en-GB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0405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Subsidiary Diploma in Business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11,860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Extended Diploma in IT</a:t>
                      </a:r>
                      <a:endParaRPr lang="en-GB" sz="1600" b="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9,760</a:t>
                      </a:r>
                      <a:endParaRPr lang="en-GB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972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Extended Diploma in Sport</a:t>
                      </a: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11,860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City &amp; Guilds Level 3 Diploma in Health &amp; Social Care (Adults) for England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8,660</a:t>
                      </a:r>
                      <a:endParaRPr lang="en-GB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368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Subsidiary Diploma in IT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11,530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AAT Level 3 Diploma In Accounting</a:t>
                      </a:r>
                      <a:endParaRPr lang="en-GB" sz="1600" b="0" dirty="0" smtClean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8,010</a:t>
                      </a:r>
                      <a:endParaRPr lang="en-GB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9723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Subsidiary Diploma in Sport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endParaRPr lang="en-GB" sz="16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10,820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dirty="0" smtClean="0">
                          <a:solidFill>
                            <a:schemeClr val="tx1"/>
                          </a:solidFill>
                          <a:effectLst/>
                        </a:rPr>
                        <a:t>Pearson BTEC Level 3 Extended Diploma in Creative Media Production</a:t>
                      </a: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effectLst/>
                        </a:rPr>
                        <a:t>7,350</a:t>
                      </a:r>
                      <a:endParaRPr lang="en-GB" sz="16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GB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50950" y="2408238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466724" y="5847655"/>
            <a:ext cx="8065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Data from academic year 2013/14. Includes certifications taken by all learners, not just at 16-19. Figures rounded to nearest ten. All above qualifications in QCF.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14690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Improving our Register of qualifications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68144" y="2982433"/>
            <a:ext cx="2520280" cy="36933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bg1"/>
                </a:solidFill>
              </a:rPr>
              <a:t>CURRENT VERSION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544" t="6645" b="15623"/>
          <a:stretch/>
        </p:blipFill>
        <p:spPr>
          <a:xfrm>
            <a:off x="113844" y="1097360"/>
            <a:ext cx="8935362" cy="576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0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423" y="406053"/>
            <a:ext cx="6346825" cy="574675"/>
          </a:xfrm>
        </p:spPr>
        <p:txBody>
          <a:bodyPr/>
          <a:lstStyle/>
          <a:p>
            <a:pPr eaLnBrk="1" hangingPunct="1"/>
            <a:r>
              <a:rPr lang="en-GB" altLang="en-US" dirty="0"/>
              <a:t>M</a:t>
            </a:r>
            <a:r>
              <a:rPr lang="en-GB" altLang="en-US" dirty="0" smtClean="0"/>
              <a:t>ore details from specifications…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/>
          </p:nvPr>
        </p:nvGraphicFramePr>
        <p:xfrm>
          <a:off x="251521" y="1268760"/>
          <a:ext cx="8424936" cy="52541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4135"/>
                <a:gridCol w="3788769"/>
                <a:gridCol w="3412032"/>
              </a:tblGrid>
              <a:tr h="17139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Type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Applied General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Tech Level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285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Qualification title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u="none" dirty="0" smtClean="0">
                          <a:effectLst/>
                        </a:rPr>
                        <a:t>Pearson BTEC Level 3 Extended Diploma in Health and Social Care</a:t>
                      </a:r>
                      <a:endParaRPr lang="en-GB" sz="12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u="none" dirty="0">
                          <a:effectLst/>
                        </a:rPr>
                        <a:t>Pearson BTEC Level 3 Extended Diploma in Art and </a:t>
                      </a:r>
                      <a:r>
                        <a:rPr lang="en-GB" sz="1200" u="none" dirty="0" smtClean="0">
                          <a:effectLst/>
                        </a:rPr>
                        <a:t>Design</a:t>
                      </a:r>
                      <a:endParaRPr lang="en-GB" sz="1200" u="none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1428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Enrolments 2013/14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12,670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11,160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1428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Size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1080 GLH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1080 GLH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71412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Assessment methods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Aural Examination, Coursework, Oral Examination, Portfolio of Evidence, Practical Demonstration/Assignment, Task-based Controlled Assessment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Aural Examination, Coursework, E-assessment, Multiple Choice Examination, Oral Examination, Portfolio of Evidence, Practical Demonstration/Assignment, Practical Examination, Task-based Controlled Assessment, Written Examination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57129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</a:rPr>
                        <a:t>Structure</a:t>
                      </a:r>
                      <a:endParaRPr lang="en-GB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Four </a:t>
                      </a:r>
                      <a:r>
                        <a:rPr lang="en-GB" sz="1200" dirty="0">
                          <a:effectLst/>
                        </a:rPr>
                        <a:t>different pathways </a:t>
                      </a:r>
                      <a:r>
                        <a:rPr lang="en-GB" sz="1200" dirty="0" smtClean="0">
                          <a:effectLst/>
                        </a:rPr>
                        <a:t>can </a:t>
                      </a:r>
                      <a:r>
                        <a:rPr lang="en-GB" sz="1200" dirty="0">
                          <a:effectLst/>
                        </a:rPr>
                        <a:t>be taken.  </a:t>
                      </a:r>
                      <a:r>
                        <a:rPr lang="en-GB" sz="1200" dirty="0" smtClean="0">
                          <a:effectLst/>
                        </a:rPr>
                        <a:t>Each pathway</a:t>
                      </a:r>
                      <a:r>
                        <a:rPr lang="en-GB" sz="1200" baseline="0" dirty="0" smtClean="0">
                          <a:effectLst/>
                        </a:rPr>
                        <a:t> has </a:t>
                      </a:r>
                      <a:r>
                        <a:rPr lang="en-GB" sz="1200" dirty="0" smtClean="0">
                          <a:effectLst/>
                        </a:rPr>
                        <a:t>between </a:t>
                      </a:r>
                      <a:r>
                        <a:rPr lang="en-GB" sz="1200" dirty="0">
                          <a:effectLst/>
                        </a:rPr>
                        <a:t>45% and 72% mandatory content, the remainder </a:t>
                      </a:r>
                      <a:r>
                        <a:rPr lang="en-GB" sz="1200" dirty="0" smtClean="0">
                          <a:effectLst/>
                        </a:rPr>
                        <a:t>can be selected</a:t>
                      </a:r>
                      <a:r>
                        <a:rPr lang="en-GB" sz="1200" baseline="0" dirty="0" smtClean="0">
                          <a:effectLst/>
                        </a:rPr>
                        <a:t> from </a:t>
                      </a:r>
                      <a:r>
                        <a:rPr lang="en-GB" sz="1200" dirty="0" smtClean="0">
                          <a:effectLst/>
                        </a:rPr>
                        <a:t>100+ </a:t>
                      </a:r>
                      <a:r>
                        <a:rPr lang="en-GB" sz="1200" dirty="0">
                          <a:effectLst/>
                        </a:rPr>
                        <a:t>different units. 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Eight </a:t>
                      </a:r>
                      <a:r>
                        <a:rPr lang="en-GB" sz="1200" dirty="0">
                          <a:effectLst/>
                        </a:rPr>
                        <a:t>different pathways </a:t>
                      </a:r>
                      <a:r>
                        <a:rPr lang="en-GB" sz="1200" dirty="0" smtClean="0">
                          <a:effectLst/>
                        </a:rPr>
                        <a:t>can </a:t>
                      </a:r>
                      <a:r>
                        <a:rPr lang="en-GB" sz="1200" dirty="0">
                          <a:effectLst/>
                        </a:rPr>
                        <a:t>be taken.  </a:t>
                      </a:r>
                      <a:r>
                        <a:rPr lang="en-GB" sz="1200" dirty="0" smtClean="0">
                          <a:effectLst/>
                        </a:rPr>
                        <a:t>Each pathway has </a:t>
                      </a:r>
                      <a:r>
                        <a:rPr lang="en-GB" sz="1200" dirty="0">
                          <a:effectLst/>
                        </a:rPr>
                        <a:t>28% mandatory content, the remainder </a:t>
                      </a:r>
                      <a:r>
                        <a:rPr lang="en-GB" sz="1200" dirty="0" smtClean="0">
                          <a:effectLst/>
                        </a:rPr>
                        <a:t>can be selected </a:t>
                      </a:r>
                      <a:r>
                        <a:rPr lang="en-GB" sz="1200" dirty="0">
                          <a:effectLst/>
                        </a:rPr>
                        <a:t>from </a:t>
                      </a:r>
                      <a:r>
                        <a:rPr lang="en-GB" sz="1200" dirty="0" smtClean="0">
                          <a:effectLst/>
                        </a:rPr>
                        <a:t>100+ </a:t>
                      </a:r>
                      <a:r>
                        <a:rPr lang="en-GB" sz="1200" dirty="0">
                          <a:effectLst/>
                        </a:rPr>
                        <a:t>different </a:t>
                      </a:r>
                      <a:r>
                        <a:rPr lang="en-GB" sz="1200" dirty="0" smtClean="0">
                          <a:effectLst/>
                        </a:rPr>
                        <a:t>units.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28564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</a:rPr>
                        <a:t>Grading scale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P/M/D/D*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P/M/D/D*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  <a:tr h="204239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1200" dirty="0" smtClean="0">
                          <a:effectLst/>
                        </a:rPr>
                        <a:t>Examples of skills that are</a:t>
                      </a:r>
                      <a:r>
                        <a:rPr lang="en-GB" sz="1200" baseline="0" dirty="0" smtClean="0">
                          <a:effectLst/>
                        </a:rPr>
                        <a:t> assessed in one mandatory unit from each qual: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>
                          <a:effectLst/>
                        </a:rPr>
                        <a:t>Explain potential hazards and the harm that may arise from each in a health or social care setting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>
                          <a:effectLst/>
                        </a:rPr>
                        <a:t>Outline how legislation, policies and procedures relating to health, safety and security influence health and social care settings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>
                          <a:effectLst/>
                        </a:rPr>
                        <a:t>Carry out a risk assessment in a health or social care setting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>
                          <a:effectLst/>
                        </a:rPr>
                        <a:t>Explain possible priorities and responses when dealing with two particular incidents or emergencies in a health or social care setting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 smtClean="0">
                          <a:effectLst/>
                        </a:rPr>
                        <a:t>Identify </a:t>
                      </a:r>
                      <a:r>
                        <a:rPr lang="en-GB" sz="1200" dirty="0">
                          <a:effectLst/>
                        </a:rPr>
                        <a:t>primary and secondary sources for recording 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 smtClean="0">
                          <a:effectLst/>
                        </a:rPr>
                        <a:t>Record </a:t>
                      </a:r>
                      <a:r>
                        <a:rPr lang="en-GB" sz="1200" dirty="0">
                          <a:effectLst/>
                        </a:rPr>
                        <a:t>visually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 smtClean="0">
                          <a:effectLst/>
                        </a:rPr>
                        <a:t>Discuss </a:t>
                      </a:r>
                      <a:r>
                        <a:rPr lang="en-GB" sz="1200" dirty="0">
                          <a:effectLst/>
                        </a:rPr>
                        <a:t>visual recording in others’ work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 smtClean="0">
                          <a:effectLst/>
                        </a:rPr>
                        <a:t>Review </a:t>
                      </a:r>
                      <a:r>
                        <a:rPr lang="en-GB" sz="1200" dirty="0">
                          <a:effectLst/>
                        </a:rPr>
                        <a:t>own visual recording</a:t>
                      </a: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GB" sz="1200" dirty="0" smtClean="0">
                          <a:effectLst/>
                        </a:rPr>
                        <a:t>Develop </a:t>
                      </a:r>
                      <a:r>
                        <a:rPr lang="en-GB" sz="1200" dirty="0">
                          <a:effectLst/>
                        </a:rPr>
                        <a:t>visual recording to produce effective outcomes</a:t>
                      </a:r>
                      <a:endParaRPr lang="en-GB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271" marR="6427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46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9" y="332656"/>
            <a:ext cx="6480720" cy="574675"/>
          </a:xfrm>
          <a:noFill/>
        </p:spPr>
        <p:txBody>
          <a:bodyPr/>
          <a:lstStyle/>
          <a:p>
            <a:pPr lvl="2"/>
            <a:r>
              <a:rPr lang="en-GB" sz="1800" dirty="0" smtClean="0"/>
              <a:t>What are the differences between vocational and academic qualifications?</a:t>
            </a:r>
            <a:r>
              <a:rPr lang="en-GB" sz="1800" dirty="0"/>
              <a:t/>
            </a:r>
            <a:br>
              <a:rPr lang="en-GB" sz="1800" dirty="0"/>
            </a:br>
            <a:endParaRPr lang="en-GB" sz="18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268760"/>
            <a:ext cx="8229600" cy="4824536"/>
          </a:xfrm>
        </p:spPr>
        <p:txBody>
          <a:bodyPr/>
          <a:lstStyle/>
          <a:p>
            <a:pPr marL="0" indent="-38100">
              <a:buClr>
                <a:srgbClr val="68BD49"/>
              </a:buClr>
            </a:pPr>
            <a:r>
              <a:rPr lang="en-GB" sz="2400" dirty="0" smtClean="0"/>
              <a:t>Some things to consider:</a:t>
            </a:r>
            <a:endParaRPr lang="en-GB" dirty="0" smtClean="0"/>
          </a:p>
          <a:p>
            <a:pPr lvl="2">
              <a:buClr>
                <a:srgbClr val="68BD49"/>
              </a:buClr>
            </a:pPr>
            <a:r>
              <a:rPr lang="en-GB" sz="1800" dirty="0" smtClean="0"/>
              <a:t>Vocational qualifications often do not assess typical ‘academic’ skills, e.g. analysis, extended writing (although some may)</a:t>
            </a:r>
          </a:p>
          <a:p>
            <a:pPr lvl="2">
              <a:buClr>
                <a:srgbClr val="68BD49"/>
              </a:buClr>
            </a:pPr>
            <a:r>
              <a:rPr lang="en-GB" sz="1800" dirty="0" smtClean="0"/>
              <a:t>Qualifications at the same level do not necessarily assess the same kinds of skills:</a:t>
            </a:r>
          </a:p>
          <a:p>
            <a:pPr lvl="3">
              <a:buClr>
                <a:srgbClr val="68BD49"/>
              </a:buClr>
            </a:pPr>
            <a:r>
              <a:rPr lang="en-GB" sz="1800" dirty="0" smtClean="0"/>
              <a:t>An NVQ in Hairdressing can be at Level 3</a:t>
            </a:r>
          </a:p>
          <a:p>
            <a:pPr lvl="3">
              <a:buClr>
                <a:srgbClr val="68BD49"/>
              </a:buClr>
            </a:pPr>
            <a:r>
              <a:rPr lang="en-GB" sz="1800" dirty="0" smtClean="0"/>
              <a:t>So is A level Physics</a:t>
            </a:r>
          </a:p>
          <a:p>
            <a:pPr marL="381000" lvl="3" indent="0">
              <a:buClr>
                <a:srgbClr val="68BD49"/>
              </a:buClr>
              <a:buNone/>
            </a:pPr>
            <a:r>
              <a:rPr lang="en-GB" sz="1800" b="1" dirty="0" smtClean="0"/>
              <a:t>Level is a broad indicator – not an exact equivalence</a:t>
            </a:r>
          </a:p>
          <a:p>
            <a:pPr lvl="2">
              <a:buClr>
                <a:srgbClr val="68BD49"/>
              </a:buClr>
            </a:pPr>
            <a:r>
              <a:rPr lang="en-GB" sz="1800" b="1" dirty="0" smtClean="0"/>
              <a:t>Government does not set out the vocational skills it wants assessed in schools and colleges (unlike for GCSE and A level)</a:t>
            </a:r>
          </a:p>
          <a:p>
            <a:pPr lvl="2">
              <a:buClr>
                <a:srgbClr val="68BD49"/>
              </a:buClr>
            </a:pPr>
            <a:r>
              <a:rPr lang="en-GB" altLang="en-US" sz="1800" dirty="0" smtClean="0"/>
              <a:t>Ofqual doesn’t set detailed </a:t>
            </a:r>
            <a:r>
              <a:rPr lang="en-GB" altLang="en-US" sz="1800" dirty="0"/>
              <a:t>regulatory requirements for qualification ‘types</a:t>
            </a:r>
            <a:r>
              <a:rPr lang="en-GB" altLang="en-US" sz="1800" dirty="0" smtClean="0"/>
              <a:t>’ as we do for GCSEs and A levels</a:t>
            </a:r>
          </a:p>
          <a:p>
            <a:pPr lvl="2">
              <a:buClr>
                <a:srgbClr val="68BD49"/>
              </a:buClr>
            </a:pPr>
            <a:r>
              <a:rPr lang="en-GB" altLang="en-US" sz="1800" dirty="0" smtClean="0"/>
              <a:t>There is huge diversity in vocational qualifications – in terms of size, assessment methods, skills tested, breadth</a:t>
            </a:r>
            <a:endParaRPr lang="en-GB" altLang="en-US" sz="1800" dirty="0"/>
          </a:p>
          <a:p>
            <a:pPr lvl="2">
              <a:buClr>
                <a:srgbClr val="68BD49"/>
              </a:buClr>
            </a:pPr>
            <a:endParaRPr lang="en-GB" b="1" dirty="0" smtClean="0"/>
          </a:p>
          <a:p>
            <a:pPr lvl="2">
              <a:buClr>
                <a:srgbClr val="68BD49"/>
              </a:buClr>
            </a:pPr>
            <a:endParaRPr lang="en-GB" b="1" dirty="0" smtClean="0"/>
          </a:p>
          <a:p>
            <a:pPr lvl="2">
              <a:buClr>
                <a:srgbClr val="68BD49"/>
              </a:buClr>
            </a:pPr>
            <a:endParaRPr lang="en-GB" b="1" dirty="0" smtClean="0"/>
          </a:p>
          <a:p>
            <a:pPr lvl="2" eaLnBrk="1" hangingPunct="1">
              <a:buClr>
                <a:srgbClr val="68BD49"/>
              </a:buClr>
            </a:pPr>
            <a:endParaRPr lang="en-GB" dirty="0"/>
          </a:p>
          <a:p>
            <a:endParaRPr lang="en-GB" sz="1800" dirty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6447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332656"/>
            <a:ext cx="6346825" cy="5746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16-19 vocational education and assessment: some points to note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568822"/>
            <a:ext cx="8229600" cy="4740498"/>
          </a:xfrm>
        </p:spPr>
        <p:txBody>
          <a:bodyPr/>
          <a:lstStyle/>
          <a:p>
            <a:pPr lvl="2">
              <a:buClr>
                <a:srgbClr val="68BD49"/>
              </a:buClr>
            </a:pPr>
            <a:r>
              <a:rPr lang="en-GB" altLang="en-US" sz="1800" dirty="0" smtClean="0"/>
              <a:t>Qualifications in performance tables are changing</a:t>
            </a:r>
          </a:p>
          <a:p>
            <a:pPr lvl="3">
              <a:buClr>
                <a:srgbClr val="68BD49"/>
              </a:buClr>
            </a:pPr>
            <a:r>
              <a:rPr lang="en-GB" altLang="en-US" sz="1800" dirty="0" smtClean="0"/>
              <a:t>They will be required to meet new Department for Education Performance Table rules (first teaching this September)</a:t>
            </a:r>
          </a:p>
          <a:p>
            <a:pPr lvl="3">
              <a:buClr>
                <a:srgbClr val="68BD49"/>
              </a:buClr>
            </a:pPr>
            <a:endParaRPr lang="en-GB" altLang="en-US" sz="1800" dirty="0" smtClean="0"/>
          </a:p>
          <a:p>
            <a:pPr lvl="2">
              <a:buClr>
                <a:srgbClr val="68BD49"/>
              </a:buClr>
            </a:pPr>
            <a:r>
              <a:rPr lang="en-GB" altLang="en-US" sz="1800" dirty="0" smtClean="0"/>
              <a:t>Government review of Technical and Professional Education (TPE)</a:t>
            </a:r>
          </a:p>
          <a:p>
            <a:pPr lvl="3">
              <a:buClr>
                <a:srgbClr val="68BD49"/>
              </a:buClr>
            </a:pPr>
            <a:r>
              <a:rPr lang="en-GB" altLang="en-US" sz="1800" dirty="0" smtClean="0"/>
              <a:t>Department for Education is currently reviewing technical and professional education, with a focus on age 16-19</a:t>
            </a:r>
          </a:p>
          <a:p>
            <a:pPr lvl="3">
              <a:buClr>
                <a:srgbClr val="68BD49"/>
              </a:buClr>
            </a:pPr>
            <a:r>
              <a:rPr lang="en-GB" altLang="en-US" sz="1800" dirty="0" smtClean="0"/>
              <a:t>Aim for up to 20 sector-based routes to be established, leading to further study or employment</a:t>
            </a:r>
          </a:p>
          <a:p>
            <a:pPr lvl="3">
              <a:buClr>
                <a:srgbClr val="68BD49"/>
              </a:buClr>
            </a:pPr>
            <a:r>
              <a:rPr lang="en-GB" altLang="en-US" sz="1800" dirty="0" smtClean="0"/>
              <a:t>Content of each route to be defined with employer input</a:t>
            </a:r>
          </a:p>
          <a:p>
            <a:pPr lvl="3">
              <a:buClr>
                <a:srgbClr val="68BD49"/>
              </a:buClr>
            </a:pPr>
            <a:r>
              <a:rPr lang="en-GB" altLang="en-US" sz="1800" dirty="0" smtClean="0"/>
              <a:t>Steering Group under Lord Sainsbury – to report shortly</a:t>
            </a:r>
          </a:p>
          <a:p>
            <a:pPr lvl="3">
              <a:buClr>
                <a:srgbClr val="68BD49"/>
              </a:buClr>
            </a:pPr>
            <a:r>
              <a:rPr lang="en-GB" altLang="en-US" sz="1800" dirty="0" smtClean="0"/>
              <a:t>Could lead to further changes to qualifications</a:t>
            </a:r>
          </a:p>
          <a:p>
            <a:pPr lvl="3">
              <a:buClr>
                <a:srgbClr val="68BD49"/>
              </a:buClr>
            </a:pPr>
            <a:endParaRPr lang="en-GB" altLang="en-US" dirty="0" smtClean="0"/>
          </a:p>
          <a:p>
            <a:pPr lvl="3">
              <a:buClr>
                <a:srgbClr val="68BD49"/>
              </a:buClr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9813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lvl="2"/>
            <a:r>
              <a:rPr lang="en-GB" sz="1800" dirty="0" smtClean="0"/>
              <a:t>What other questions might </a:t>
            </a:r>
            <a:r>
              <a:rPr lang="en-GB" sz="1800" dirty="0"/>
              <a:t>I need to </a:t>
            </a:r>
            <a:r>
              <a:rPr lang="en-GB" sz="1800" dirty="0" smtClean="0"/>
              <a:t>consider?</a:t>
            </a:r>
            <a:endParaRPr lang="en-GB" sz="1800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340768"/>
            <a:ext cx="8229600" cy="4498975"/>
          </a:xfrm>
        </p:spPr>
        <p:txBody>
          <a:bodyPr/>
          <a:lstStyle/>
          <a:p>
            <a:pPr lvl="2" eaLnBrk="1" hangingPunct="1">
              <a:buClr>
                <a:srgbClr val="68BD49"/>
              </a:buClr>
            </a:pPr>
            <a:r>
              <a:rPr lang="en-GB" sz="2100" dirty="0" smtClean="0"/>
              <a:t>What skills and knowledge do we want our students to have on entry? </a:t>
            </a:r>
          </a:p>
          <a:p>
            <a:pPr lvl="3">
              <a:buClr>
                <a:srgbClr val="68BD49"/>
              </a:buClr>
            </a:pPr>
            <a:r>
              <a:rPr lang="en-GB" sz="2100" dirty="0" smtClean="0"/>
              <a:t>General level of overall academic ability?</a:t>
            </a:r>
          </a:p>
          <a:p>
            <a:pPr lvl="3">
              <a:buClr>
                <a:srgbClr val="68BD49"/>
              </a:buClr>
            </a:pPr>
            <a:r>
              <a:rPr lang="en-GB" sz="2100" dirty="0" smtClean="0"/>
              <a:t>Specific set of skills to support a particular route?</a:t>
            </a:r>
          </a:p>
          <a:p>
            <a:pPr lvl="3">
              <a:buClr>
                <a:srgbClr val="68BD49"/>
              </a:buClr>
            </a:pPr>
            <a:r>
              <a:rPr lang="en-GB" sz="2100" dirty="0" smtClean="0"/>
              <a:t>How far do particular qualifications recognise these?</a:t>
            </a:r>
          </a:p>
          <a:p>
            <a:pPr lvl="2" eaLnBrk="1" hangingPunct="1">
              <a:buClr>
                <a:srgbClr val="68BD49"/>
              </a:buClr>
            </a:pPr>
            <a:r>
              <a:rPr lang="en-GB" sz="2100" dirty="0" smtClean="0"/>
              <a:t>What might we need to put in place if we want to accept students who have taken a vocational route, but need academic skills as well?</a:t>
            </a:r>
          </a:p>
          <a:p>
            <a:pPr lvl="2" eaLnBrk="1" hangingPunct="1">
              <a:buClr>
                <a:srgbClr val="68BD49"/>
              </a:buClr>
            </a:pPr>
            <a:r>
              <a:rPr lang="en-GB" sz="2100" dirty="0" smtClean="0"/>
              <a:t>What strengths might students with vocational qualifications bring – either in general or for specific courses?</a:t>
            </a:r>
          </a:p>
          <a:p>
            <a:pPr lvl="2" eaLnBrk="1" hangingPunct="1">
              <a:buClr>
                <a:srgbClr val="68BD49"/>
              </a:buClr>
            </a:pPr>
            <a:r>
              <a:rPr lang="en-GB" sz="2100" dirty="0" smtClean="0"/>
              <a:t>What can we tell prospective students about our expectations – and whether we will accept vocational qualifications?</a:t>
            </a:r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/>
          </a:p>
          <a:p>
            <a:endParaRPr lang="en-GB" sz="1800" dirty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  <a:p>
            <a:pPr lvl="2" eaLnBrk="1" hangingPunct="1">
              <a:buClr>
                <a:srgbClr val="68BD49"/>
              </a:buClr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149163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6346825" cy="574675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Question for table discussions…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908720"/>
            <a:ext cx="8229600" cy="4740498"/>
          </a:xfrm>
        </p:spPr>
        <p:txBody>
          <a:bodyPr/>
          <a:lstStyle/>
          <a:p>
            <a:pPr marL="0" lvl="2" indent="0">
              <a:buClr>
                <a:srgbClr val="68BD49"/>
              </a:buClr>
              <a:buNone/>
            </a:pPr>
            <a:endParaRPr lang="en-GB" altLang="en-US" dirty="0" smtClean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dirty="0"/>
          </a:p>
          <a:p>
            <a:pPr marL="0" lvl="2" indent="0">
              <a:buClr>
                <a:srgbClr val="68BD49"/>
              </a:buClr>
              <a:buNone/>
            </a:pPr>
            <a:endParaRPr lang="en-GB" altLang="en-US" dirty="0"/>
          </a:p>
          <a:p>
            <a:pPr marL="0" lvl="2" indent="0" algn="ctr">
              <a:buClr>
                <a:srgbClr val="68BD49"/>
              </a:buClr>
              <a:buNone/>
            </a:pPr>
            <a:r>
              <a:rPr lang="en-GB" altLang="en-US" sz="2400" dirty="0" smtClean="0"/>
              <a:t>What questions might you need to ask if you were thinking about starting to use vocational qualifications to support admissions decisions...</a:t>
            </a:r>
          </a:p>
          <a:p>
            <a:pPr marL="0" lvl="2" indent="0" algn="ctr">
              <a:buClr>
                <a:srgbClr val="68BD49"/>
              </a:buClr>
              <a:buNone/>
            </a:pPr>
            <a:endParaRPr lang="en-GB" altLang="en-US" sz="2400" dirty="0"/>
          </a:p>
          <a:p>
            <a:pPr marL="0" lvl="2" indent="0" algn="ctr">
              <a:buClr>
                <a:srgbClr val="68BD49"/>
              </a:buClr>
              <a:buNone/>
            </a:pPr>
            <a:r>
              <a:rPr lang="en-GB" altLang="en-US" sz="2400" dirty="0" smtClean="0"/>
              <a:t>… and how would you go about answering them?</a:t>
            </a:r>
          </a:p>
          <a:p>
            <a:pPr marL="381000" lvl="3" indent="0">
              <a:buClr>
                <a:srgbClr val="68BD49"/>
              </a:buClr>
              <a:buNone/>
            </a:pPr>
            <a:endParaRPr lang="en-GB" altLang="en-US" dirty="0" smtClean="0"/>
          </a:p>
          <a:p>
            <a:pPr lvl="3">
              <a:buClr>
                <a:srgbClr val="68BD49"/>
              </a:buClr>
            </a:pPr>
            <a:endParaRPr lang="en-GB" altLang="en-US" dirty="0" smtClean="0"/>
          </a:p>
          <a:p>
            <a:pPr lvl="3">
              <a:buClr>
                <a:srgbClr val="68BD49"/>
              </a:buClr>
            </a:pPr>
            <a:endParaRPr lang="en-GB" altLang="en-US" dirty="0" smtClean="0"/>
          </a:p>
          <a:p>
            <a:pPr lvl="3">
              <a:buClr>
                <a:srgbClr val="68BD49"/>
              </a:buClr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4421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725" y="260648"/>
            <a:ext cx="6346825" cy="574675"/>
          </a:xfrm>
        </p:spPr>
        <p:txBody>
          <a:bodyPr/>
          <a:lstStyle/>
          <a:p>
            <a:pPr lvl="2"/>
            <a:r>
              <a:rPr lang="en-GB" altLang="en-US" dirty="0"/>
              <a:t>Find out </a:t>
            </a:r>
            <a:r>
              <a:rPr lang="en-GB" altLang="en-US" dirty="0" smtClean="0"/>
              <a:t>more…</a:t>
            </a:r>
            <a:r>
              <a:rPr lang="en-GB" altLang="en-US" dirty="0"/>
              <a:t/>
            </a:r>
            <a:br>
              <a:rPr lang="en-GB" altLang="en-US" dirty="0"/>
            </a:br>
            <a:endParaRPr lang="en-GB" altLang="en-US" dirty="0" smtClean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836712"/>
            <a:ext cx="8229600" cy="5328592"/>
          </a:xfrm>
        </p:spPr>
        <p:txBody>
          <a:bodyPr/>
          <a:lstStyle/>
          <a:p>
            <a:pPr marL="0" lvl="2" indent="0">
              <a:buClr>
                <a:srgbClr val="68BD49"/>
              </a:buClr>
              <a:buNone/>
            </a:pPr>
            <a:endParaRPr lang="en-GB" altLang="en-US" sz="16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Register of Regulated Qualifications</a:t>
            </a:r>
          </a:p>
          <a:p>
            <a:pPr marL="0" lvl="2" indent="0">
              <a:spcAft>
                <a:spcPts val="1200"/>
              </a:spcAft>
              <a:buClr>
                <a:srgbClr val="68BD49"/>
              </a:buClr>
              <a:buNone/>
            </a:pP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Current: 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http://register.ofqual.gov.uk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 Prototype: </a:t>
            </a:r>
            <a:r>
              <a:rPr lang="en-GB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http://alpharegister.ofqual.gov.uk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4"/>
              </a:rPr>
              <a:t>/</a:t>
            </a:r>
            <a:endParaRPr lang="en-GB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Department for Education – qualification types</a:t>
            </a: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/>
              </a:rPr>
              <a:t>https://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5"/>
              </a:rPr>
              <a:t>www.gov.uk/government/publications/14-to-16-qualifications-technical-guidance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&amp;</a:t>
            </a: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www.gov.uk/government/publications/16-to-19-vocational-qualifications-technical-guidance</a:t>
            </a:r>
            <a:endParaRPr lang="en-GB" altLang="en-US" sz="1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600" dirty="0" smtClean="0"/>
              <a:t>Regulating vocational qualifications</a:t>
            </a:r>
          </a:p>
          <a:p>
            <a:pPr marL="0" lvl="2" indent="0">
              <a:spcBef>
                <a:spcPts val="300"/>
              </a:spcBef>
              <a:spcAft>
                <a:spcPts val="1200"/>
              </a:spcAft>
              <a:buClr>
                <a:srgbClr val="68BD49"/>
              </a:buClr>
              <a:buNone/>
            </a:pP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7"/>
              </a:rPr>
              <a:t>https://www.gov.uk/government/speeches/reforming-regulation-of-vocational-qualifications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&amp; 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8"/>
              </a:rPr>
              <a:t>https://ofqual.blog.gov.uk/2015/10/01/explaining-the-rqf/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  <a:p>
            <a:pPr marL="0" lvl="2" indent="0">
              <a:buClr>
                <a:srgbClr val="68BD49"/>
              </a:buClr>
              <a:buNone/>
            </a:pPr>
            <a:r>
              <a:rPr lang="en-GB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Speeches about vocational qualifications</a:t>
            </a:r>
            <a:endParaRPr lang="en-GB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spcBef>
                <a:spcPts val="300"/>
              </a:spcBef>
              <a:spcAft>
                <a:spcPts val="0"/>
              </a:spcAft>
              <a:buClr>
                <a:srgbClr val="68BD49"/>
              </a:buClr>
              <a:buNone/>
            </a:pP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  <a:hlinkClick r:id="rId9"/>
              </a:rPr>
              <a:t>www.gov.uk/government/speeches/qualifications-place-in-a-high-performing-vocational-system</a:t>
            </a:r>
            <a:r>
              <a:rPr lang="en-GB" alt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&amp;</a:t>
            </a:r>
            <a:endParaRPr lang="en-GB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spcBef>
                <a:spcPts val="0"/>
              </a:spcBef>
              <a:spcAft>
                <a:spcPts val="1200"/>
              </a:spcAft>
              <a:buClr>
                <a:srgbClr val="68BD49"/>
              </a:buClr>
              <a:buNone/>
            </a:pPr>
            <a:r>
              <a:rPr lang="en-GB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linkClick r:id="rId10"/>
              </a:rPr>
              <a:t>https://www.gov.uk/government/speeches/regulating-vocational-qualifications-implementing-our-regulatory-strategy</a:t>
            </a:r>
            <a:endParaRPr lang="en-GB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lvl="2" indent="0">
              <a:spcBef>
                <a:spcPts val="0"/>
              </a:spcBef>
              <a:spcAft>
                <a:spcPts val="0"/>
              </a:spcAft>
              <a:buClr>
                <a:srgbClr val="68BD49"/>
              </a:buClr>
              <a:buNone/>
            </a:pPr>
            <a:endParaRPr lang="en-GB" altLang="en-US" sz="1600" dirty="0" smtClean="0">
              <a:solidFill>
                <a:schemeClr val="tx1">
                  <a:lumMod val="75000"/>
                  <a:lumOff val="25000"/>
                </a:schemeClr>
              </a:solidFill>
              <a:hlinkClick r:id="rId11"/>
            </a:endParaRPr>
          </a:p>
          <a:p>
            <a:pPr marL="0" lvl="2" indent="0">
              <a:spcBef>
                <a:spcPts val="0"/>
              </a:spcBef>
              <a:buClr>
                <a:srgbClr val="68BD49"/>
              </a:buClr>
              <a:buNone/>
            </a:pPr>
            <a:r>
              <a:rPr lang="en-GB" altLang="en-US" sz="1600" u="sng" dirty="0">
                <a:solidFill>
                  <a:schemeClr val="tx1"/>
                </a:solidFill>
              </a:rPr>
              <a:t>j</a:t>
            </a:r>
            <a:r>
              <a:rPr lang="en-GB" altLang="en-US" sz="1600" u="sng" dirty="0" smtClean="0">
                <a:solidFill>
                  <a:schemeClr val="tx1"/>
                </a:solidFill>
              </a:rPr>
              <a:t>eremy.benson@ofqual.gov.uk </a:t>
            </a:r>
            <a:endParaRPr lang="en-GB" altLang="en-US" sz="1600" u="sng" dirty="0">
              <a:solidFill>
                <a:schemeClr val="tx1"/>
              </a:solidFill>
            </a:endParaRPr>
          </a:p>
          <a:p>
            <a:pPr marL="0" lvl="2" indent="0">
              <a:buClr>
                <a:srgbClr val="68BD49"/>
              </a:buClr>
              <a:buNone/>
            </a:pPr>
            <a:endParaRPr lang="en-GB" altLang="en-US" sz="1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666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mtClean="0"/>
              <a:t>Other pathways to HE in Northern Ireland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 smtClean="0"/>
          </a:p>
          <a:p>
            <a:endParaRPr lang="en-GB" altLang="en-US" smtClean="0"/>
          </a:p>
          <a:p>
            <a:endParaRPr lang="en-GB" altLang="en-US" smtClean="0"/>
          </a:p>
        </p:txBody>
      </p:sp>
      <p:pic>
        <p:nvPicPr>
          <p:cNvPr id="4100" name="Content Placeholder 4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196975"/>
            <a:ext cx="8353425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596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Default Design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68BD49"/>
        </a:dk2>
        <a:lt2>
          <a:srgbClr val="65696E"/>
        </a:lt2>
        <a:accent1>
          <a:srgbClr val="ED592A"/>
        </a:accent1>
        <a:accent2>
          <a:srgbClr val="FFD100"/>
        </a:accent2>
        <a:accent3>
          <a:srgbClr val="FFFFFF"/>
        </a:accent3>
        <a:accent4>
          <a:srgbClr val="000000"/>
        </a:accent4>
        <a:accent5>
          <a:srgbClr val="F4B5AC"/>
        </a:accent5>
        <a:accent6>
          <a:srgbClr val="E7BD00"/>
        </a:accent6>
        <a:hlink>
          <a:srgbClr val="BB1654"/>
        </a:hlink>
        <a:folHlink>
          <a:srgbClr val="0079A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qual powerpoint template.ppt [Compatibility Mode]" id="{5B4E0520-2739-4CE9-911D-33728ECB97E0}" vid="{DE17B593-20B5-46DB-B2EE-554CD9D83743}"/>
    </a:ext>
  </a:extLst>
</a:theme>
</file>

<file path=ppt/theme/theme2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qual powerpoint template.ppt [Compatibility Mode]" id="{5B4E0520-2739-4CE9-911D-33728ECB97E0}" vid="{473BD5DD-D8CB-4697-85E4-DEE08E8E7B06}"/>
    </a:ext>
  </a:extLst>
</a:theme>
</file>

<file path=ppt/theme/theme3.xml><?xml version="1.0" encoding="utf-8"?>
<a:theme xmlns:a="http://schemas.openxmlformats.org/drawingml/2006/main" name="3_Default Design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2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68BD49"/>
        </a:dk2>
        <a:lt2>
          <a:srgbClr val="65696E"/>
        </a:lt2>
        <a:accent1>
          <a:srgbClr val="ED592A"/>
        </a:accent1>
        <a:accent2>
          <a:srgbClr val="FFD100"/>
        </a:accent2>
        <a:accent3>
          <a:srgbClr val="FFFFFF"/>
        </a:accent3>
        <a:accent4>
          <a:srgbClr val="000000"/>
        </a:accent4>
        <a:accent5>
          <a:srgbClr val="F4B5AC"/>
        </a:accent5>
        <a:accent6>
          <a:srgbClr val="E7BD00"/>
        </a:accent6>
        <a:hlink>
          <a:srgbClr val="BB1654"/>
        </a:hlink>
        <a:folHlink>
          <a:srgbClr val="0079A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qual powerpoint template.ppt [Compatibility Mode]" id="{5B4E0520-2739-4CE9-911D-33728ECB97E0}" vid="{F65854FF-05CC-47EC-8BFB-44A99F881E53}"/>
    </a:ext>
  </a:extLst>
</a:theme>
</file>

<file path=ppt/theme/theme4.xml><?xml version="1.0" encoding="utf-8"?>
<a:theme xmlns:a="http://schemas.openxmlformats.org/drawingml/2006/main" name="4_Default Design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qual powerpoint template.ppt [Compatibility Mode]" id="{5B4E0520-2739-4CE9-911D-33728ECB97E0}" vid="{819C3C38-D951-46A9-A9B8-05B5106826BF}"/>
    </a:ext>
  </a:extLst>
</a:theme>
</file>

<file path=ppt/theme/theme5.xml><?xml version="1.0" encoding="utf-8"?>
<a:theme xmlns:a="http://schemas.openxmlformats.org/drawingml/2006/main" name="Azure">
  <a:themeElements>
    <a:clrScheme name="">
      <a:dk1>
        <a:srgbClr val="009900"/>
      </a:dk1>
      <a:lt1>
        <a:srgbClr val="008000"/>
      </a:lt1>
      <a:dk2>
        <a:srgbClr val="0000FF"/>
      </a:dk2>
      <a:lt2>
        <a:srgbClr val="000099"/>
      </a:lt2>
      <a:accent1>
        <a:srgbClr val="009999"/>
      </a:accent1>
      <a:accent2>
        <a:srgbClr val="FF99CC"/>
      </a:accent2>
      <a:accent3>
        <a:srgbClr val="AAAAFF"/>
      </a:accent3>
      <a:accent4>
        <a:srgbClr val="006C00"/>
      </a:accent4>
      <a:accent5>
        <a:srgbClr val="AACACA"/>
      </a:accent5>
      <a:accent6>
        <a:srgbClr val="E78AB9"/>
      </a:accent6>
      <a:hlink>
        <a:srgbClr val="6600CC"/>
      </a:hlink>
      <a:folHlink>
        <a:srgbClr val="3366FF"/>
      </a:folHlink>
    </a:clrScheme>
    <a:fontScheme name="Azur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Azure 1">
        <a:dk1>
          <a:srgbClr val="000000"/>
        </a:dk1>
        <a:lt1>
          <a:srgbClr val="FFFFFF"/>
        </a:lt1>
        <a:dk2>
          <a:srgbClr val="3333FF"/>
        </a:dk2>
        <a:lt2>
          <a:srgbClr val="00FFFF"/>
        </a:lt2>
        <a:accent1>
          <a:srgbClr val="00CCCC"/>
        </a:accent1>
        <a:accent2>
          <a:srgbClr val="6666FF"/>
        </a:accent2>
        <a:accent3>
          <a:srgbClr val="ADADFF"/>
        </a:accent3>
        <a:accent4>
          <a:srgbClr val="DADADA"/>
        </a:accent4>
        <a:accent5>
          <a:srgbClr val="AAE2E2"/>
        </a:accent5>
        <a:accent6>
          <a:srgbClr val="5C5CE7"/>
        </a:accent6>
        <a:hlink>
          <a:srgbClr val="CCCC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zure 2">
        <a:dk1>
          <a:srgbClr val="000000"/>
        </a:dk1>
        <a:lt1>
          <a:srgbClr val="CCECFF"/>
        </a:lt1>
        <a:dk2>
          <a:srgbClr val="330099"/>
        </a:dk2>
        <a:lt2>
          <a:srgbClr val="0099CC"/>
        </a:lt2>
        <a:accent1>
          <a:srgbClr val="009999"/>
        </a:accent1>
        <a:accent2>
          <a:srgbClr val="FF99CC"/>
        </a:accent2>
        <a:accent3>
          <a:srgbClr val="E2F4FF"/>
        </a:accent3>
        <a:accent4>
          <a:srgbClr val="000000"/>
        </a:accent4>
        <a:accent5>
          <a:srgbClr val="AACACA"/>
        </a:accent5>
        <a:accent6>
          <a:srgbClr val="E78AB9"/>
        </a:accent6>
        <a:hlink>
          <a:srgbClr val="6600CC"/>
        </a:hlink>
        <a:folHlink>
          <a:srgbClr val="33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zure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_Ofqual vocational qualifications">
  <a:themeElements>
    <a:clrScheme name="">
      <a:dk1>
        <a:srgbClr val="000000"/>
      </a:dk1>
      <a:lt1>
        <a:srgbClr val="FFFFFF"/>
      </a:lt1>
      <a:dk2>
        <a:srgbClr val="68BD49"/>
      </a:dk2>
      <a:lt2>
        <a:srgbClr val="65696E"/>
      </a:lt2>
      <a:accent1>
        <a:srgbClr val="65696E"/>
      </a:accent1>
      <a:accent2>
        <a:srgbClr val="68BD49"/>
      </a:accent2>
      <a:accent3>
        <a:srgbClr val="FFFFFF"/>
      </a:accent3>
      <a:accent4>
        <a:srgbClr val="000000"/>
      </a:accent4>
      <a:accent5>
        <a:srgbClr val="B8B9BA"/>
      </a:accent5>
      <a:accent6>
        <a:srgbClr val="5EAB41"/>
      </a:accent6>
      <a:hlink>
        <a:srgbClr val="68BD49"/>
      </a:hlink>
      <a:folHlink>
        <a:srgbClr val="68BD49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LongProperties xmlns="http://schemas.microsoft.com/office/2006/metadata/longPropertie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 (Migrated)" ma:contentTypeID="0x01010016A0BB017E4D73419C6C4ACA3BAA683C00A5FF8A708D8E7745809092E4CFE5F048" ma:contentTypeVersion="4" ma:contentTypeDescription="" ma:contentTypeScope="" ma:versionID="d6413eeb4b05335e9cd395ddad5b6e0c">
  <xsd:schema xmlns:xsd="http://www.w3.org/2001/XMLSchema" xmlns:xs="http://www.w3.org/2001/XMLSchema" xmlns:p="http://schemas.microsoft.com/office/2006/metadata/properties" xmlns:ns2="a4a87f12-a67a-4444-9ef2-9205ec373cbf" targetNamespace="http://schemas.microsoft.com/office/2006/metadata/properties" ma:root="true" ma:fieldsID="0876c5458194e3ed29d67e28ae26429e" ns2:_="">
    <xsd:import namespace="a4a87f12-a67a-4444-9ef2-9205ec373cbf"/>
    <xsd:element name="properties">
      <xsd:complexType>
        <xsd:sequence>
          <xsd:element name="documentManagement">
            <xsd:complexType>
              <xsd:all>
                <xsd:element ref="ns2:AuthorMigrated" minOccurs="0"/>
                <xsd:element ref="ns2:EditorMigrate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a87f12-a67a-4444-9ef2-9205ec373cbf" elementFormDefault="qualified">
    <xsd:import namespace="http://schemas.microsoft.com/office/2006/documentManagement/types"/>
    <xsd:import namespace="http://schemas.microsoft.com/office/infopath/2007/PartnerControls"/>
    <xsd:element name="AuthorMigrated" ma:index="8" nillable="true" ma:displayName="Created By (Migrated)" ma:description="Used to capture original 'Created By' from SP2007 at point of Migration." ma:internalName="AuthorMigrated">
      <xsd:simpleType>
        <xsd:restriction base="dms:Text">
          <xsd:maxLength value="255"/>
        </xsd:restriction>
      </xsd:simpleType>
    </xsd:element>
    <xsd:element name="EditorMigrated" ma:index="9" nillable="true" ma:displayName="Modified By (Migrated)" ma:description="Used to capture original 'Modified By' from SP2007 at point of Migration." ma:internalName="EditorMigrated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ditorMigrated xmlns="a4a87f12-a67a-4444-9ef2-9205ec373cbf">Vanessa Smith</EditorMigrated>
    <AuthorMigrated xmlns="a4a87f12-a67a-4444-9ef2-9205ec373cbf">Vanessa Smith</AuthorMigrated>
  </documentManagement>
</p:properties>
</file>

<file path=customXml/itemProps1.xml><?xml version="1.0" encoding="utf-8"?>
<ds:datastoreItem xmlns:ds="http://schemas.openxmlformats.org/officeDocument/2006/customXml" ds:itemID="{177FAF37-02A3-42FE-9D3C-7837335C36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17998B-F3B5-4647-A44D-3E5A48D5594C}">
  <ds:schemaRefs>
    <ds:schemaRef ds:uri="http://schemas.microsoft.com/office/2006/metadata/longProperties"/>
  </ds:schemaRefs>
</ds:datastoreItem>
</file>

<file path=customXml/itemProps3.xml><?xml version="1.0" encoding="utf-8"?>
<ds:datastoreItem xmlns:ds="http://schemas.openxmlformats.org/officeDocument/2006/customXml" ds:itemID="{923252AE-8FE0-4484-A7D7-95CA1D2AF1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a87f12-a67a-4444-9ef2-9205ec373c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2B314EC-5E5C-44C3-B43E-D8002F600994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a4a87f12-a67a-4444-9ef2-9205ec373cb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Ofqual powerpoint template</Template>
  <TotalTime>1936</TotalTime>
  <Words>991</Words>
  <Application>Microsoft Office PowerPoint</Application>
  <PresentationFormat>On-screen Show (4:3)</PresentationFormat>
  <Paragraphs>172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Arial</vt:lpstr>
      <vt:lpstr>Calibri</vt:lpstr>
      <vt:lpstr>Symbol</vt:lpstr>
      <vt:lpstr>Times New Roman</vt:lpstr>
      <vt:lpstr>Wingdings</vt:lpstr>
      <vt:lpstr>Wingdings 2</vt:lpstr>
      <vt:lpstr>2_Default Design</vt:lpstr>
      <vt:lpstr>1_Default Design</vt:lpstr>
      <vt:lpstr>3_Default Design</vt:lpstr>
      <vt:lpstr>4_Default Design</vt:lpstr>
      <vt:lpstr>Azure</vt:lpstr>
      <vt:lpstr>1_Ofqual vocational qualifications</vt:lpstr>
      <vt:lpstr>Vocational qualifications and HE entry in England</vt:lpstr>
      <vt:lpstr>The story in numbers</vt:lpstr>
      <vt:lpstr>What would you need to know if…</vt:lpstr>
      <vt:lpstr>What skills do vocational qualifications recognise?</vt:lpstr>
      <vt:lpstr>Titles</vt:lpstr>
      <vt:lpstr>Improving our Register of qualifications</vt:lpstr>
      <vt:lpstr>More details from specifications…</vt:lpstr>
      <vt:lpstr>What are the differences between vocational and academic qualifications? </vt:lpstr>
      <vt:lpstr>16-19 vocational education and assessment: some points to note</vt:lpstr>
      <vt:lpstr>What other questions might I need to consider?</vt:lpstr>
      <vt:lpstr>Question for table discussions…</vt:lpstr>
      <vt:lpstr>Find out more… </vt:lpstr>
      <vt:lpstr>Other pathways to HE in Northern Ireland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Arial bold 24pt: Option B cover - delete A or B Do not change images</dc:title>
  <dc:creator>Naomi Nicholson</dc:creator>
  <cp:lastModifiedBy>Hannah Bradley</cp:lastModifiedBy>
  <cp:revision>81</cp:revision>
  <cp:lastPrinted>2016-03-07T17:45:43Z</cp:lastPrinted>
  <dcterms:created xsi:type="dcterms:W3CDTF">2015-11-16T08:26:37Z</dcterms:created>
  <dcterms:modified xsi:type="dcterms:W3CDTF">2016-03-09T11:18:01Z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 (Migrated)</vt:lpwstr>
  </property>
  <property fmtid="{D5CDD505-2E9C-101B-9397-08002B2CF9AE}" pid="3" name="ContentTypeId">
    <vt:lpwstr>0x01010016A0BB017E4D73419C6C4ACA3BAA683C00A5FF8A708D8E7745809092E4CFE5F048</vt:lpwstr>
  </property>
  <property fmtid="{D5CDD505-2E9C-101B-9397-08002B2CF9AE}" pid="4" name="Author">
    <vt:lpwstr>3;#;UserInfo</vt:lpwstr>
  </property>
  <property fmtid="{D5CDD505-2E9C-101B-9397-08002B2CF9AE}" pid="5" name="display_urn:schemas-microsoft-com:office:office#Editor">
    <vt:lpwstr>Vanessa Smith</vt:lpwstr>
  </property>
  <property fmtid="{D5CDD505-2E9C-101B-9397-08002B2CF9AE}" pid="6" name="Created">
    <vt:lpwstr>2010-09-03T09:26:45</vt:lpwstr>
  </property>
  <property fmtid="{D5CDD505-2E9C-101B-9397-08002B2CF9AE}" pid="7" name="display_urn:schemas-microsoft-com:office:office#Author">
    <vt:lpwstr>Vanessa Smith</vt:lpwstr>
  </property>
  <property fmtid="{D5CDD505-2E9C-101B-9397-08002B2CF9AE}" pid="8" name="Modified">
    <vt:lpwstr>2012-05-01T16:22:50</vt:lpwstr>
  </property>
  <property fmtid="{D5CDD505-2E9C-101B-9397-08002B2CF9AE}" pid="9" name="Editor">
    <vt:lpwstr>3;#;UserInfo</vt:lpwstr>
  </property>
  <property fmtid="{D5CDD505-2E9C-101B-9397-08002B2CF9AE}" pid="10" name="SharedWithUsers">
    <vt:lpwstr>155;#Jeremy Benson;#215;#Naomi Nicholson</vt:lpwstr>
  </property>
</Properties>
</file>