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8"/>
  </p:notesMasterIdLst>
  <p:sldIdLst>
    <p:sldId id="260" r:id="rId6"/>
    <p:sldId id="273" r:id="rId7"/>
    <p:sldId id="263" r:id="rId8"/>
    <p:sldId id="272" r:id="rId9"/>
    <p:sldId id="264" r:id="rId10"/>
    <p:sldId id="274" r:id="rId11"/>
    <p:sldId id="265" r:id="rId12"/>
    <p:sldId id="266" r:id="rId13"/>
    <p:sldId id="267" r:id="rId14"/>
    <p:sldId id="276" r:id="rId15"/>
    <p:sldId id="277" r:id="rId16"/>
    <p:sldId id="275" r:id="rId1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 varScale="1">
        <p:scale>
          <a:sx n="89" d="100"/>
          <a:sy n="89" d="100"/>
        </p:scale>
        <p:origin x="54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21A7EE7-F682-41A1-9EBC-EFAB8E3D19BE}" type="datetimeFigureOut">
              <a:rPr lang="en-US"/>
              <a:pPr>
                <a:defRPr/>
              </a:pPr>
              <a:t>11/10/2016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355590D-8BEC-4566-94C5-E7EA260C5E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834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1332" y="2014108"/>
            <a:ext cx="6830483" cy="1672696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9374" y="3946425"/>
            <a:ext cx="5994400" cy="614362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027488" y="5838825"/>
            <a:ext cx="1090612" cy="376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1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defRPr/>
            </a:pPr>
            <a:fld id="{110147BA-1589-4088-AA00-875DBC6C5A67}" type="datetime1">
              <a:rPr lang="en-US"/>
              <a:pPr>
                <a:defRPr/>
              </a:pPr>
              <a:t>11/10/2016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911F52D-220A-452C-9166-0F2F55CF25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98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90CA4-F0BB-44AE-B956-36B9DB324A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5927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613025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60060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657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09159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09159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EE85D-78B2-4A15-8079-5862937F0E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7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0368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0368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F55D3-33B5-4EA1-9C25-83E3C61FA6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37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52170-BF3A-478B-BF90-6E2D6725A1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33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4DB7F-1161-4B71-8C0A-32C5A9549B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02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ED07F-74D3-4E11-BFB3-73DB840E9C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52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382755-8C7A-414C-9A83-A7187B4AF9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8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179388"/>
            <a:ext cx="788670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63663"/>
            <a:ext cx="788670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5863" y="6570663"/>
            <a:ext cx="338137" cy="287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73AD836-4994-40C0-AA68-92A2F7861B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77" r:id="rId2"/>
    <p:sldLayoutId id="2147483785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rgbClr val="003067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3067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3067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3067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3067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003067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003067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003067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003067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1332" y="754654"/>
            <a:ext cx="6830483" cy="1672696"/>
          </a:xfrm>
        </p:spPr>
        <p:txBody>
          <a:bodyPr/>
          <a:lstStyle/>
          <a:p>
            <a:r>
              <a:rPr lang="en-US" dirty="0"/>
              <a:t>An International Perspective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9374" y="3946424"/>
            <a:ext cx="5994400" cy="1703877"/>
          </a:xfrm>
        </p:spPr>
        <p:txBody>
          <a:bodyPr/>
          <a:lstStyle/>
          <a:p>
            <a:r>
              <a:rPr lang="en-US" dirty="0"/>
              <a:t>Edward W. Wolfe</a:t>
            </a:r>
          </a:p>
          <a:p>
            <a:r>
              <a:rPr lang="en-US" dirty="0"/>
              <a:t>Principal Research Scientist</a:t>
            </a:r>
          </a:p>
          <a:p>
            <a:r>
              <a:rPr lang="en-US" dirty="0"/>
              <a:t>Research </a:t>
            </a:r>
            <a:r>
              <a:rPr lang="en-US" dirty="0" smtClean="0"/>
              <a:t>Division, ETS</a:t>
            </a:r>
            <a:endParaRPr lang="en-US" dirty="0"/>
          </a:p>
          <a:p>
            <a:r>
              <a:rPr lang="en-US" dirty="0" smtClean="0"/>
              <a:t>Princeton, NJ  USA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20196" y="5812947"/>
            <a:ext cx="1552754" cy="37623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Nov 14, 2016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911F52D-220A-452C-9166-0F2F55CF25E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73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differences between assessment practices in US vs UK</a:t>
            </a:r>
          </a:p>
          <a:p>
            <a:endParaRPr lang="en-US" dirty="0"/>
          </a:p>
          <a:p>
            <a:r>
              <a:rPr lang="en-US" dirty="0"/>
              <a:t>Identify factors to consider when deciding how much error to tolerate</a:t>
            </a:r>
          </a:p>
          <a:p>
            <a:endParaRPr lang="en-US" dirty="0"/>
          </a:p>
          <a:p>
            <a:r>
              <a:rPr lang="en-US" dirty="0"/>
              <a:t>Explain what is “typical” regarding error tolerance in the US</a:t>
            </a:r>
          </a:p>
          <a:p>
            <a:endParaRPr lang="en-US" dirty="0"/>
          </a:p>
          <a:p>
            <a:r>
              <a:rPr lang="en-US" dirty="0"/>
              <a:t>Demonstrate the impact of errors on decision making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462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 in the US vs the </a:t>
            </a:r>
            <a:r>
              <a:rPr lang="en-US" dirty="0" smtClean="0"/>
              <a:t>UK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3663"/>
            <a:ext cx="3632799" cy="4368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US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 smtClean="0"/>
              <a:t>Interpretative </a:t>
            </a:r>
            <a:r>
              <a:rPr lang="en-US" dirty="0"/>
              <a:t>often summative at classroom, school, or state level</a:t>
            </a:r>
          </a:p>
          <a:p>
            <a:endParaRPr lang="en-US" dirty="0"/>
          </a:p>
          <a:p>
            <a:r>
              <a:rPr lang="en-US" dirty="0"/>
              <a:t>Scales on judged items typically 4-6 points (marks)</a:t>
            </a:r>
          </a:p>
          <a:p>
            <a:endParaRPr lang="en-US" dirty="0"/>
          </a:p>
          <a:p>
            <a:r>
              <a:rPr lang="en-US" dirty="0"/>
              <a:t>Marking process is very similar (heavy MC item use)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0463" y="6550025"/>
            <a:ext cx="5502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 by Educational Testing Service. All rights reserved. ETS and the ETS logo are registered trademarks of Educational Testing Service (ETS). MEASURING THE POWER OF LEARNING is a trademark of ETS. 33537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882551" y="1363663"/>
            <a:ext cx="3632799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UK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 smtClean="0"/>
          </a:p>
          <a:p>
            <a:r>
              <a:rPr lang="en-US" dirty="0"/>
              <a:t>Interpretation often at student </a:t>
            </a:r>
            <a:r>
              <a:rPr lang="en-US" dirty="0" smtClean="0"/>
              <a:t>level</a:t>
            </a:r>
          </a:p>
          <a:p>
            <a:endParaRPr lang="en-US" dirty="0"/>
          </a:p>
          <a:p>
            <a:endParaRPr lang="en-US" sz="1000" dirty="0"/>
          </a:p>
          <a:p>
            <a:r>
              <a:rPr lang="en-US" dirty="0"/>
              <a:t>Scales on judged items </a:t>
            </a:r>
            <a:r>
              <a:rPr lang="en-US" dirty="0" smtClean="0"/>
              <a:t>typically narrower range of marks</a:t>
            </a:r>
          </a:p>
          <a:p>
            <a:endParaRPr lang="en-US" dirty="0"/>
          </a:p>
          <a:p>
            <a:r>
              <a:rPr lang="en-US" dirty="0"/>
              <a:t>Marking process is very similar (limited MC item use)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7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 in the US vs the </a:t>
            </a:r>
            <a:r>
              <a:rPr lang="en-US" dirty="0" smtClean="0"/>
              <a:t>UK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3663"/>
            <a:ext cx="3632799" cy="4368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US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/>
              <a:t>Documentation focuses on statistical summaries to illustrate quality of measures</a:t>
            </a:r>
          </a:p>
          <a:p>
            <a:endParaRPr lang="en-US" dirty="0"/>
          </a:p>
          <a:p>
            <a:r>
              <a:rPr lang="en-US" dirty="0"/>
              <a:t>Accept that errors will occur at item level &amp; focus on ways to minimize the impact of errors on total marks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0463" y="6550025"/>
            <a:ext cx="5502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 by Educational Testing Service. All rights reserved. ETS and the ETS logo are registered trademarks of Educational Testing Service (ETS). MEASURING THE POWER OF LEARNING is a trademark of ETS. 33537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882551" y="1363663"/>
            <a:ext cx="3632799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UK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 smtClean="0"/>
          </a:p>
          <a:p>
            <a:r>
              <a:rPr lang="en-US" dirty="0"/>
              <a:t>Documentation focuses on process followed that insures quality of measures</a:t>
            </a:r>
          </a:p>
          <a:p>
            <a:endParaRPr lang="en-US" dirty="0" smtClean="0"/>
          </a:p>
          <a:p>
            <a:r>
              <a:rPr lang="en-US" dirty="0" smtClean="0"/>
              <a:t>Desire </a:t>
            </a:r>
            <a:r>
              <a:rPr lang="en-US" dirty="0"/>
              <a:t>to have no errors at item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572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in </a:t>
            </a:r>
            <a:r>
              <a:rPr lang="en-US" dirty="0" smtClean="0"/>
              <a:t>Error </a:t>
            </a:r>
            <a:r>
              <a:rPr lang="en-US" dirty="0"/>
              <a:t>Tolerance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Distribution Shape</a:t>
            </a:r>
          </a:p>
          <a:p>
            <a:pPr lvl="1"/>
            <a:r>
              <a:rPr lang="en-US" dirty="0"/>
              <a:t>Easier to get agreement when marks are concentrated</a:t>
            </a:r>
          </a:p>
          <a:p>
            <a:endParaRPr lang="en-US" dirty="0"/>
          </a:p>
          <a:p>
            <a:r>
              <a:rPr lang="en-US" b="1" dirty="0"/>
              <a:t>Frame of Reference</a:t>
            </a:r>
          </a:p>
          <a:p>
            <a:pPr lvl="1"/>
            <a:r>
              <a:rPr lang="en-US" dirty="0"/>
              <a:t>Higher agreement required for categorizations vs rank ordering</a:t>
            </a:r>
          </a:p>
          <a:p>
            <a:endParaRPr lang="en-US" b="1" dirty="0"/>
          </a:p>
          <a:p>
            <a:r>
              <a:rPr lang="en-US" b="1" dirty="0"/>
              <a:t>Mark Level for Decisions</a:t>
            </a:r>
            <a:endParaRPr lang="en-US" dirty="0"/>
          </a:p>
          <a:p>
            <a:pPr lvl="1"/>
            <a:r>
              <a:rPr lang="en-US" dirty="0"/>
              <a:t>Higher agreement required for decisions based on individual items vs total marks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0463" y="6550025"/>
            <a:ext cx="5502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 by Educational Testing Service. All rights reserved. ETS and the ETS logo are registered trademarks of Educational Testing Service (ETS). MEASURING THE POWER OF LEARNING is a trademark of ETS. 33537</a:t>
            </a:r>
          </a:p>
        </p:txBody>
      </p:sp>
    </p:spTree>
    <p:extLst>
      <p:ext uri="{BB962C8B-B14F-4D97-AF65-F5344CB8AC3E}">
        <p14:creationId xmlns:p14="http://schemas.microsoft.com/office/powerpoint/2010/main" val="2330554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in </a:t>
            </a:r>
            <a:r>
              <a:rPr lang="en-US" dirty="0" smtClean="0"/>
              <a:t>Error </a:t>
            </a:r>
            <a:r>
              <a:rPr lang="en-US" dirty="0"/>
              <a:t>Tolerance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Mark Range Focus</a:t>
            </a:r>
          </a:p>
          <a:p>
            <a:pPr lvl="1"/>
            <a:r>
              <a:rPr lang="en-US" dirty="0"/>
              <a:t>Higher agreement needed at range of marks where decisions are focused (e.g., pass/fail distinctions)</a:t>
            </a:r>
          </a:p>
          <a:p>
            <a:endParaRPr lang="en-US" dirty="0"/>
          </a:p>
          <a:p>
            <a:r>
              <a:rPr lang="en-US" b="1" dirty="0"/>
              <a:t>Consequences</a:t>
            </a:r>
          </a:p>
          <a:p>
            <a:pPr lvl="1"/>
            <a:r>
              <a:rPr lang="en-US" dirty="0"/>
              <a:t>Higher agreement required for serious consequences</a:t>
            </a:r>
          </a:p>
          <a:p>
            <a:endParaRPr lang="en-US" b="1" dirty="0"/>
          </a:p>
          <a:p>
            <a:r>
              <a:rPr lang="en-US" b="1" dirty="0"/>
              <a:t>Cost &amp; Logistics</a:t>
            </a:r>
            <a:endParaRPr lang="en-US" dirty="0"/>
          </a:p>
          <a:p>
            <a:pPr lvl="1"/>
            <a:r>
              <a:rPr lang="en-US" dirty="0"/>
              <a:t>Marking is expensive and time consuming, so you have to do the best with what you can afford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0463" y="6550025"/>
            <a:ext cx="5502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 by Educational Testing Service. All rights reserved. ETS and the ETS logo are registered trademarks of Educational Testing Service (ETS). MEASURING THE POWER OF LEARNING is a trademark of ETS. 33537</a:t>
            </a:r>
          </a:p>
        </p:txBody>
      </p:sp>
    </p:spTree>
    <p:extLst>
      <p:ext uri="{BB962C8B-B14F-4D97-AF65-F5344CB8AC3E}">
        <p14:creationId xmlns:p14="http://schemas.microsoft.com/office/powerpoint/2010/main" val="1631473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Typical in the US?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130" y="1363663"/>
            <a:ext cx="2743200" cy="4368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Program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FSA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ACT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MCASS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AIMSWEB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Average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0463" y="6550025"/>
            <a:ext cx="5502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 by Educational Testing Service. All rights reserved. ETS and the ETS logo are registered trademarks of Educational Testing Service (ETS). MEASURING THE POWER OF LEARNING is a trademark of ETS. 33537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200400" y="1363663"/>
            <a:ext cx="274320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Marker Reliability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.64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.93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.96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.99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 smtClean="0"/>
              <a:t>.88</a:t>
            </a:r>
            <a:endParaRPr lang="en-US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944670" y="1363663"/>
            <a:ext cx="274320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Total Reliability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.90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.91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.91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.84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 smtClean="0"/>
              <a:t>.89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95573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Simulated data</a:t>
            </a:r>
          </a:p>
          <a:p>
            <a:pPr lvl="1"/>
            <a:r>
              <a:rPr lang="en-US" dirty="0"/>
              <a:t>Simulated “true mark” and marks that contain error</a:t>
            </a:r>
          </a:p>
          <a:p>
            <a:pPr lvl="1"/>
            <a:r>
              <a:rPr lang="en-US" dirty="0" smtClean="0"/>
              <a:t>3 </a:t>
            </a:r>
            <a:r>
              <a:rPr lang="en-US" dirty="0"/>
              <a:t>items (Inter-item correlation = .88)</a:t>
            </a:r>
          </a:p>
          <a:p>
            <a:pPr lvl="1"/>
            <a:r>
              <a:rPr lang="en-US" dirty="0"/>
              <a:t>5 </a:t>
            </a:r>
            <a:r>
              <a:rPr lang="en-US" dirty="0" smtClean="0"/>
              <a:t>mark scale (0-4)</a:t>
            </a:r>
            <a:endParaRPr lang="en-US" dirty="0"/>
          </a:p>
          <a:p>
            <a:pPr lvl="1"/>
            <a:r>
              <a:rPr lang="en-US" dirty="0"/>
              <a:t>Bell-shaped </a:t>
            </a:r>
            <a:r>
              <a:rPr lang="en-US" dirty="0" smtClean="0"/>
              <a:t>distribution of marks</a:t>
            </a:r>
            <a:endParaRPr lang="en-US" dirty="0"/>
          </a:p>
          <a:p>
            <a:pPr lvl="1"/>
            <a:r>
              <a:rPr lang="en-US" dirty="0" smtClean="0"/>
              <a:t>3 markers </a:t>
            </a:r>
            <a:r>
              <a:rPr lang="en-US" dirty="0"/>
              <a:t>(Inter-marker correlation = 0.88)</a:t>
            </a:r>
          </a:p>
          <a:p>
            <a:endParaRPr lang="en-US" dirty="0"/>
          </a:p>
          <a:p>
            <a:r>
              <a:rPr lang="en-US" dirty="0"/>
              <a:t>Compared assigned mark to true mark</a:t>
            </a:r>
          </a:p>
          <a:p>
            <a:endParaRPr lang="en-US" dirty="0"/>
          </a:p>
          <a:p>
            <a:r>
              <a:rPr lang="en-US" dirty="0"/>
              <a:t>Examined impact at various levels of decision making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0463" y="6550025"/>
            <a:ext cx="5502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 by Educational Testing Service. All rights reserved. ETS and the ETS logo are registered trademarks of Educational Testing Service (ETS). MEASURING THE POWER OF LEARNING is a trademark of ETS. 33537</a:t>
            </a:r>
          </a:p>
        </p:txBody>
      </p:sp>
    </p:spTree>
    <p:extLst>
      <p:ext uri="{BB962C8B-B14F-4D97-AF65-F5344CB8AC3E}">
        <p14:creationId xmlns:p14="http://schemas.microsoft.com/office/powerpoint/2010/main" val="2854982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Impact (Individual </a:t>
            </a:r>
            <a:r>
              <a:rPr lang="en-US" dirty="0"/>
              <a:t>Items)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0463" y="6550025"/>
            <a:ext cx="5502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 by Educational Testing Service. All rights reserved. ETS and the ETS logo are registered trademarks of Educational Testing Service (ETS). MEASURING THE POWER OF LEARNING is a trademark of ETS. 33537</a:t>
            </a:r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4552655" y="1671638"/>
            <a:ext cx="2286000" cy="8239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Average</a:t>
            </a:r>
          </a:p>
          <a:p>
            <a:pPr marL="0" indent="0" algn="ctr">
              <a:buNone/>
            </a:pPr>
            <a:r>
              <a:rPr lang="en-US" b="1" dirty="0" smtClean="0"/>
              <a:t>2 Markers</a:t>
            </a:r>
            <a:endParaRPr lang="en-US" b="1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4552655" y="2494817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73%</a:t>
            </a:r>
          </a:p>
          <a:p>
            <a:pPr marL="0" indent="0" algn="ctr">
              <a:buNone/>
            </a:pPr>
            <a:r>
              <a:rPr lang="en-US" dirty="0" smtClean="0"/>
              <a:t>.90</a:t>
            </a:r>
          </a:p>
          <a:p>
            <a:pPr marL="0" indent="0" algn="ctr">
              <a:buNone/>
            </a:pPr>
            <a:r>
              <a:rPr lang="en-US" dirty="0" smtClean="0"/>
              <a:t>0.29</a:t>
            </a:r>
            <a:endParaRPr lang="en-US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2266655" y="1698443"/>
            <a:ext cx="2286000" cy="823912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1 Marker</a:t>
            </a:r>
            <a:endParaRPr lang="en-US" b="1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266655" y="2494817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72%</a:t>
            </a:r>
          </a:p>
          <a:p>
            <a:pPr marL="0" indent="0" algn="ctr">
              <a:buNone/>
            </a:pPr>
            <a:r>
              <a:rPr lang="en-US" dirty="0" smtClean="0"/>
              <a:t>.88</a:t>
            </a:r>
          </a:p>
          <a:p>
            <a:pPr marL="0" indent="0" algn="ctr">
              <a:buNone/>
            </a:pPr>
            <a:r>
              <a:rPr lang="en-US" dirty="0" smtClean="0"/>
              <a:t>0.29</a:t>
            </a:r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-19345" y="1681163"/>
            <a:ext cx="2286000" cy="823912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Indicator</a:t>
            </a:r>
            <a:endParaRPr lang="en-US" b="1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-19345" y="2505075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= Mark</a:t>
            </a:r>
          </a:p>
          <a:p>
            <a:pPr marL="0" indent="0" algn="ctr">
              <a:buNone/>
            </a:pPr>
            <a:r>
              <a:rPr lang="en-US" dirty="0" err="1" smtClean="0"/>
              <a:t>Corr</a:t>
            </a:r>
            <a:r>
              <a:rPr lang="en-US" dirty="0" smtClean="0"/>
              <a:t>(</a:t>
            </a:r>
            <a:r>
              <a:rPr lang="en-US" dirty="0" err="1" smtClean="0"/>
              <a:t>Mark,True</a:t>
            </a:r>
            <a:r>
              <a:rPr lang="en-US" dirty="0" smtClean="0"/>
              <a:t>)</a:t>
            </a:r>
          </a:p>
          <a:p>
            <a:pPr marL="0" indent="0" algn="ctr">
              <a:buNone/>
            </a:pPr>
            <a:r>
              <a:rPr lang="en-US" dirty="0" smtClean="0"/>
              <a:t>AMD</a:t>
            </a:r>
          </a:p>
        </p:txBody>
      </p:sp>
      <p:sp>
        <p:nvSpPr>
          <p:cNvPr id="12" name="Text Placeholder 4"/>
          <p:cNvSpPr txBox="1">
            <a:spLocks/>
          </p:cNvSpPr>
          <p:nvPr/>
        </p:nvSpPr>
        <p:spPr>
          <a:xfrm>
            <a:off x="6838655" y="1671638"/>
            <a:ext cx="2286000" cy="8239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Average</a:t>
            </a:r>
          </a:p>
          <a:p>
            <a:pPr marL="0" indent="0" algn="ctr">
              <a:buNone/>
            </a:pPr>
            <a:r>
              <a:rPr lang="en-US" b="1" dirty="0" smtClean="0"/>
              <a:t>3 Markers</a:t>
            </a:r>
            <a:endParaRPr lang="en-US" b="1" dirty="0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6838655" y="2494817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76%</a:t>
            </a:r>
          </a:p>
          <a:p>
            <a:pPr marL="0" indent="0" algn="ctr">
              <a:buNone/>
            </a:pPr>
            <a:r>
              <a:rPr lang="en-US" dirty="0" smtClean="0"/>
              <a:t>.92</a:t>
            </a:r>
          </a:p>
          <a:p>
            <a:pPr marL="0" indent="0" algn="ctr">
              <a:buNone/>
            </a:pPr>
            <a:r>
              <a:rPr lang="en-US" dirty="0" smtClean="0"/>
              <a:t>0.28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42433" y="4521323"/>
            <a:ext cx="8820443" cy="1043354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 smtClean="0"/>
              <a:t>Increasing the number of markers doesn’t improve accuracy much.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 smtClean="0"/>
              <a:t>Spending a lot of money to get more information about the individual response.</a:t>
            </a:r>
          </a:p>
        </p:txBody>
      </p:sp>
    </p:spTree>
    <p:extLst>
      <p:ext uri="{BB962C8B-B14F-4D97-AF65-F5344CB8AC3E}">
        <p14:creationId xmlns:p14="http://schemas.microsoft.com/office/powerpoint/2010/main" val="136091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Impact (3 Items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0463" y="6550025"/>
            <a:ext cx="5502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 by Educational Testing Service. All rights reserved. ETS and the ETS logo are registered trademarks of Educational Testing Service (ETS). MEASURING THE POWER OF LEARNING is a trademark of ETS. 33537</a:t>
            </a:r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4552655" y="1671638"/>
            <a:ext cx="2286000" cy="8239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Average</a:t>
            </a:r>
          </a:p>
          <a:p>
            <a:pPr marL="0" indent="0" algn="ctr">
              <a:buNone/>
            </a:pPr>
            <a:r>
              <a:rPr lang="en-US" b="1" dirty="0" smtClean="0"/>
              <a:t>2 Markers</a:t>
            </a:r>
            <a:endParaRPr lang="en-US" b="1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4552655" y="2494817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80%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.</a:t>
            </a:r>
            <a:r>
              <a:rPr lang="en-US" dirty="0" smtClean="0"/>
              <a:t>92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2266655" y="1698443"/>
            <a:ext cx="2286000" cy="823912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1 Marker</a:t>
            </a:r>
            <a:endParaRPr lang="en-US" b="1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266655" y="2494817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81%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.92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0.18</a:t>
            </a:r>
            <a:endParaRPr lang="en-US" dirty="0" smtClean="0"/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-19345" y="1681163"/>
            <a:ext cx="2286000" cy="823912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Indicator</a:t>
            </a:r>
            <a:endParaRPr lang="en-US" b="1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-19345" y="2505075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= Mark</a:t>
            </a:r>
          </a:p>
          <a:p>
            <a:pPr marL="0" indent="0" algn="ctr">
              <a:buNone/>
            </a:pPr>
            <a:r>
              <a:rPr lang="en-US" dirty="0" err="1" smtClean="0"/>
              <a:t>Corr</a:t>
            </a:r>
            <a:r>
              <a:rPr lang="en-US" dirty="0" smtClean="0"/>
              <a:t>(</a:t>
            </a:r>
            <a:r>
              <a:rPr lang="en-US" dirty="0" err="1" smtClean="0"/>
              <a:t>Mark,True</a:t>
            </a:r>
            <a:r>
              <a:rPr lang="en-US" dirty="0" smtClean="0"/>
              <a:t>)</a:t>
            </a:r>
          </a:p>
          <a:p>
            <a:pPr marL="0" indent="0" algn="ctr">
              <a:buNone/>
            </a:pPr>
            <a:r>
              <a:rPr lang="en-US" dirty="0" smtClean="0"/>
              <a:t>AMD</a:t>
            </a:r>
          </a:p>
        </p:txBody>
      </p:sp>
      <p:sp>
        <p:nvSpPr>
          <p:cNvPr id="12" name="Text Placeholder 4"/>
          <p:cNvSpPr txBox="1">
            <a:spLocks/>
          </p:cNvSpPr>
          <p:nvPr/>
        </p:nvSpPr>
        <p:spPr>
          <a:xfrm>
            <a:off x="6838655" y="1671638"/>
            <a:ext cx="2286000" cy="8239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Average</a:t>
            </a:r>
          </a:p>
          <a:p>
            <a:pPr marL="0" indent="0" algn="ctr">
              <a:buNone/>
            </a:pPr>
            <a:r>
              <a:rPr lang="en-US" b="1" dirty="0" smtClean="0"/>
              <a:t>3 Markers</a:t>
            </a:r>
            <a:endParaRPr lang="en-US" b="1" dirty="0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6838655" y="2494817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84%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.</a:t>
            </a:r>
            <a:r>
              <a:rPr lang="en-US" dirty="0" smtClean="0"/>
              <a:t>93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0.16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42433" y="4167641"/>
            <a:ext cx="8820443" cy="1043354"/>
          </a:xfrm>
        </p:spPr>
        <p:txBody>
          <a:bodyPr>
            <a:noAutofit/>
          </a:bodyPr>
          <a:lstStyle/>
          <a:p>
            <a:pPr marL="342900" indent="-342900"/>
            <a:r>
              <a:rPr lang="en-US" dirty="0"/>
              <a:t>Increasing the number of items has a bigger impact on accuracy.</a:t>
            </a:r>
          </a:p>
          <a:p>
            <a:pPr marL="342900" indent="-342900"/>
            <a:r>
              <a:rPr lang="en-US" dirty="0"/>
              <a:t>Spending a little more money to get more information about the examinee.</a:t>
            </a:r>
          </a:p>
          <a:p>
            <a:pPr marL="342900" indent="-342900"/>
            <a:r>
              <a:rPr lang="en-US" dirty="0"/>
              <a:t>Note: This is only a three-item test!</a:t>
            </a:r>
          </a:p>
        </p:txBody>
      </p:sp>
    </p:spTree>
    <p:extLst>
      <p:ext uri="{BB962C8B-B14F-4D97-AF65-F5344CB8AC3E}">
        <p14:creationId xmlns:p14="http://schemas.microsoft.com/office/powerpoint/2010/main" val="357277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Impact (Classifications)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090CA4-F0BB-44AE-B956-36B9DB324A8E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0463" y="6550025"/>
            <a:ext cx="5502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 by Educational Testing Service. All rights reserved. ETS and the ETS logo are registered trademarks of Educational Testing Service (ETS). MEASURING THE POWER OF LEARNING is a trademark of ETS. 33537</a:t>
            </a:r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4552655" y="1671638"/>
            <a:ext cx="2286000" cy="8239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Average</a:t>
            </a:r>
          </a:p>
          <a:p>
            <a:pPr marL="0" indent="0" algn="ctr">
              <a:buNone/>
            </a:pPr>
            <a:r>
              <a:rPr lang="en-US" b="1" dirty="0" smtClean="0"/>
              <a:t>2 Markers</a:t>
            </a:r>
            <a:endParaRPr lang="en-US" b="1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4552655" y="2494817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93</a:t>
            </a:r>
            <a:r>
              <a:rPr lang="en-US" dirty="0" smtClean="0"/>
              <a:t>%</a:t>
            </a:r>
            <a:endParaRPr lang="en-US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2266655" y="1698443"/>
            <a:ext cx="2286000" cy="823912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1 Marker</a:t>
            </a:r>
            <a:endParaRPr lang="en-US" b="1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266655" y="2494817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92%</a:t>
            </a:r>
            <a:endParaRPr lang="en-US" dirty="0" smtClean="0"/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-19345" y="1681163"/>
            <a:ext cx="2286000" cy="823912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Indicator</a:t>
            </a:r>
            <a:endParaRPr lang="en-US" b="1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-19345" y="2505075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= </a:t>
            </a:r>
            <a:r>
              <a:rPr lang="en-US" dirty="0" smtClean="0"/>
              <a:t>Classification</a:t>
            </a:r>
            <a:endParaRPr lang="en-US" dirty="0" smtClean="0"/>
          </a:p>
        </p:txBody>
      </p:sp>
      <p:sp>
        <p:nvSpPr>
          <p:cNvPr id="12" name="Text Placeholder 4"/>
          <p:cNvSpPr txBox="1">
            <a:spLocks/>
          </p:cNvSpPr>
          <p:nvPr/>
        </p:nvSpPr>
        <p:spPr>
          <a:xfrm>
            <a:off x="6838655" y="1671638"/>
            <a:ext cx="2286000" cy="8239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Average</a:t>
            </a:r>
          </a:p>
          <a:p>
            <a:pPr marL="0" indent="0" algn="ctr">
              <a:buNone/>
            </a:pPr>
            <a:r>
              <a:rPr lang="en-US" b="1" dirty="0" smtClean="0"/>
              <a:t>3 Markers</a:t>
            </a:r>
            <a:endParaRPr lang="en-US" b="1" dirty="0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6838655" y="2494817"/>
            <a:ext cx="2286000" cy="36845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93%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42433" y="3917475"/>
            <a:ext cx="8820443" cy="1043354"/>
          </a:xfrm>
        </p:spPr>
        <p:txBody>
          <a:bodyPr>
            <a:noAutofit/>
          </a:bodyPr>
          <a:lstStyle/>
          <a:p>
            <a:pPr marL="342900" indent="-342900"/>
            <a:r>
              <a:rPr lang="en-US" dirty="0"/>
              <a:t>When you make classifications based on total marks, the accuracy of the decisions increase versus the marks themselves.</a:t>
            </a:r>
          </a:p>
          <a:p>
            <a:pPr marL="342900" indent="-342900"/>
            <a:r>
              <a:rPr lang="en-US" dirty="0"/>
              <a:t>Increasing markers does little to improve this accuracy.</a:t>
            </a:r>
          </a:p>
          <a:p>
            <a:pPr marL="342900" indent="-342900"/>
            <a:r>
              <a:rPr lang="en-US" dirty="0"/>
              <a:t>Similarly, when you make decisions about a school by averaging across examinees, the results are generally even more accurate (multiple items per examinee &amp; multiple examinees per school)</a:t>
            </a:r>
          </a:p>
        </p:txBody>
      </p:sp>
    </p:spTree>
    <p:extLst>
      <p:ext uri="{BB962C8B-B14F-4D97-AF65-F5344CB8AC3E}">
        <p14:creationId xmlns:p14="http://schemas.microsoft.com/office/powerpoint/2010/main" val="3786407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1332" y="1574167"/>
            <a:ext cx="6830483" cy="1672696"/>
          </a:xfrm>
        </p:spPr>
        <p:txBody>
          <a:bodyPr/>
          <a:lstStyle/>
          <a:p>
            <a:r>
              <a:rPr lang="en-US" dirty="0" smtClean="0"/>
              <a:t>Question &amp; Discussion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9374" y="3428842"/>
            <a:ext cx="5994400" cy="1703877"/>
          </a:xfrm>
        </p:spPr>
        <p:txBody>
          <a:bodyPr/>
          <a:lstStyle/>
          <a:p>
            <a:r>
              <a:rPr lang="en-US" dirty="0"/>
              <a:t>Edward W. Wolfe</a:t>
            </a:r>
          </a:p>
          <a:p>
            <a:r>
              <a:rPr lang="en-US" dirty="0" smtClean="0"/>
              <a:t>ewolfe@ets.org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911F52D-220A-452C-9166-0F2F55CF25E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60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3537 ETS-PPT-2016-A" id="{EA6716F4-2FE1-43B9-A40F-B7573CFA32EF}" vid="{0971432C-E2CE-4B2A-842B-40D34B34E0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b486c6f-e62a-4c0c-b9f7-b03b5d824845">5JHHYME3CAE4-1874062312-209</_dlc_DocId>
    <_dlc_DocIdUrl xmlns="2b486c6f-e62a-4c0c-b9f7-b03b5d824845">
      <Url>https://etsorg1.sharepoint.com/teams/mpa/_layouts/15/DocIdRedir.aspx?ID=5JHHYME3CAE4-1874062312-209</Url>
      <Description>5JHHYME3CAE4-1874062312-209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3F8D4967F34045B1C1ED804C25C086" ma:contentTypeVersion="8" ma:contentTypeDescription="Create a new document." ma:contentTypeScope="" ma:versionID="30866d5a8fc28f58e317bde4fff6354b">
  <xsd:schema xmlns:xsd="http://www.w3.org/2001/XMLSchema" xmlns:xs="http://www.w3.org/2001/XMLSchema" xmlns:p="http://schemas.microsoft.com/office/2006/metadata/properties" xmlns:ns2="2b486c6f-e62a-4c0c-b9f7-b03b5d824845" targetNamespace="http://schemas.microsoft.com/office/2006/metadata/properties" ma:root="true" ma:fieldsID="fbf68211d1c2a1b772940d85ad71f9e9" ns2:_="">
    <xsd:import namespace="2b486c6f-e62a-4c0c-b9f7-b03b5d82484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486c6f-e62a-4c0c-b9f7-b03b5d82484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05F4934-A258-413B-84DA-CED468A24F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7DF80A-1FA9-4773-8EB7-445AD66F0C0F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b486c6f-e62a-4c0c-b9f7-b03b5d824845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6AF212A-1DA3-4F40-99FF-E71B6671DB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486c6f-e62a-4c0c-b9f7-b03b5d8248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34850C0-8205-4DA0-BEF2-4ED3A41D678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ETS-PPT-A</Template>
  <TotalTime>31</TotalTime>
  <Words>956</Words>
  <Application>Microsoft Office PowerPoint</Application>
  <PresentationFormat>On-screen Show (4:3)</PresentationFormat>
  <Paragraphs>191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Verdana</vt:lpstr>
      <vt:lpstr>Office Theme</vt:lpstr>
      <vt:lpstr>An International Perspective</vt:lpstr>
      <vt:lpstr>Overview</vt:lpstr>
      <vt:lpstr>Marking in the US vs the UK</vt:lpstr>
      <vt:lpstr>Marking in the US vs the UK</vt:lpstr>
      <vt:lpstr>Considerations in Error Tolerance</vt:lpstr>
      <vt:lpstr>Considerations in Error Tolerance</vt:lpstr>
      <vt:lpstr>What is Typical in the US?</vt:lpstr>
      <vt:lpstr>Impact of Errors</vt:lpstr>
      <vt:lpstr>Error Impact (Individual Items)</vt:lpstr>
      <vt:lpstr>Error Impact (3 Items)</vt:lpstr>
      <vt:lpstr>Error Impact (Classifications)</vt:lpstr>
      <vt:lpstr>Question &amp; Discussion</vt:lpstr>
    </vt:vector>
  </TitlesOfParts>
  <Company>ETS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International Perspective</dc:title>
  <dc:creator>Wolfe, Edward W</dc:creator>
  <cp:lastModifiedBy>Wolfe, Edward W</cp:lastModifiedBy>
  <cp:revision>6</cp:revision>
  <cp:lastPrinted>2015-08-31T15:51:05Z</cp:lastPrinted>
  <dcterms:created xsi:type="dcterms:W3CDTF">2016-11-10T15:49:48Z</dcterms:created>
  <dcterms:modified xsi:type="dcterms:W3CDTF">2016-11-10T16:21:42Z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0x010100EA3F8D4967F34045B1C1ED804C25C086</vt:lpwstr>
  </property>
  <property fmtid="{D5CDD505-2E9C-101B-9397-08002B2CF9AE}" pid="3" name="_dlc_DocIdItemGuid">
    <vt:lpwstr>6ac10bf7-cb68-472e-b329-d42f4de7bc2c</vt:lpwstr>
  </property>
</Properties>
</file>