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2" r:id="rId5"/>
  </p:sldMasterIdLst>
  <p:notesMasterIdLst>
    <p:notesMasterId r:id="rId47"/>
  </p:notesMasterIdLst>
  <p:handoutMasterIdLst>
    <p:handoutMasterId r:id="rId48"/>
  </p:handoutMasterIdLst>
  <p:sldIdLst>
    <p:sldId id="287" r:id="rId6"/>
    <p:sldId id="317" r:id="rId7"/>
    <p:sldId id="372" r:id="rId8"/>
    <p:sldId id="347" r:id="rId9"/>
    <p:sldId id="418" r:id="rId10"/>
    <p:sldId id="363" r:id="rId11"/>
    <p:sldId id="364" r:id="rId12"/>
    <p:sldId id="365" r:id="rId13"/>
    <p:sldId id="366" r:id="rId14"/>
    <p:sldId id="367" r:id="rId15"/>
    <p:sldId id="413" r:id="rId16"/>
    <p:sldId id="393" r:id="rId17"/>
    <p:sldId id="405" r:id="rId18"/>
    <p:sldId id="403" r:id="rId19"/>
    <p:sldId id="404" r:id="rId20"/>
    <p:sldId id="419" r:id="rId21"/>
    <p:sldId id="412" r:id="rId22"/>
    <p:sldId id="397" r:id="rId23"/>
    <p:sldId id="382" r:id="rId24"/>
    <p:sldId id="383" r:id="rId25"/>
    <p:sldId id="395" r:id="rId26"/>
    <p:sldId id="396" r:id="rId27"/>
    <p:sldId id="384" r:id="rId28"/>
    <p:sldId id="385" r:id="rId29"/>
    <p:sldId id="420" r:id="rId30"/>
    <p:sldId id="421" r:id="rId31"/>
    <p:sldId id="422" r:id="rId32"/>
    <p:sldId id="387" r:id="rId33"/>
    <p:sldId id="389" r:id="rId34"/>
    <p:sldId id="408" r:id="rId35"/>
    <p:sldId id="390" r:id="rId36"/>
    <p:sldId id="391" r:id="rId37"/>
    <p:sldId id="415" r:id="rId38"/>
    <p:sldId id="417" r:id="rId39"/>
    <p:sldId id="409" r:id="rId40"/>
    <p:sldId id="394" r:id="rId41"/>
    <p:sldId id="373" r:id="rId42"/>
    <p:sldId id="378" r:id="rId43"/>
    <p:sldId id="379" r:id="rId44"/>
    <p:sldId id="401" r:id="rId45"/>
    <p:sldId id="410" r:id="rId46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2C54502-D187-416A-B576-882DE8BD6B37}">
          <p14:sldIdLst>
            <p14:sldId id="287"/>
            <p14:sldId id="317"/>
            <p14:sldId id="372"/>
            <p14:sldId id="347"/>
            <p14:sldId id="418"/>
            <p14:sldId id="363"/>
            <p14:sldId id="364"/>
            <p14:sldId id="365"/>
            <p14:sldId id="366"/>
            <p14:sldId id="367"/>
            <p14:sldId id="413"/>
            <p14:sldId id="393"/>
            <p14:sldId id="405"/>
            <p14:sldId id="403"/>
            <p14:sldId id="404"/>
            <p14:sldId id="419"/>
            <p14:sldId id="412"/>
            <p14:sldId id="397"/>
            <p14:sldId id="382"/>
            <p14:sldId id="383"/>
            <p14:sldId id="395"/>
            <p14:sldId id="396"/>
            <p14:sldId id="384"/>
            <p14:sldId id="385"/>
            <p14:sldId id="420"/>
            <p14:sldId id="421"/>
            <p14:sldId id="422"/>
            <p14:sldId id="387"/>
            <p14:sldId id="389"/>
            <p14:sldId id="408"/>
            <p14:sldId id="390"/>
            <p14:sldId id="391"/>
            <p14:sldId id="415"/>
            <p14:sldId id="417"/>
            <p14:sldId id="409"/>
            <p14:sldId id="394"/>
            <p14:sldId id="373"/>
            <p14:sldId id="378"/>
            <p14:sldId id="379"/>
            <p14:sldId id="401"/>
            <p14:sldId id="4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th Black" initials="BB" lastIdx="2" clrIdx="0">
    <p:extLst>
      <p:ext uri="{19B8F6BF-5375-455C-9EA6-DF929625EA0E}">
        <p15:presenceInfo xmlns:p15="http://schemas.microsoft.com/office/powerpoint/2012/main" userId="S-1-5-21-777725935-1753470192-3977904422-567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D4D4D"/>
    <a:srgbClr val="F18E00"/>
    <a:srgbClr val="6C6F70"/>
    <a:srgbClr val="83B81A"/>
    <a:srgbClr val="A0558F"/>
    <a:srgbClr val="0079BC"/>
    <a:srgbClr val="68BD49"/>
    <a:srgbClr val="FFFFFF"/>
    <a:srgbClr val="86BE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3" autoAdjust="0"/>
    <p:restoredTop sz="80867" autoAdjust="0"/>
  </p:normalViewPr>
  <p:slideViewPr>
    <p:cSldViewPr>
      <p:cViewPr varScale="1">
        <p:scale>
          <a:sx n="93" d="100"/>
          <a:sy n="93" d="100"/>
        </p:scale>
        <p:origin x="1098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0" d="100"/>
          <a:sy n="110" d="100"/>
        </p:scale>
        <p:origin x="238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3.xml"/><Relationship Id="rId51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\\Ofqual.internal\DFS\UserData\Beth.Black\Documents\BB%20projects\symposium%20qom\Book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6796400672108184E-2"/>
          <c:y val="0.17849781768542131"/>
          <c:w val="0.85662533681514874"/>
          <c:h val="0.669630110877310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Sheet1!$E$46</c:f>
              <c:strCache>
                <c:ptCount val="1"/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Sheet1!$D$47:$D$55</c:f>
              <c:numCache>
                <c:formatCode>General</c:formatCode>
                <c:ptCount val="9"/>
                <c:pt idx="0">
                  <c:v>-4</c:v>
                </c:pt>
                <c:pt idx="1">
                  <c:v>-3</c:v>
                </c:pt>
                <c:pt idx="2">
                  <c:v>-2</c:v>
                </c:pt>
                <c:pt idx="3">
                  <c:v>-1</c:v>
                </c:pt>
                <c:pt idx="4">
                  <c:v>0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</c:numCache>
            </c:numRef>
          </c:cat>
          <c:val>
            <c:numRef>
              <c:f>Sheet1!$E$47:$E$55</c:f>
              <c:numCache>
                <c:formatCode>General</c:formatCode>
                <c:ptCount val="9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6</c:v>
                </c:pt>
                <c:pt idx="5">
                  <c:v>2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85-4B77-A9C8-6D9CCB320F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74731656"/>
        <c:axId val="474729360"/>
      </c:barChart>
      <c:catAx>
        <c:axId val="474731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4729360"/>
        <c:crosses val="autoZero"/>
        <c:auto val="1"/>
        <c:lblAlgn val="ctr"/>
        <c:lblOffset val="100"/>
        <c:noMultiLvlLbl val="0"/>
      </c:catAx>
      <c:valAx>
        <c:axId val="474729360"/>
        <c:scaling>
          <c:orientation val="minMax"/>
          <c:max val="6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4731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4CCDA-8D15-48C0-B5F3-626A93EA51DD}" type="datetimeFigureOut">
              <a:rPr lang="en-GB" smtClean="0"/>
              <a:t>16/11/2016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2B8FE0-82A3-4413-8BF5-2C64B7633C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78700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CD30C55-053B-4B45-A537-EB90960D3A2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585962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86900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84386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64382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611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22123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39476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15556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17595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12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904993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848488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114639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724465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611599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590195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18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644009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299649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51133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140320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22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291558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GB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23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100106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GB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24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151582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20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424984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26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716775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27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050742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28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423362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20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29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016852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30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67960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31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852988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32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256001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34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880131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35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690628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37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895895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38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13609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39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859743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40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632377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41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50897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esig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096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22300" y="3645024"/>
            <a:ext cx="10363200" cy="503237"/>
          </a:xfrm>
        </p:spPr>
        <p:txBody>
          <a:bodyPr/>
          <a:lstStyle>
            <a:lvl1pPr>
              <a:defRPr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Title slide – design 1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22300" y="4509120"/>
            <a:ext cx="8534400" cy="1008112"/>
          </a:xfrm>
        </p:spPr>
        <p:txBody>
          <a:bodyPr/>
          <a:lstStyle>
            <a:lvl1pPr>
              <a:spcBef>
                <a:spcPct val="0"/>
              </a:spcBef>
              <a:spcAft>
                <a:spcPct val="0"/>
              </a:spcAft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Name</a:t>
            </a:r>
            <a:br>
              <a:rPr lang="en-GB" noProof="0" dirty="0"/>
            </a:br>
            <a:r>
              <a:rPr lang="en-GB" noProof="0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255967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esig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98"/>
            <a:ext cx="12192000" cy="6864096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32479" y="2251883"/>
            <a:ext cx="10363200" cy="503237"/>
          </a:xfrm>
        </p:spPr>
        <p:txBody>
          <a:bodyPr/>
          <a:lstStyle>
            <a:lvl1pPr>
              <a:defRPr sz="3600" baseline="0">
                <a:solidFill>
                  <a:srgbClr val="83B81A"/>
                </a:solidFill>
              </a:defRPr>
            </a:lvl1pPr>
          </a:lstStyle>
          <a:p>
            <a:pPr lvl="0"/>
            <a:r>
              <a:rPr lang="en-GB" noProof="0" dirty="0"/>
              <a:t>Title slide – design 2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32479" y="3121608"/>
            <a:ext cx="8534400" cy="1027472"/>
          </a:xfrm>
        </p:spPr>
        <p:txBody>
          <a:bodyPr/>
          <a:lstStyle>
            <a:lvl1pPr>
              <a:spcBef>
                <a:spcPct val="0"/>
              </a:spcBef>
              <a:spcAft>
                <a:spcPct val="0"/>
              </a:spcAft>
              <a:defRPr sz="2800" b="0">
                <a:solidFill>
                  <a:srgbClr val="83B81A"/>
                </a:solidFill>
              </a:defRPr>
            </a:lvl1pPr>
          </a:lstStyle>
          <a:p>
            <a:pPr lvl="0"/>
            <a:r>
              <a:rPr lang="en-GB" noProof="0" dirty="0"/>
              <a:t>Name</a:t>
            </a:r>
            <a:br>
              <a:rPr lang="en-GB" noProof="0" dirty="0"/>
            </a:br>
            <a:r>
              <a:rPr lang="en-GB" noProof="0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4921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desig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4" y="0"/>
            <a:ext cx="12173396" cy="6853622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528048" y="2420888"/>
            <a:ext cx="5184576" cy="1800200"/>
          </a:xfrm>
        </p:spPr>
        <p:txBody>
          <a:bodyPr/>
          <a:lstStyle>
            <a:lvl1pPr>
              <a:defRPr sz="3600">
                <a:solidFill>
                  <a:srgbClr val="83B81A"/>
                </a:solidFill>
              </a:defRPr>
            </a:lvl1pPr>
          </a:lstStyle>
          <a:p>
            <a:pPr lvl="0"/>
            <a:r>
              <a:rPr lang="en-GB" noProof="0" dirty="0"/>
              <a:t>Title slide – design 3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528048" y="4509120"/>
            <a:ext cx="5184576" cy="1368152"/>
          </a:xfrm>
        </p:spPr>
        <p:txBody>
          <a:bodyPr/>
          <a:lstStyle>
            <a:lvl1pPr marL="0" indent="0">
              <a:spcBef>
                <a:spcPct val="0"/>
              </a:spcBef>
              <a:spcAft>
                <a:spcPct val="0"/>
              </a:spcAft>
              <a:defRPr sz="2800" b="0">
                <a:solidFill>
                  <a:srgbClr val="83B81A"/>
                </a:solidFill>
              </a:defRPr>
            </a:lvl1pPr>
          </a:lstStyle>
          <a:p>
            <a:pPr lvl="0"/>
            <a:r>
              <a:rPr lang="en-GB" noProof="0" dirty="0"/>
              <a:t>Name</a:t>
            </a:r>
            <a:br>
              <a:rPr lang="en-GB" noProof="0" dirty="0"/>
            </a:br>
            <a:r>
              <a:rPr lang="en-GB" noProof="0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993075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2300" y="1268760"/>
            <a:ext cx="10972800" cy="5112568"/>
          </a:xfrm>
        </p:spPr>
        <p:txBody>
          <a:bodyPr/>
          <a:lstStyle>
            <a:lvl1pPr marL="313200" indent="-313200">
              <a:buFont typeface="Arial" panose="020B0604020202020204" pitchFamily="34" charset="0"/>
              <a:buChar char="■"/>
              <a:defRPr sz="2400"/>
            </a:lvl1pPr>
            <a:lvl2pPr marL="625475" indent="-301625">
              <a:buFont typeface="Arial" panose="020B0604020202020204" pitchFamily="34" charset="0"/>
              <a:buChar char="□"/>
              <a:defRPr sz="2200"/>
            </a:lvl2pPr>
            <a:lvl3pPr marL="893763" indent="-247650">
              <a:buFont typeface="Arial" panose="020B0604020202020204" pitchFamily="34" charset="0"/>
              <a:buChar char="▪"/>
              <a:defRPr sz="2000"/>
            </a:lvl3pPr>
            <a:lvl4pPr marL="1257300" indent="-255588">
              <a:buClr>
                <a:schemeClr val="tx2"/>
              </a:buClr>
              <a:buFont typeface="Arial" panose="020B0604020202020204" pitchFamily="34" charset="0"/>
              <a:buChar char="▫"/>
              <a:defRPr sz="1800"/>
            </a:lvl4pPr>
            <a:lvl5pPr marL="1526400" indent="-255600">
              <a:buClr>
                <a:schemeClr val="tx2"/>
              </a:buClr>
              <a:buFont typeface="Arial" panose="020B0604020202020204" pitchFamily="34" charset="0"/>
              <a:buChar char="›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  <a:p>
            <a:pPr lvl="0"/>
            <a:endParaRPr lang="en-GB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487488" y="6542677"/>
            <a:ext cx="9073008" cy="302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This is the title of the slide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19494" y="6558002"/>
            <a:ext cx="504056" cy="287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6C7FE256-DBE3-41F8-9653-AAB46C5389D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5559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6"/>
            <a:ext cx="10363200" cy="1362075"/>
          </a:xfrm>
        </p:spPr>
        <p:txBody>
          <a:bodyPr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487488" y="6542677"/>
            <a:ext cx="9073008" cy="302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This is the title of the slide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19494" y="6558002"/>
            <a:ext cx="504056" cy="287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6C7FE256-DBE3-41F8-9653-AAB46C5389D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9506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pan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2300" y="1268760"/>
            <a:ext cx="5384800" cy="5112568"/>
          </a:xfrm>
        </p:spPr>
        <p:txBody>
          <a:bodyPr/>
          <a:lstStyle>
            <a:lvl1pPr marL="313200" indent="-313200">
              <a:buFont typeface="Arial" panose="020B0604020202020204" pitchFamily="34" charset="0"/>
              <a:buChar char="■"/>
              <a:defRPr sz="2400"/>
            </a:lvl1pPr>
            <a:lvl2pPr marL="626400" indent="-302400">
              <a:buFont typeface="Arial" panose="020B0604020202020204" pitchFamily="34" charset="0"/>
              <a:buChar char="□"/>
              <a:defRPr sz="2200"/>
            </a:lvl2pPr>
            <a:lvl3pPr marL="892800" indent="-248400">
              <a:buFont typeface="Arial" panose="020B0604020202020204" pitchFamily="34" charset="0"/>
              <a:buChar char="▪"/>
              <a:defRPr sz="2000"/>
            </a:lvl3pPr>
            <a:lvl4pPr marL="1256400" indent="-255600">
              <a:buClr>
                <a:schemeClr val="tx2"/>
              </a:buClr>
              <a:buFont typeface="Arial" panose="020B0604020202020204" pitchFamily="34" charset="0"/>
              <a:buChar char="▫"/>
              <a:defRPr sz="1800"/>
            </a:lvl4pPr>
            <a:lvl5pPr marL="1525588" indent="-255588">
              <a:buClr>
                <a:schemeClr val="tx2"/>
              </a:buClr>
              <a:buFont typeface="Arial" panose="020B0604020202020204" pitchFamily="34" charset="0"/>
              <a:buChar char="›"/>
              <a:defRPr sz="1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0300" y="1268760"/>
            <a:ext cx="5384800" cy="5112568"/>
          </a:xfrm>
        </p:spPr>
        <p:txBody>
          <a:bodyPr/>
          <a:lstStyle>
            <a:lvl1pPr marL="313200" indent="-313200">
              <a:buFont typeface="Arial" panose="020B0604020202020204" pitchFamily="34" charset="0"/>
              <a:buChar char="■"/>
              <a:defRPr sz="2400"/>
            </a:lvl1pPr>
            <a:lvl2pPr marL="626400" indent="-302400">
              <a:buFont typeface="Arial" panose="020B0604020202020204" pitchFamily="34" charset="0"/>
              <a:buChar char="□"/>
              <a:defRPr sz="2200"/>
            </a:lvl2pPr>
            <a:lvl3pPr marL="892800" indent="-248400">
              <a:buFont typeface="Arial" panose="020B0604020202020204" pitchFamily="34" charset="0"/>
              <a:buChar char="▪"/>
              <a:defRPr sz="2000"/>
            </a:lvl3pPr>
            <a:lvl4pPr marL="1163638" indent="-255588">
              <a:buClr>
                <a:schemeClr val="tx2"/>
              </a:buClr>
              <a:buFont typeface="Arial" panose="020B0604020202020204" pitchFamily="34" charset="0"/>
              <a:buChar char="▫"/>
              <a:defRPr sz="1800"/>
            </a:lvl4pPr>
            <a:lvl5pPr marL="1431925" indent="-255588">
              <a:buClr>
                <a:schemeClr val="tx2"/>
              </a:buClr>
              <a:buFont typeface="Arial" panose="020B0604020202020204" pitchFamily="34" charset="0"/>
              <a:buChar char="›"/>
              <a:defRPr sz="1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487488" y="6542677"/>
            <a:ext cx="9073008" cy="302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This is the title of the slide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19494" y="6558002"/>
            <a:ext cx="504056" cy="287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6C7FE256-DBE3-41F8-9653-AAB46C5389D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341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68760"/>
            <a:ext cx="5386917" cy="583494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" y="1916832"/>
            <a:ext cx="5386917" cy="4464496"/>
          </a:xfrm>
        </p:spPr>
        <p:txBody>
          <a:bodyPr/>
          <a:lstStyle>
            <a:lvl1pPr marL="313200" indent="-313200">
              <a:buFont typeface="Arial" panose="020B0604020202020204" pitchFamily="34" charset="0"/>
              <a:buChar char="■"/>
              <a:defRPr sz="2400"/>
            </a:lvl1pPr>
            <a:lvl2pPr marL="626400" indent="-302400">
              <a:buFont typeface="Arial" panose="020B0604020202020204" pitchFamily="34" charset="0"/>
              <a:buChar char="□"/>
              <a:defRPr sz="2200"/>
            </a:lvl2pPr>
            <a:lvl3pPr marL="892800" indent="-255600">
              <a:buFont typeface="Arial" panose="020B0604020202020204" pitchFamily="34" charset="0"/>
              <a:buChar char="▪"/>
              <a:defRPr sz="2000"/>
            </a:lvl3pPr>
            <a:lvl4pPr marL="1256400" indent="-255600">
              <a:buClr>
                <a:schemeClr val="tx2"/>
              </a:buClr>
              <a:buFont typeface="Arial" panose="020B0604020202020204" pitchFamily="34" charset="0"/>
              <a:buChar char="▫"/>
              <a:defRPr sz="1800"/>
            </a:lvl4pPr>
            <a:lvl5pPr marL="1526400" indent="-255600">
              <a:buClr>
                <a:schemeClr val="tx2"/>
              </a:buClr>
              <a:buFont typeface="Arial" panose="020B0604020202020204" pitchFamily="34" charset="0"/>
              <a:buChar char="›"/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268760"/>
            <a:ext cx="5389033" cy="58349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1916832"/>
            <a:ext cx="5389033" cy="4464496"/>
          </a:xfrm>
        </p:spPr>
        <p:txBody>
          <a:bodyPr/>
          <a:lstStyle>
            <a:lvl1pPr marL="313200" indent="-313200">
              <a:buFont typeface="Arial" panose="020B0604020202020204" pitchFamily="34" charset="0"/>
              <a:buChar char="■"/>
              <a:defRPr sz="2400"/>
            </a:lvl1pPr>
            <a:lvl2pPr marL="626400" indent="-302400">
              <a:buFont typeface="Arial" panose="020B0604020202020204" pitchFamily="34" charset="0"/>
              <a:buChar char="□"/>
              <a:defRPr sz="2200"/>
            </a:lvl2pPr>
            <a:lvl3pPr marL="892800" indent="-255600">
              <a:buFont typeface="Arial" panose="020B0604020202020204" pitchFamily="34" charset="0"/>
              <a:buChar char="▪"/>
              <a:defRPr sz="2000"/>
            </a:lvl3pPr>
            <a:lvl4pPr marL="1256400" indent="-255600">
              <a:buClr>
                <a:schemeClr val="tx2"/>
              </a:buClr>
              <a:buFont typeface="Arial" panose="020B0604020202020204" pitchFamily="34" charset="0"/>
              <a:buChar char="▫"/>
              <a:defRPr sz="1800"/>
            </a:lvl4pPr>
            <a:lvl5pPr marL="1526400" indent="-255600">
              <a:buClr>
                <a:schemeClr val="tx2"/>
              </a:buClr>
              <a:buFont typeface="Arial" panose="020B0604020202020204" pitchFamily="34" charset="0"/>
              <a:buChar char="›"/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2306" y="404818"/>
            <a:ext cx="8462433" cy="57467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487488" y="6542677"/>
            <a:ext cx="9073008" cy="302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This is the title of the slide</a:t>
            </a:r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519494" y="6558002"/>
            <a:ext cx="504056" cy="287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6C7FE256-DBE3-41F8-9653-AAB46C5389D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9938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268761"/>
            <a:ext cx="6815667" cy="5112568"/>
          </a:xfrm>
        </p:spPr>
        <p:txBody>
          <a:bodyPr/>
          <a:lstStyle>
            <a:lvl1pPr marL="313200" indent="-313200">
              <a:buFont typeface="Arial" panose="020B0604020202020204" pitchFamily="34" charset="0"/>
              <a:buChar char="■"/>
              <a:defRPr sz="2200"/>
            </a:lvl1pPr>
            <a:lvl2pPr marL="626400" indent="-302400">
              <a:buFont typeface="Arial" panose="020B0604020202020204" pitchFamily="34" charset="0"/>
              <a:buChar char="□"/>
              <a:defRPr sz="2200"/>
            </a:lvl2pPr>
            <a:lvl3pPr marL="892800" indent="-255600">
              <a:buFont typeface="Arial" panose="020B0604020202020204" pitchFamily="34" charset="0"/>
              <a:buChar char="▪"/>
              <a:defRPr sz="2000"/>
            </a:lvl3pPr>
            <a:lvl4pPr marL="1256400" indent="-255600">
              <a:buClr>
                <a:schemeClr val="tx2"/>
              </a:buClr>
              <a:buFont typeface="Arial" panose="020B0604020202020204" pitchFamily="34" charset="0"/>
              <a:buChar char="▫"/>
              <a:defRPr sz="1800"/>
            </a:lvl4pPr>
            <a:lvl5pPr marL="1526400" indent="-255600">
              <a:buClr>
                <a:schemeClr val="tx2"/>
              </a:buClr>
              <a:buFont typeface="Arial" panose="020B0604020202020204" pitchFamily="34" charset="0"/>
              <a:buChar char="›"/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6" y="1268760"/>
            <a:ext cx="4011084" cy="5112568"/>
          </a:xfrm>
        </p:spPr>
        <p:txBody>
          <a:bodyPr/>
          <a:lstStyle>
            <a:lvl1pPr marL="313200" indent="-313200">
              <a:buFont typeface="Arial" panose="020B0604020202020204" pitchFamily="34" charset="0"/>
              <a:buChar char="■"/>
              <a:defRPr sz="2200"/>
            </a:lvl1pPr>
            <a:lvl2pPr marL="626400" indent="-302400">
              <a:buFont typeface="Arial" panose="020B0604020202020204" pitchFamily="34" charset="0"/>
              <a:buChar char="□"/>
              <a:defRPr sz="2200"/>
            </a:lvl2pPr>
            <a:lvl3pPr marL="892800" indent="-255600">
              <a:buFont typeface="Arial" panose="020B0604020202020204" pitchFamily="34" charset="0"/>
              <a:buChar char="▪"/>
              <a:defRPr sz="2000"/>
            </a:lvl3pPr>
            <a:lvl4pPr marL="1256400" indent="-255600">
              <a:buClr>
                <a:srgbClr val="83B81A"/>
              </a:buClr>
              <a:buFont typeface="Arial" panose="020B0604020202020204" pitchFamily="34" charset="0"/>
              <a:buChar char="▫"/>
              <a:defRPr sz="1800"/>
            </a:lvl4pPr>
            <a:lvl5pPr marL="1526400" indent="-255600">
              <a:buClr>
                <a:srgbClr val="83B81A"/>
              </a:buClr>
              <a:buFont typeface="Arial" panose="020B0604020202020204" pitchFamily="34" charset="0"/>
              <a:buChar char="›"/>
              <a:defRPr sz="1800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22306" y="404818"/>
            <a:ext cx="8462433" cy="5746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487488" y="6542677"/>
            <a:ext cx="9073008" cy="302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This is the title of the slide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19494" y="6558002"/>
            <a:ext cx="504056" cy="287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6C7FE256-DBE3-41F8-9653-AAB46C5389D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3014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20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487488" y="6542677"/>
            <a:ext cx="9073008" cy="302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This is the title of the slide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19494" y="6558002"/>
            <a:ext cx="504056" cy="287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6C7FE256-DBE3-41F8-9653-AAB46C5389D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6355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487488" y="6542677"/>
            <a:ext cx="9073008" cy="302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This is the title of the slide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19494" y="6558002"/>
            <a:ext cx="504056" cy="287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6C7FE256-DBE3-41F8-9653-AAB46C5389D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3883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487488" y="6542677"/>
            <a:ext cx="9073008" cy="302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This is the title of the slide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19494" y="6558002"/>
            <a:ext cx="504056" cy="287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6C7FE256-DBE3-41F8-9653-AAB46C5389D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5429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096"/>
          </a:xfrm>
          <a:prstGeom prst="rect">
            <a:avLst/>
          </a:prstGeom>
        </p:spPr>
      </p:pic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2306" y="404818"/>
            <a:ext cx="8462433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2300" y="1384311"/>
            <a:ext cx="10972800" cy="4997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487488" y="6542677"/>
            <a:ext cx="9073008" cy="302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This is the title of the slide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19494" y="6558002"/>
            <a:ext cx="504056" cy="287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6C7FE256-DBE3-41F8-9653-AAB46C5389D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7863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14" r:id="rId2"/>
    <p:sldLayoutId id="2147483904" r:id="rId3"/>
    <p:sldLayoutId id="2147483906" r:id="rId4"/>
    <p:sldLayoutId id="2147483907" r:id="rId5"/>
    <p:sldLayoutId id="2147483908" r:id="rId6"/>
    <p:sldLayoutId id="2147483909" r:id="rId7"/>
    <p:sldLayoutId id="2147483912" r:id="rId8"/>
    <p:sldLayoutId id="2147483913" r:id="rId9"/>
    <p:sldLayoutId id="2147483910" r:id="rId10"/>
    <p:sldLayoutId id="2147483911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83B81A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9pPr>
    </p:titleStyle>
    <p:bodyStyle>
      <a:lvl1pPr marL="0" indent="0" algn="l" rtl="0" eaLnBrk="1" fontAlgn="base" hangingPunct="1">
        <a:spcBef>
          <a:spcPts val="300"/>
        </a:spcBef>
        <a:spcAft>
          <a:spcPts val="600"/>
        </a:spcAft>
        <a:buClr>
          <a:srgbClr val="86BE3D"/>
        </a:buClr>
        <a:buFont typeface="Wingdings" panose="05000000000000000000" pitchFamily="2" charset="2"/>
        <a:buNone/>
        <a:defRPr sz="2000" b="0" baseline="0">
          <a:solidFill>
            <a:srgbClr val="4D4D4D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ts val="0"/>
        </a:spcBef>
        <a:spcAft>
          <a:spcPts val="600"/>
        </a:spcAft>
        <a:buClr>
          <a:srgbClr val="86BE3D"/>
        </a:buClr>
        <a:buFont typeface="Wingdings" panose="05000000000000000000" pitchFamily="2" charset="2"/>
        <a:defRPr sz="2000">
          <a:solidFill>
            <a:srgbClr val="4D4D4D"/>
          </a:solidFill>
          <a:latin typeface="+mn-lt"/>
        </a:defRPr>
      </a:lvl2pPr>
      <a:lvl3pPr marL="719138" indent="0" algn="l" rtl="0" eaLnBrk="1" fontAlgn="base" hangingPunct="1">
        <a:spcBef>
          <a:spcPts val="0"/>
        </a:spcBef>
        <a:spcAft>
          <a:spcPts val="600"/>
        </a:spcAft>
        <a:buClr>
          <a:srgbClr val="83B81A"/>
        </a:buClr>
        <a:buFont typeface="Wingdings 2" panose="05020102010507070707" pitchFamily="18" charset="2"/>
        <a:buNone/>
        <a:defRPr sz="2000" b="0">
          <a:solidFill>
            <a:srgbClr val="4D4D4D"/>
          </a:solidFill>
          <a:latin typeface="+mn-lt"/>
        </a:defRPr>
      </a:lvl3pPr>
      <a:lvl4pPr marL="1076325" indent="0" algn="l" rtl="0" eaLnBrk="1" fontAlgn="base" hangingPunct="1">
        <a:spcBef>
          <a:spcPts val="0"/>
        </a:spcBef>
        <a:spcAft>
          <a:spcPts val="600"/>
        </a:spcAft>
        <a:buNone/>
        <a:defRPr sz="2000">
          <a:solidFill>
            <a:srgbClr val="4D4D4D"/>
          </a:solidFill>
          <a:latin typeface="+mn-lt"/>
        </a:defRPr>
      </a:lvl4pPr>
      <a:lvl5pPr marL="1431925" indent="0" algn="l" rtl="0" eaLnBrk="1" fontAlgn="base" hangingPunct="1">
        <a:spcBef>
          <a:spcPts val="0"/>
        </a:spcBef>
        <a:spcAft>
          <a:spcPts val="600"/>
        </a:spcAft>
        <a:buNone/>
        <a:defRPr sz="2000">
          <a:solidFill>
            <a:srgbClr val="4D4D4D"/>
          </a:solidFill>
          <a:latin typeface="+mn-lt"/>
        </a:defRPr>
      </a:lvl5pPr>
      <a:lvl6pPr marL="914400" algn="l" rtl="0" eaLnBrk="1" fontAlgn="base" hangingPunct="1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6pPr>
      <a:lvl7pPr marL="1257300" algn="l" rtl="0" eaLnBrk="1" fontAlgn="base" hangingPunct="1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7pPr>
      <a:lvl8pPr marL="1600200" algn="l" rtl="0" eaLnBrk="1" fontAlgn="base" hangingPunct="1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8pPr>
      <a:lvl9pPr marL="1943100" algn="l" rtl="0" eaLnBrk="1" fontAlgn="base" hangingPunct="1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emf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emf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emf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emf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1.xml"/><Relationship Id="rId5" Type="http://schemas.openxmlformats.org/officeDocument/2006/relationships/image" Target="../media/image11.emf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Marking consistency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6528048" y="4509120"/>
            <a:ext cx="5184576" cy="1800200"/>
          </a:xfrm>
        </p:spPr>
        <p:txBody>
          <a:bodyPr/>
          <a:lstStyle/>
          <a:p>
            <a:r>
              <a:rPr lang="en-GB" dirty="0"/>
              <a:t>Beth Black and </a:t>
            </a:r>
            <a:r>
              <a:rPr lang="en-GB" dirty="0" smtClean="0"/>
              <a:t>Stephen Rhead</a:t>
            </a:r>
          </a:p>
          <a:p>
            <a:endParaRPr lang="en-GB" sz="1800" dirty="0" smtClean="0"/>
          </a:p>
          <a:p>
            <a:r>
              <a:rPr lang="en-GB" sz="1800" dirty="0" smtClean="0"/>
              <a:t>Ofqual Marking Consistency Symposium</a:t>
            </a:r>
            <a:endParaRPr lang="en-GB" sz="1800" dirty="0"/>
          </a:p>
          <a:p>
            <a:r>
              <a:rPr lang="en-GB" sz="1800" dirty="0" smtClean="0"/>
              <a:t>14</a:t>
            </a:r>
            <a:r>
              <a:rPr lang="en-GB" sz="1800" baseline="30000" dirty="0" smtClean="0"/>
              <a:t>th</a:t>
            </a:r>
            <a:r>
              <a:rPr lang="en-GB" sz="1800" dirty="0" smtClean="0"/>
              <a:t> November 2016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834853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Background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227285" y="4365104"/>
            <a:ext cx="5384800" cy="2304256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Responses marked only once</a:t>
            </a:r>
            <a:r>
              <a:rPr lang="en-GB" sz="2000" dirty="0">
                <a:solidFill>
                  <a:srgbClr val="FF0000"/>
                </a:solidFill>
              </a:rPr>
              <a:t/>
            </a:r>
            <a:br>
              <a:rPr lang="en-GB" sz="2000" dirty="0">
                <a:solidFill>
                  <a:srgbClr val="FF0000"/>
                </a:solidFill>
              </a:rPr>
            </a:br>
            <a:r>
              <a:rPr lang="en-GB" sz="2000" dirty="0" smtClean="0"/>
              <a:t>(mostly)</a:t>
            </a:r>
          </a:p>
          <a:p>
            <a:r>
              <a:rPr lang="en-GB" dirty="0" smtClean="0"/>
              <a:t>≈51k examiners </a:t>
            </a:r>
          </a:p>
          <a:p>
            <a:pPr marL="0" indent="0">
              <a:buNone/>
            </a:pPr>
            <a:r>
              <a:rPr lang="en-GB" sz="2000" dirty="0"/>
              <a:t> </a:t>
            </a:r>
            <a:r>
              <a:rPr lang="en-GB" sz="2000" dirty="0" smtClean="0"/>
              <a:t>    (mainly teachers)</a:t>
            </a:r>
          </a:p>
          <a:p>
            <a:endParaRPr lang="en-GB" dirty="0"/>
          </a:p>
        </p:txBody>
      </p:sp>
      <p:pic>
        <p:nvPicPr>
          <p:cNvPr id="6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 bwMode="auto">
          <a:xfrm>
            <a:off x="652462" y="1412776"/>
            <a:ext cx="5324475" cy="173355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ontent Placeholder 4"/>
          <p:cNvSpPr txBox="1">
            <a:spLocks/>
          </p:cNvSpPr>
          <p:nvPr/>
        </p:nvSpPr>
        <p:spPr bwMode="auto">
          <a:xfrm>
            <a:off x="6227285" y="1604902"/>
            <a:ext cx="5384800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>
            <a:lvl1pPr marL="313200" indent="-313200" algn="l" rtl="0" eaLnBrk="1" fontAlgn="base" hangingPunct="1">
              <a:spcBef>
                <a:spcPts val="300"/>
              </a:spcBef>
              <a:spcAft>
                <a:spcPts val="600"/>
              </a:spcAft>
              <a:buClr>
                <a:srgbClr val="86BE3D"/>
              </a:buClr>
              <a:buFont typeface="Arial" panose="020B0604020202020204" pitchFamily="34" charset="0"/>
              <a:buChar char="■"/>
              <a:defRPr sz="2400" b="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626400" indent="-30240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86BE3D"/>
              </a:buClr>
              <a:buFont typeface="Arial" panose="020B0604020202020204" pitchFamily="34" charset="0"/>
              <a:buChar char="□"/>
              <a:defRPr sz="2200">
                <a:solidFill>
                  <a:srgbClr val="4D4D4D"/>
                </a:solidFill>
                <a:latin typeface="+mn-lt"/>
              </a:defRPr>
            </a:lvl2pPr>
            <a:lvl3pPr marL="892800" indent="-24840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83B81A"/>
              </a:buClr>
              <a:buFont typeface="Arial" panose="020B0604020202020204" pitchFamily="34" charset="0"/>
              <a:buChar char="▪"/>
              <a:defRPr sz="2000" b="0">
                <a:solidFill>
                  <a:srgbClr val="4D4D4D"/>
                </a:solidFill>
                <a:latin typeface="+mn-lt"/>
              </a:defRPr>
            </a:lvl3pPr>
            <a:lvl4pPr marL="1163638" indent="-255588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▫"/>
              <a:defRPr sz="1800">
                <a:solidFill>
                  <a:srgbClr val="4D4D4D"/>
                </a:solidFill>
                <a:latin typeface="+mn-lt"/>
              </a:defRPr>
            </a:lvl4pPr>
            <a:lvl5pPr marL="1431925" indent="-255588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›"/>
              <a:defRPr sz="1800">
                <a:solidFill>
                  <a:srgbClr val="4D4D4D"/>
                </a:solidFill>
                <a:latin typeface="+mn-lt"/>
              </a:defRPr>
            </a:lvl5pPr>
            <a:lvl6pPr marL="914400" algn="l" rtl="0" eaLnBrk="1" fontAlgn="base" hangingPunct="1">
              <a:spcBef>
                <a:spcPct val="5000"/>
              </a:spcBef>
              <a:spcAft>
                <a:spcPct val="5000"/>
              </a:spcAft>
              <a:buChar char="»"/>
              <a:defRPr sz="1350">
                <a:solidFill>
                  <a:srgbClr val="4D4D4D"/>
                </a:solidFill>
                <a:latin typeface="+mn-lt"/>
              </a:defRPr>
            </a:lvl6pPr>
            <a:lvl7pPr marL="1257300" algn="l" rtl="0" eaLnBrk="1" fontAlgn="base" hangingPunct="1">
              <a:spcBef>
                <a:spcPct val="5000"/>
              </a:spcBef>
              <a:spcAft>
                <a:spcPct val="5000"/>
              </a:spcAft>
              <a:buChar char="»"/>
              <a:defRPr sz="1350">
                <a:solidFill>
                  <a:srgbClr val="4D4D4D"/>
                </a:solidFill>
                <a:latin typeface="+mn-lt"/>
              </a:defRPr>
            </a:lvl7pPr>
            <a:lvl8pPr marL="1600200" algn="l" rtl="0" eaLnBrk="1" fontAlgn="base" hangingPunct="1">
              <a:spcBef>
                <a:spcPct val="5000"/>
              </a:spcBef>
              <a:spcAft>
                <a:spcPct val="5000"/>
              </a:spcAft>
              <a:buChar char="»"/>
              <a:defRPr sz="1350">
                <a:solidFill>
                  <a:srgbClr val="4D4D4D"/>
                </a:solidFill>
                <a:latin typeface="+mn-lt"/>
              </a:defRPr>
            </a:lvl8pPr>
            <a:lvl9pPr marL="1943100" algn="l" rtl="0" eaLnBrk="1" fontAlgn="base" hangingPunct="1">
              <a:spcBef>
                <a:spcPct val="5000"/>
              </a:spcBef>
              <a:spcAft>
                <a:spcPct val="5000"/>
              </a:spcAft>
              <a:buChar char="»"/>
              <a:defRPr sz="1350">
                <a:solidFill>
                  <a:srgbClr val="4D4D4D"/>
                </a:solidFill>
                <a:latin typeface="+mn-lt"/>
              </a:defRPr>
            </a:lvl9pPr>
          </a:lstStyle>
          <a:p>
            <a:r>
              <a:rPr lang="en-GB" kern="0" dirty="0"/>
              <a:t>Constructed-response questions</a:t>
            </a:r>
            <a:r>
              <a:rPr lang="en-GB" sz="2000" kern="0" dirty="0"/>
              <a:t/>
            </a:r>
            <a:br>
              <a:rPr lang="en-GB" sz="2000" kern="0" dirty="0"/>
            </a:br>
            <a:r>
              <a:rPr lang="en-GB" sz="2000" kern="0" dirty="0"/>
              <a:t>(mainly)</a:t>
            </a:r>
            <a:endParaRPr lang="en-GB" kern="0" dirty="0"/>
          </a:p>
          <a:p>
            <a:r>
              <a:rPr lang="en-GB" kern="0" dirty="0"/>
              <a:t>Responses hand-written in ‘scripts’</a:t>
            </a:r>
            <a:r>
              <a:rPr lang="en-GB" sz="2000" kern="0" dirty="0"/>
              <a:t/>
            </a:r>
            <a:br>
              <a:rPr lang="en-GB" sz="2000" kern="0" dirty="0"/>
            </a:br>
            <a:r>
              <a:rPr lang="en-GB" sz="2000" kern="0" dirty="0"/>
              <a:t>(almost all)</a:t>
            </a:r>
            <a:endParaRPr lang="en-GB" sz="2800" kern="0" dirty="0"/>
          </a:p>
          <a:p>
            <a:r>
              <a:rPr lang="en-GB" kern="0" dirty="0"/>
              <a:t>Responses scanned and </a:t>
            </a:r>
            <a:r>
              <a:rPr lang="en-GB" kern="0" dirty="0" smtClean="0"/>
              <a:t>distributed for online marking by item or by script  </a:t>
            </a:r>
            <a:r>
              <a:rPr lang="en-GB" sz="2000" kern="0" dirty="0"/>
              <a:t/>
            </a:r>
            <a:br>
              <a:rPr lang="en-GB" sz="2000" kern="0" dirty="0"/>
            </a:br>
            <a:r>
              <a:rPr lang="en-GB" sz="2000" kern="0" dirty="0" smtClean="0"/>
              <a:t>(mostly)</a:t>
            </a:r>
            <a:endParaRPr lang="en-GB" kern="0" dirty="0"/>
          </a:p>
        </p:txBody>
      </p:sp>
    </p:spTree>
    <p:extLst>
      <p:ext uri="{BB962C8B-B14F-4D97-AF65-F5344CB8AC3E}">
        <p14:creationId xmlns:p14="http://schemas.microsoft.com/office/powerpoint/2010/main" val="1111351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Quality Assurance processes</a:t>
            </a:r>
            <a:endParaRPr lang="en-GB" dirty="0"/>
          </a:p>
        </p:txBody>
      </p:sp>
      <p:pic>
        <p:nvPicPr>
          <p:cNvPr id="13" name="Picture 12" descr="Google Adds ‘Funnels’ For AdWords Keywords, Part I | Bottree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640" y="982739"/>
            <a:ext cx="5634966" cy="495970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690406" y="2047573"/>
            <a:ext cx="3600400" cy="648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examiner selection</a:t>
            </a:r>
            <a:endParaRPr lang="en-GB" sz="2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16284" y="3176410"/>
            <a:ext cx="3096344" cy="648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</a:t>
            </a:r>
            <a:r>
              <a:rPr lang="en-GB" sz="2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tandardisation</a:t>
            </a:r>
          </a:p>
          <a:p>
            <a:r>
              <a:rPr lang="en-GB" sz="2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 online or face-to-face</a:t>
            </a:r>
            <a:endParaRPr lang="en-GB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785380" y="5117391"/>
            <a:ext cx="4437663" cy="648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</a:t>
            </a:r>
            <a:r>
              <a:rPr lang="en-GB" sz="2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onitoring</a:t>
            </a:r>
          </a:p>
          <a:p>
            <a:pPr marL="342900" indent="-342900">
              <a:buFontTx/>
              <a:buChar char="-"/>
            </a:pPr>
            <a:r>
              <a:rPr lang="en-GB" sz="2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seeding items</a:t>
            </a:r>
          </a:p>
          <a:p>
            <a:pPr marL="342900" indent="-342900">
              <a:buFontTx/>
              <a:buChar char="-"/>
            </a:pP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</a:t>
            </a:r>
            <a:r>
              <a:rPr lang="en-GB" sz="2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ample double marking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8008" y="4100847"/>
            <a:ext cx="3384376" cy="9391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“qualification”</a:t>
            </a:r>
          </a:p>
          <a:p>
            <a:r>
              <a:rPr lang="en-GB" sz="2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- sessional or daily</a:t>
            </a:r>
          </a:p>
          <a:p>
            <a:endParaRPr lang="en-GB" sz="2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314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xternal image paper_01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07368" y="1124744"/>
            <a:ext cx="1230387" cy="123038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07368" y="2708919"/>
            <a:ext cx="1361953" cy="21791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Senior Examiners select response to be a seed</a:t>
            </a:r>
          </a:p>
        </p:txBody>
      </p:sp>
      <p:pic>
        <p:nvPicPr>
          <p:cNvPr id="6" name="Picture 5" descr="external image paper_01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680916" y="1084996"/>
            <a:ext cx="1230387" cy="1230387"/>
          </a:xfrm>
          <a:prstGeom prst="rect">
            <a:avLst/>
          </a:prstGeom>
        </p:spPr>
      </p:pic>
      <p:pic>
        <p:nvPicPr>
          <p:cNvPr id="7" name="Picture 6" descr="external image paper_01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184940" y="1075188"/>
            <a:ext cx="1230387" cy="1230387"/>
          </a:xfrm>
          <a:prstGeom prst="rect">
            <a:avLst/>
          </a:prstGeom>
        </p:spPr>
      </p:pic>
      <p:pic>
        <p:nvPicPr>
          <p:cNvPr id="8" name="Picture 7" descr="external image paper_01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688964" y="1092425"/>
            <a:ext cx="1230387" cy="1230387"/>
          </a:xfrm>
          <a:prstGeom prst="rect">
            <a:avLst/>
          </a:prstGeom>
        </p:spPr>
      </p:pic>
      <p:pic>
        <p:nvPicPr>
          <p:cNvPr id="9" name="Picture 8" descr="external image paper_01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801286" y="1073837"/>
            <a:ext cx="1230387" cy="123038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391931" y="2642545"/>
            <a:ext cx="1656184" cy="21602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Senior Examiners give definitive mark to seed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72790" y="1364082"/>
            <a:ext cx="360040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01979" y="1364082"/>
            <a:ext cx="360040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18047" y="1364082"/>
            <a:ext cx="360040" cy="25251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4026" y="1808574"/>
            <a:ext cx="360040" cy="2880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6037" y="2642545"/>
            <a:ext cx="1728192" cy="21602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Assistant Examiner marks seed ‘blind’ (approx. 1 per 20 live items)</a:t>
            </a:r>
          </a:p>
        </p:txBody>
      </p:sp>
      <p:pic>
        <p:nvPicPr>
          <p:cNvPr id="17" name="Picture 16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372" y="4853963"/>
            <a:ext cx="1625397" cy="162539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2392" y="4959272"/>
            <a:ext cx="1119078" cy="145044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8265" y="4973890"/>
            <a:ext cx="927418" cy="145383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18047" y="1808574"/>
            <a:ext cx="360040" cy="2880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1857" y="2687287"/>
            <a:ext cx="1728192" cy="21602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Assistant examiner marks same/within tolerance – marker continues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69280" y="2676412"/>
            <a:ext cx="1728192" cy="21602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Assistant Examiner mark out of tolerance =  guidance / retraining / stopped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63836" y="1808574"/>
            <a:ext cx="360040" cy="2880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84128" y="1364082"/>
            <a:ext cx="360040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</a:p>
        </p:txBody>
      </p:sp>
      <p:pic>
        <p:nvPicPr>
          <p:cNvPr id="27" name="Picture 26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1857" y="4870519"/>
            <a:ext cx="1625397" cy="1625397"/>
          </a:xfrm>
          <a:prstGeom prst="rect">
            <a:avLst/>
          </a:prstGeom>
        </p:spPr>
      </p:pic>
      <p:pic>
        <p:nvPicPr>
          <p:cNvPr id="28" name="Picture 27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774" y="4842953"/>
            <a:ext cx="1625397" cy="1625397"/>
          </a:xfrm>
          <a:prstGeom prst="rect">
            <a:avLst/>
          </a:prstGeom>
        </p:spPr>
      </p:pic>
      <p:cxnSp>
        <p:nvCxnSpPr>
          <p:cNvPr id="30" name="Straight Connector 29"/>
          <p:cNvCxnSpPr/>
          <p:nvPr/>
        </p:nvCxnSpPr>
        <p:spPr>
          <a:xfrm>
            <a:off x="4295800" y="0"/>
            <a:ext cx="72008" cy="7245424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2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66" y="4951582"/>
            <a:ext cx="1061843" cy="1527778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301751" y="652948"/>
            <a:ext cx="1552515" cy="43204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pre-live marking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24664" y="604407"/>
            <a:ext cx="2098724" cy="43204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live marking..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1555" y="3716544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Or…</a:t>
            </a:r>
          </a:p>
        </p:txBody>
      </p:sp>
      <p:sp>
        <p:nvSpPr>
          <p:cNvPr id="31" name="Title 1"/>
          <p:cNvSpPr txBox="1">
            <a:spLocks/>
          </p:cNvSpPr>
          <p:nvPr/>
        </p:nvSpPr>
        <p:spPr bwMode="auto">
          <a:xfrm>
            <a:off x="64583" y="119391"/>
            <a:ext cx="8462433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3B81A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2"/>
                </a:solidFill>
                <a:latin typeface="Arial" charset="0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2"/>
                </a:solidFill>
                <a:latin typeface="Arial" charset="0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2"/>
                </a:solidFill>
                <a:latin typeface="Arial" charset="0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2"/>
                </a:solidFill>
                <a:latin typeface="Arial" charset="0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GB" kern="0" dirty="0"/>
              <a:t>An analysis of ‘seeding’/’validity’ items</a:t>
            </a:r>
          </a:p>
        </p:txBody>
      </p:sp>
    </p:spTree>
    <p:extLst>
      <p:ext uri="{BB962C8B-B14F-4D97-AF65-F5344CB8AC3E}">
        <p14:creationId xmlns:p14="http://schemas.microsoft.com/office/powerpoint/2010/main" val="323023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Why might examiners give different marks?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7635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22306" y="404818"/>
            <a:ext cx="10972794" cy="574675"/>
          </a:xfrm>
        </p:spPr>
        <p:txBody>
          <a:bodyPr/>
          <a:lstStyle/>
          <a:p>
            <a:r>
              <a:rPr lang="en-GB" sz="2400" dirty="0"/>
              <a:t>Why do examiners disagree over the quality of responses? </a:t>
            </a:r>
          </a:p>
        </p:txBody>
      </p:sp>
      <p:pic>
        <p:nvPicPr>
          <p:cNvPr id="13" name="Content Placeholder 12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92252" y="1268760"/>
            <a:ext cx="6337796" cy="4614387"/>
          </a:xfrm>
          <a:prstGeom prst="rect">
            <a:avLst/>
          </a:prstGeom>
        </p:spPr>
      </p:pic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7176120" y="1268760"/>
            <a:ext cx="4418980" cy="3240360"/>
          </a:xfrm>
        </p:spPr>
        <p:txBody>
          <a:bodyPr/>
          <a:lstStyle/>
          <a:p>
            <a:r>
              <a:rPr lang="en-GB" b="1" dirty="0">
                <a:solidFill>
                  <a:srgbClr val="7030A0"/>
                </a:solidFill>
              </a:rPr>
              <a:t>Procedural error</a:t>
            </a:r>
          </a:p>
          <a:p>
            <a:pPr lvl="1"/>
            <a:r>
              <a:rPr lang="en-GB" dirty="0"/>
              <a:t>sometimes examiners just make mistakes, e.g.</a:t>
            </a:r>
          </a:p>
          <a:p>
            <a:pPr lvl="2"/>
            <a:r>
              <a:rPr lang="en-GB" dirty="0"/>
              <a:t>failing to reveal evidence beyond the ‘clip’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300" y="5905080"/>
            <a:ext cx="6337796" cy="40011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>
              <a:tabLst>
                <a:tab pos="1608138" algn="l"/>
              </a:tabLst>
            </a:pPr>
            <a:r>
              <a:rPr lang="en-GB" sz="2000" dirty="0"/>
              <a:t>Definitive  =  2      </a:t>
            </a:r>
            <a:r>
              <a:rPr lang="en-GB" sz="2000" dirty="0" smtClean="0"/>
              <a:t>Mode  </a:t>
            </a:r>
            <a:r>
              <a:rPr lang="en-GB" sz="2000" dirty="0"/>
              <a:t>=  </a:t>
            </a:r>
            <a:r>
              <a:rPr lang="en-GB" sz="2000" dirty="0" smtClean="0"/>
              <a:t>1</a:t>
            </a:r>
            <a:endParaRPr lang="en-GB" sz="2000" dirty="0"/>
          </a:p>
        </p:txBody>
      </p:sp>
      <p:sp>
        <p:nvSpPr>
          <p:cNvPr id="9" name="Content Placeholder 11"/>
          <p:cNvSpPr txBox="1">
            <a:spLocks/>
          </p:cNvSpPr>
          <p:nvPr/>
        </p:nvSpPr>
        <p:spPr bwMode="auto">
          <a:xfrm>
            <a:off x="7176120" y="4685010"/>
            <a:ext cx="4418980" cy="1620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>
            <a:lvl1pPr marL="313200" indent="-313200" algn="l" rtl="0" eaLnBrk="1" fontAlgn="base" hangingPunct="1">
              <a:spcBef>
                <a:spcPts val="300"/>
              </a:spcBef>
              <a:spcAft>
                <a:spcPts val="600"/>
              </a:spcAft>
              <a:buClr>
                <a:srgbClr val="86BE3D"/>
              </a:buClr>
              <a:buFont typeface="Arial" panose="020B0604020202020204" pitchFamily="34" charset="0"/>
              <a:buChar char="■"/>
              <a:defRPr sz="2400" b="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626400" indent="-30240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86BE3D"/>
              </a:buClr>
              <a:buFont typeface="Arial" panose="020B0604020202020204" pitchFamily="34" charset="0"/>
              <a:buChar char="□"/>
              <a:defRPr sz="2200">
                <a:solidFill>
                  <a:srgbClr val="4D4D4D"/>
                </a:solidFill>
                <a:latin typeface="+mn-lt"/>
              </a:defRPr>
            </a:lvl2pPr>
            <a:lvl3pPr marL="892800" indent="-24840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83B81A"/>
              </a:buClr>
              <a:buFont typeface="Arial" panose="020B0604020202020204" pitchFamily="34" charset="0"/>
              <a:buChar char="▪"/>
              <a:defRPr sz="2000" b="0">
                <a:solidFill>
                  <a:srgbClr val="4D4D4D"/>
                </a:solidFill>
                <a:latin typeface="+mn-lt"/>
              </a:defRPr>
            </a:lvl3pPr>
            <a:lvl4pPr marL="1163638" indent="-255588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▫"/>
              <a:defRPr sz="1800">
                <a:solidFill>
                  <a:srgbClr val="4D4D4D"/>
                </a:solidFill>
                <a:latin typeface="+mn-lt"/>
              </a:defRPr>
            </a:lvl4pPr>
            <a:lvl5pPr marL="1431925" indent="-255588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›"/>
              <a:defRPr sz="1800">
                <a:solidFill>
                  <a:srgbClr val="4D4D4D"/>
                </a:solidFill>
                <a:latin typeface="+mn-lt"/>
              </a:defRPr>
            </a:lvl5pPr>
            <a:lvl6pPr marL="914400" algn="l" rtl="0" eaLnBrk="1" fontAlgn="base" hangingPunct="1">
              <a:spcBef>
                <a:spcPct val="5000"/>
              </a:spcBef>
              <a:spcAft>
                <a:spcPct val="5000"/>
              </a:spcAft>
              <a:buChar char="»"/>
              <a:defRPr sz="1350">
                <a:solidFill>
                  <a:srgbClr val="4D4D4D"/>
                </a:solidFill>
                <a:latin typeface="+mn-lt"/>
              </a:defRPr>
            </a:lvl6pPr>
            <a:lvl7pPr marL="1257300" algn="l" rtl="0" eaLnBrk="1" fontAlgn="base" hangingPunct="1">
              <a:spcBef>
                <a:spcPct val="5000"/>
              </a:spcBef>
              <a:spcAft>
                <a:spcPct val="5000"/>
              </a:spcAft>
              <a:buChar char="»"/>
              <a:defRPr sz="1350">
                <a:solidFill>
                  <a:srgbClr val="4D4D4D"/>
                </a:solidFill>
                <a:latin typeface="+mn-lt"/>
              </a:defRPr>
            </a:lvl7pPr>
            <a:lvl8pPr marL="1600200" algn="l" rtl="0" eaLnBrk="1" fontAlgn="base" hangingPunct="1">
              <a:spcBef>
                <a:spcPct val="5000"/>
              </a:spcBef>
              <a:spcAft>
                <a:spcPct val="5000"/>
              </a:spcAft>
              <a:buChar char="»"/>
              <a:defRPr sz="1350">
                <a:solidFill>
                  <a:srgbClr val="4D4D4D"/>
                </a:solidFill>
                <a:latin typeface="+mn-lt"/>
              </a:defRPr>
            </a:lvl8pPr>
            <a:lvl9pPr marL="1943100" algn="l" rtl="0" eaLnBrk="1" fontAlgn="base" hangingPunct="1">
              <a:spcBef>
                <a:spcPct val="5000"/>
              </a:spcBef>
              <a:spcAft>
                <a:spcPct val="5000"/>
              </a:spcAft>
              <a:buChar char="»"/>
              <a:defRPr sz="1350">
                <a:solidFill>
                  <a:srgbClr val="4D4D4D"/>
                </a:solidFill>
                <a:latin typeface="+mn-lt"/>
              </a:defRPr>
            </a:lvl9pPr>
          </a:lstStyle>
          <a:p>
            <a:r>
              <a:rPr lang="en-GB" b="1" kern="0" dirty="0">
                <a:solidFill>
                  <a:srgbClr val="7030A0"/>
                </a:solidFill>
              </a:rPr>
              <a:t>There</a:t>
            </a:r>
            <a:r>
              <a:rPr lang="en-GB" b="1" i="1" kern="0" dirty="0">
                <a:solidFill>
                  <a:srgbClr val="7030A0"/>
                </a:solidFill>
              </a:rPr>
              <a:t> is </a:t>
            </a:r>
            <a:r>
              <a:rPr lang="en-GB" b="1" kern="0" dirty="0">
                <a:solidFill>
                  <a:srgbClr val="7030A0"/>
                </a:solidFill>
              </a:rPr>
              <a:t>a single ‘right mark’ for the response</a:t>
            </a:r>
          </a:p>
          <a:p>
            <a:r>
              <a:rPr lang="en-GB" b="1" kern="0" dirty="0">
                <a:solidFill>
                  <a:srgbClr val="7030A0"/>
                </a:solidFill>
              </a:rPr>
              <a:t>It can be found by following the procedure correctly</a:t>
            </a:r>
          </a:p>
        </p:txBody>
      </p:sp>
    </p:spTree>
    <p:extLst>
      <p:ext uri="{BB962C8B-B14F-4D97-AF65-F5344CB8AC3E}">
        <p14:creationId xmlns:p14="http://schemas.microsoft.com/office/powerpoint/2010/main" val="2105641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22306" y="404818"/>
            <a:ext cx="10972794" cy="574675"/>
          </a:xfrm>
        </p:spPr>
        <p:txBody>
          <a:bodyPr/>
          <a:lstStyle/>
          <a:p>
            <a:r>
              <a:rPr lang="en-GB" sz="2400" dirty="0"/>
              <a:t>Why do examiners disagree over the quality of responses? 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7176120" y="1268760"/>
            <a:ext cx="4418980" cy="3240360"/>
          </a:xfrm>
        </p:spPr>
        <p:txBody>
          <a:bodyPr/>
          <a:lstStyle/>
          <a:p>
            <a:r>
              <a:rPr lang="en-GB" b="1" dirty="0">
                <a:solidFill>
                  <a:srgbClr val="7030A0"/>
                </a:solidFill>
              </a:rPr>
              <a:t>Attentional error</a:t>
            </a:r>
          </a:p>
          <a:p>
            <a:pPr lvl="1"/>
            <a:r>
              <a:rPr lang="en-GB" dirty="0"/>
              <a:t>sometimes examiners have concentration lapses, e.g.</a:t>
            </a:r>
          </a:p>
          <a:p>
            <a:pPr lvl="2"/>
            <a:r>
              <a:rPr lang="en-GB" dirty="0"/>
              <a:t>misreading what a candidate has written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300" y="5301208"/>
            <a:ext cx="6337796" cy="40011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>
              <a:tabLst>
                <a:tab pos="1608138" algn="l"/>
              </a:tabLst>
            </a:pPr>
            <a:r>
              <a:rPr lang="en-GB" sz="2000" dirty="0"/>
              <a:t>Definitive  =  1      </a:t>
            </a:r>
            <a:r>
              <a:rPr lang="en-GB" sz="2000" dirty="0" smtClean="0"/>
              <a:t>Mode  </a:t>
            </a:r>
            <a:r>
              <a:rPr lang="en-GB" sz="2000" dirty="0"/>
              <a:t>=  </a:t>
            </a:r>
            <a:r>
              <a:rPr lang="en-GB" sz="2000" dirty="0" smtClean="0"/>
              <a:t>0</a:t>
            </a:r>
            <a:endParaRPr lang="en-GB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3501008"/>
            <a:ext cx="6337796" cy="2486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06" y="3889581"/>
            <a:ext cx="6332762" cy="4700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Content Placeholder 9"/>
          <p:cNvPicPr>
            <a:picLocks noGrp="1" noChangeAspect="1"/>
          </p:cNvPicPr>
          <p:nvPr>
            <p:ph sz="half" idx="1"/>
          </p:nvPr>
        </p:nvPicPr>
        <p:blipFill>
          <a:blip r:embed="rId5"/>
          <a:stretch>
            <a:fillRect/>
          </a:stretch>
        </p:blipFill>
        <p:spPr>
          <a:xfrm>
            <a:off x="622299" y="1465896"/>
            <a:ext cx="6337797" cy="1467997"/>
          </a:xfrm>
          <a:prstGeom prst="rect">
            <a:avLst/>
          </a:prstGeom>
        </p:spPr>
      </p:pic>
      <p:sp>
        <p:nvSpPr>
          <p:cNvPr id="14" name="Content Placeholder 11"/>
          <p:cNvSpPr txBox="1">
            <a:spLocks/>
          </p:cNvSpPr>
          <p:nvPr/>
        </p:nvSpPr>
        <p:spPr bwMode="auto">
          <a:xfrm>
            <a:off x="7176120" y="4685010"/>
            <a:ext cx="4418980" cy="1620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>
            <a:lvl1pPr marL="313200" indent="-313200" algn="l" rtl="0" eaLnBrk="1" fontAlgn="base" hangingPunct="1">
              <a:spcBef>
                <a:spcPts val="300"/>
              </a:spcBef>
              <a:spcAft>
                <a:spcPts val="600"/>
              </a:spcAft>
              <a:buClr>
                <a:srgbClr val="86BE3D"/>
              </a:buClr>
              <a:buFont typeface="Arial" panose="020B0604020202020204" pitchFamily="34" charset="0"/>
              <a:buChar char="■"/>
              <a:defRPr sz="2400" b="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626400" indent="-30240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86BE3D"/>
              </a:buClr>
              <a:buFont typeface="Arial" panose="020B0604020202020204" pitchFamily="34" charset="0"/>
              <a:buChar char="□"/>
              <a:defRPr sz="2200">
                <a:solidFill>
                  <a:srgbClr val="4D4D4D"/>
                </a:solidFill>
                <a:latin typeface="+mn-lt"/>
              </a:defRPr>
            </a:lvl2pPr>
            <a:lvl3pPr marL="892800" indent="-24840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83B81A"/>
              </a:buClr>
              <a:buFont typeface="Arial" panose="020B0604020202020204" pitchFamily="34" charset="0"/>
              <a:buChar char="▪"/>
              <a:defRPr sz="2000" b="0">
                <a:solidFill>
                  <a:srgbClr val="4D4D4D"/>
                </a:solidFill>
                <a:latin typeface="+mn-lt"/>
              </a:defRPr>
            </a:lvl3pPr>
            <a:lvl4pPr marL="1163638" indent="-255588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▫"/>
              <a:defRPr sz="1800">
                <a:solidFill>
                  <a:srgbClr val="4D4D4D"/>
                </a:solidFill>
                <a:latin typeface="+mn-lt"/>
              </a:defRPr>
            </a:lvl4pPr>
            <a:lvl5pPr marL="1431925" indent="-255588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›"/>
              <a:defRPr sz="1800">
                <a:solidFill>
                  <a:srgbClr val="4D4D4D"/>
                </a:solidFill>
                <a:latin typeface="+mn-lt"/>
              </a:defRPr>
            </a:lvl5pPr>
            <a:lvl6pPr marL="914400" algn="l" rtl="0" eaLnBrk="1" fontAlgn="base" hangingPunct="1">
              <a:spcBef>
                <a:spcPct val="5000"/>
              </a:spcBef>
              <a:spcAft>
                <a:spcPct val="5000"/>
              </a:spcAft>
              <a:buChar char="»"/>
              <a:defRPr sz="1350">
                <a:solidFill>
                  <a:srgbClr val="4D4D4D"/>
                </a:solidFill>
                <a:latin typeface="+mn-lt"/>
              </a:defRPr>
            </a:lvl6pPr>
            <a:lvl7pPr marL="1257300" algn="l" rtl="0" eaLnBrk="1" fontAlgn="base" hangingPunct="1">
              <a:spcBef>
                <a:spcPct val="5000"/>
              </a:spcBef>
              <a:spcAft>
                <a:spcPct val="5000"/>
              </a:spcAft>
              <a:buChar char="»"/>
              <a:defRPr sz="1350">
                <a:solidFill>
                  <a:srgbClr val="4D4D4D"/>
                </a:solidFill>
                <a:latin typeface="+mn-lt"/>
              </a:defRPr>
            </a:lvl7pPr>
            <a:lvl8pPr marL="1600200" algn="l" rtl="0" eaLnBrk="1" fontAlgn="base" hangingPunct="1">
              <a:spcBef>
                <a:spcPct val="5000"/>
              </a:spcBef>
              <a:spcAft>
                <a:spcPct val="5000"/>
              </a:spcAft>
              <a:buChar char="»"/>
              <a:defRPr sz="1350">
                <a:solidFill>
                  <a:srgbClr val="4D4D4D"/>
                </a:solidFill>
                <a:latin typeface="+mn-lt"/>
              </a:defRPr>
            </a:lvl8pPr>
            <a:lvl9pPr marL="1943100" algn="l" rtl="0" eaLnBrk="1" fontAlgn="base" hangingPunct="1">
              <a:spcBef>
                <a:spcPct val="5000"/>
              </a:spcBef>
              <a:spcAft>
                <a:spcPct val="5000"/>
              </a:spcAft>
              <a:buChar char="»"/>
              <a:defRPr sz="1350">
                <a:solidFill>
                  <a:srgbClr val="4D4D4D"/>
                </a:solidFill>
                <a:latin typeface="+mn-lt"/>
              </a:defRPr>
            </a:lvl9pPr>
          </a:lstStyle>
          <a:p>
            <a:r>
              <a:rPr lang="en-GB" b="1" kern="0" dirty="0">
                <a:solidFill>
                  <a:srgbClr val="7030A0"/>
                </a:solidFill>
              </a:rPr>
              <a:t>There </a:t>
            </a:r>
            <a:r>
              <a:rPr lang="en-GB" b="1" i="1" kern="0" dirty="0">
                <a:solidFill>
                  <a:srgbClr val="7030A0"/>
                </a:solidFill>
              </a:rPr>
              <a:t>is</a:t>
            </a:r>
            <a:r>
              <a:rPr lang="en-GB" b="1" kern="0" dirty="0">
                <a:solidFill>
                  <a:srgbClr val="7030A0"/>
                </a:solidFill>
              </a:rPr>
              <a:t> a single ‘right mark’ for the response</a:t>
            </a:r>
          </a:p>
          <a:p>
            <a:r>
              <a:rPr lang="en-GB" b="1" kern="0" dirty="0">
                <a:solidFill>
                  <a:srgbClr val="7030A0"/>
                </a:solidFill>
              </a:rPr>
              <a:t>It can be found by paying sufficient attention</a:t>
            </a:r>
          </a:p>
        </p:txBody>
      </p:sp>
    </p:spTree>
    <p:extLst>
      <p:ext uri="{BB962C8B-B14F-4D97-AF65-F5344CB8AC3E}">
        <p14:creationId xmlns:p14="http://schemas.microsoft.com/office/powerpoint/2010/main" val="564736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22306" y="404818"/>
            <a:ext cx="10972794" cy="574675"/>
          </a:xfrm>
        </p:spPr>
        <p:txBody>
          <a:bodyPr/>
          <a:lstStyle/>
          <a:p>
            <a:r>
              <a:rPr lang="en-GB" sz="2400" dirty="0"/>
              <a:t>Why do examiners disagree over the quality of responses? 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7176120" y="1268760"/>
            <a:ext cx="4418980" cy="3240360"/>
          </a:xfrm>
        </p:spPr>
        <p:txBody>
          <a:bodyPr/>
          <a:lstStyle/>
          <a:p>
            <a:r>
              <a:rPr lang="en-GB" b="1" dirty="0">
                <a:solidFill>
                  <a:srgbClr val="7030A0"/>
                </a:solidFill>
              </a:rPr>
              <a:t>Inferential uncertainty</a:t>
            </a:r>
          </a:p>
          <a:p>
            <a:pPr lvl="1"/>
            <a:r>
              <a:rPr lang="en-GB" dirty="0"/>
              <a:t>sometimes examiners have insufficient evidence to reach a definitive judgement, e.g.</a:t>
            </a:r>
          </a:p>
          <a:p>
            <a:pPr lvl="2"/>
            <a:r>
              <a:rPr lang="en-GB" dirty="0"/>
              <a:t>over- or under-interpreting a candidate’s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300" y="5499444"/>
            <a:ext cx="6337796" cy="40011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>
              <a:tabLst>
                <a:tab pos="1608138" algn="l"/>
              </a:tabLst>
            </a:pPr>
            <a:r>
              <a:rPr lang="en-GB" sz="2000" dirty="0"/>
              <a:t>Definitive  =  2      Mode  =  1</a:t>
            </a:r>
            <a:r>
              <a:rPr lang="en-GB" sz="2000" dirty="0" smtClean="0"/>
              <a:t>, 2</a:t>
            </a:r>
            <a:endParaRPr lang="en-GB" sz="2000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22299" y="1282004"/>
            <a:ext cx="6316638" cy="179925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33" y="3284984"/>
            <a:ext cx="6326163" cy="3195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33" y="3657541"/>
            <a:ext cx="6318175" cy="9824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933" y="4685086"/>
            <a:ext cx="6318175" cy="2875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Content Placeholder 11"/>
          <p:cNvSpPr txBox="1">
            <a:spLocks/>
          </p:cNvSpPr>
          <p:nvPr/>
        </p:nvSpPr>
        <p:spPr bwMode="auto">
          <a:xfrm>
            <a:off x="7176120" y="4685010"/>
            <a:ext cx="4418980" cy="1620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>
            <a:lvl1pPr marL="313200" indent="-313200" algn="l" rtl="0" eaLnBrk="1" fontAlgn="base" hangingPunct="1">
              <a:spcBef>
                <a:spcPts val="300"/>
              </a:spcBef>
              <a:spcAft>
                <a:spcPts val="600"/>
              </a:spcAft>
              <a:buClr>
                <a:srgbClr val="86BE3D"/>
              </a:buClr>
              <a:buFont typeface="Arial" panose="020B0604020202020204" pitchFamily="34" charset="0"/>
              <a:buChar char="■"/>
              <a:defRPr sz="2400" b="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626400" indent="-30240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86BE3D"/>
              </a:buClr>
              <a:buFont typeface="Arial" panose="020B0604020202020204" pitchFamily="34" charset="0"/>
              <a:buChar char="□"/>
              <a:defRPr sz="2200">
                <a:solidFill>
                  <a:srgbClr val="4D4D4D"/>
                </a:solidFill>
                <a:latin typeface="+mn-lt"/>
              </a:defRPr>
            </a:lvl2pPr>
            <a:lvl3pPr marL="892800" indent="-24840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83B81A"/>
              </a:buClr>
              <a:buFont typeface="Arial" panose="020B0604020202020204" pitchFamily="34" charset="0"/>
              <a:buChar char="▪"/>
              <a:defRPr sz="2000" b="0">
                <a:solidFill>
                  <a:srgbClr val="4D4D4D"/>
                </a:solidFill>
                <a:latin typeface="+mn-lt"/>
              </a:defRPr>
            </a:lvl3pPr>
            <a:lvl4pPr marL="1163638" indent="-255588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▫"/>
              <a:defRPr sz="1800">
                <a:solidFill>
                  <a:srgbClr val="4D4D4D"/>
                </a:solidFill>
                <a:latin typeface="+mn-lt"/>
              </a:defRPr>
            </a:lvl4pPr>
            <a:lvl5pPr marL="1431925" indent="-255588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›"/>
              <a:defRPr sz="1800">
                <a:solidFill>
                  <a:srgbClr val="4D4D4D"/>
                </a:solidFill>
                <a:latin typeface="+mn-lt"/>
              </a:defRPr>
            </a:lvl5pPr>
            <a:lvl6pPr marL="914400" algn="l" rtl="0" eaLnBrk="1" fontAlgn="base" hangingPunct="1">
              <a:spcBef>
                <a:spcPct val="5000"/>
              </a:spcBef>
              <a:spcAft>
                <a:spcPct val="5000"/>
              </a:spcAft>
              <a:buChar char="»"/>
              <a:defRPr sz="1350">
                <a:solidFill>
                  <a:srgbClr val="4D4D4D"/>
                </a:solidFill>
                <a:latin typeface="+mn-lt"/>
              </a:defRPr>
            </a:lvl6pPr>
            <a:lvl7pPr marL="1257300" algn="l" rtl="0" eaLnBrk="1" fontAlgn="base" hangingPunct="1">
              <a:spcBef>
                <a:spcPct val="5000"/>
              </a:spcBef>
              <a:spcAft>
                <a:spcPct val="5000"/>
              </a:spcAft>
              <a:buChar char="»"/>
              <a:defRPr sz="1350">
                <a:solidFill>
                  <a:srgbClr val="4D4D4D"/>
                </a:solidFill>
                <a:latin typeface="+mn-lt"/>
              </a:defRPr>
            </a:lvl7pPr>
            <a:lvl8pPr marL="1600200" algn="l" rtl="0" eaLnBrk="1" fontAlgn="base" hangingPunct="1">
              <a:spcBef>
                <a:spcPct val="5000"/>
              </a:spcBef>
              <a:spcAft>
                <a:spcPct val="5000"/>
              </a:spcAft>
              <a:buChar char="»"/>
              <a:defRPr sz="1350">
                <a:solidFill>
                  <a:srgbClr val="4D4D4D"/>
                </a:solidFill>
                <a:latin typeface="+mn-lt"/>
              </a:defRPr>
            </a:lvl8pPr>
            <a:lvl9pPr marL="1943100" algn="l" rtl="0" eaLnBrk="1" fontAlgn="base" hangingPunct="1">
              <a:spcBef>
                <a:spcPct val="5000"/>
              </a:spcBef>
              <a:spcAft>
                <a:spcPct val="5000"/>
              </a:spcAft>
              <a:buChar char="»"/>
              <a:defRPr sz="1350">
                <a:solidFill>
                  <a:srgbClr val="4D4D4D"/>
                </a:solidFill>
                <a:latin typeface="+mn-lt"/>
              </a:defRPr>
            </a:lvl9pPr>
          </a:lstStyle>
          <a:p>
            <a:r>
              <a:rPr lang="en-GB" b="1" kern="0" dirty="0">
                <a:solidFill>
                  <a:srgbClr val="7030A0"/>
                </a:solidFill>
              </a:rPr>
              <a:t>There </a:t>
            </a:r>
            <a:r>
              <a:rPr lang="en-GB" b="1" i="1" kern="0" dirty="0" smtClean="0">
                <a:solidFill>
                  <a:srgbClr val="7030A0"/>
                </a:solidFill>
              </a:rPr>
              <a:t>may be </a:t>
            </a:r>
            <a:r>
              <a:rPr lang="en-GB" b="1" kern="0" dirty="0">
                <a:solidFill>
                  <a:srgbClr val="7030A0"/>
                </a:solidFill>
              </a:rPr>
              <a:t>a single ‘right mark’ for the response</a:t>
            </a:r>
          </a:p>
          <a:p>
            <a:r>
              <a:rPr lang="en-GB" b="1" kern="0" dirty="0">
                <a:solidFill>
                  <a:srgbClr val="7030A0"/>
                </a:solidFill>
              </a:rPr>
              <a:t>It is not actually knowable from the available evidence</a:t>
            </a:r>
          </a:p>
        </p:txBody>
      </p:sp>
    </p:spTree>
    <p:extLst>
      <p:ext uri="{BB962C8B-B14F-4D97-AF65-F5344CB8AC3E}">
        <p14:creationId xmlns:p14="http://schemas.microsoft.com/office/powerpoint/2010/main" val="924180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22306" y="404818"/>
            <a:ext cx="10972794" cy="574675"/>
          </a:xfrm>
        </p:spPr>
        <p:txBody>
          <a:bodyPr/>
          <a:lstStyle/>
          <a:p>
            <a:r>
              <a:rPr lang="en-GB" sz="2400" dirty="0"/>
              <a:t>Why do examiners disagree over the quality of responses? 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7176120" y="1268760"/>
            <a:ext cx="4418980" cy="3240360"/>
          </a:xfrm>
        </p:spPr>
        <p:txBody>
          <a:bodyPr/>
          <a:lstStyle/>
          <a:p>
            <a:r>
              <a:rPr lang="en-GB" b="1" dirty="0">
                <a:solidFill>
                  <a:srgbClr val="7030A0"/>
                </a:solidFill>
              </a:rPr>
              <a:t>Definitional uncertainty</a:t>
            </a:r>
          </a:p>
          <a:p>
            <a:pPr lvl="1"/>
            <a:r>
              <a:rPr lang="en-GB" dirty="0"/>
              <a:t>sometimes the definition of the attainment construct and its scale is insufficiently precise to arbitrate between different views, e.g.</a:t>
            </a:r>
          </a:p>
          <a:p>
            <a:pPr lvl="2"/>
            <a:r>
              <a:rPr lang="en-GB" dirty="0"/>
              <a:t>different valuations of the same performance features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22300" y="1370486"/>
            <a:ext cx="6337796" cy="48769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2300" y="6093296"/>
            <a:ext cx="6337796" cy="40011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>
              <a:tabLst>
                <a:tab pos="1608138" algn="l"/>
              </a:tabLst>
            </a:pPr>
            <a:r>
              <a:rPr lang="en-GB" sz="2000" dirty="0"/>
              <a:t>Definitive  =  6      Mode  =  </a:t>
            </a:r>
            <a:r>
              <a:rPr lang="en-GB" sz="2000" dirty="0" smtClean="0"/>
              <a:t>8</a:t>
            </a:r>
            <a:endParaRPr lang="en-GB" sz="2000" dirty="0"/>
          </a:p>
        </p:txBody>
      </p:sp>
      <p:sp>
        <p:nvSpPr>
          <p:cNvPr id="14" name="Content Placeholder 11"/>
          <p:cNvSpPr txBox="1">
            <a:spLocks/>
          </p:cNvSpPr>
          <p:nvPr/>
        </p:nvSpPr>
        <p:spPr bwMode="auto">
          <a:xfrm>
            <a:off x="7176120" y="4685010"/>
            <a:ext cx="4418980" cy="1620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>
            <a:lvl1pPr marL="313200" indent="-313200" algn="l" rtl="0" eaLnBrk="1" fontAlgn="base" hangingPunct="1">
              <a:spcBef>
                <a:spcPts val="300"/>
              </a:spcBef>
              <a:spcAft>
                <a:spcPts val="600"/>
              </a:spcAft>
              <a:buClr>
                <a:srgbClr val="86BE3D"/>
              </a:buClr>
              <a:buFont typeface="Arial" panose="020B0604020202020204" pitchFamily="34" charset="0"/>
              <a:buChar char="■"/>
              <a:defRPr sz="2400" b="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626400" indent="-30240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86BE3D"/>
              </a:buClr>
              <a:buFont typeface="Arial" panose="020B0604020202020204" pitchFamily="34" charset="0"/>
              <a:buChar char="□"/>
              <a:defRPr sz="2200">
                <a:solidFill>
                  <a:srgbClr val="4D4D4D"/>
                </a:solidFill>
                <a:latin typeface="+mn-lt"/>
              </a:defRPr>
            </a:lvl2pPr>
            <a:lvl3pPr marL="892800" indent="-24840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83B81A"/>
              </a:buClr>
              <a:buFont typeface="Arial" panose="020B0604020202020204" pitchFamily="34" charset="0"/>
              <a:buChar char="▪"/>
              <a:defRPr sz="2000" b="0">
                <a:solidFill>
                  <a:srgbClr val="4D4D4D"/>
                </a:solidFill>
                <a:latin typeface="+mn-lt"/>
              </a:defRPr>
            </a:lvl3pPr>
            <a:lvl4pPr marL="1163638" indent="-255588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▫"/>
              <a:defRPr sz="1800">
                <a:solidFill>
                  <a:srgbClr val="4D4D4D"/>
                </a:solidFill>
                <a:latin typeface="+mn-lt"/>
              </a:defRPr>
            </a:lvl4pPr>
            <a:lvl5pPr marL="1431925" indent="-255588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›"/>
              <a:defRPr sz="1800">
                <a:solidFill>
                  <a:srgbClr val="4D4D4D"/>
                </a:solidFill>
                <a:latin typeface="+mn-lt"/>
              </a:defRPr>
            </a:lvl5pPr>
            <a:lvl6pPr marL="914400" algn="l" rtl="0" eaLnBrk="1" fontAlgn="base" hangingPunct="1">
              <a:spcBef>
                <a:spcPct val="5000"/>
              </a:spcBef>
              <a:spcAft>
                <a:spcPct val="5000"/>
              </a:spcAft>
              <a:buChar char="»"/>
              <a:defRPr sz="1350">
                <a:solidFill>
                  <a:srgbClr val="4D4D4D"/>
                </a:solidFill>
                <a:latin typeface="+mn-lt"/>
              </a:defRPr>
            </a:lvl6pPr>
            <a:lvl7pPr marL="1257300" algn="l" rtl="0" eaLnBrk="1" fontAlgn="base" hangingPunct="1">
              <a:spcBef>
                <a:spcPct val="5000"/>
              </a:spcBef>
              <a:spcAft>
                <a:spcPct val="5000"/>
              </a:spcAft>
              <a:buChar char="»"/>
              <a:defRPr sz="1350">
                <a:solidFill>
                  <a:srgbClr val="4D4D4D"/>
                </a:solidFill>
                <a:latin typeface="+mn-lt"/>
              </a:defRPr>
            </a:lvl7pPr>
            <a:lvl8pPr marL="1600200" algn="l" rtl="0" eaLnBrk="1" fontAlgn="base" hangingPunct="1">
              <a:spcBef>
                <a:spcPct val="5000"/>
              </a:spcBef>
              <a:spcAft>
                <a:spcPct val="5000"/>
              </a:spcAft>
              <a:buChar char="»"/>
              <a:defRPr sz="1350">
                <a:solidFill>
                  <a:srgbClr val="4D4D4D"/>
                </a:solidFill>
                <a:latin typeface="+mn-lt"/>
              </a:defRPr>
            </a:lvl8pPr>
            <a:lvl9pPr marL="1943100" algn="l" rtl="0" eaLnBrk="1" fontAlgn="base" hangingPunct="1">
              <a:spcBef>
                <a:spcPct val="5000"/>
              </a:spcBef>
              <a:spcAft>
                <a:spcPct val="5000"/>
              </a:spcAft>
              <a:buChar char="»"/>
              <a:defRPr sz="1350">
                <a:solidFill>
                  <a:srgbClr val="4D4D4D"/>
                </a:solidFill>
                <a:latin typeface="+mn-lt"/>
              </a:defRPr>
            </a:lvl9pPr>
          </a:lstStyle>
          <a:p>
            <a:r>
              <a:rPr lang="en-GB" b="1" kern="0" dirty="0">
                <a:solidFill>
                  <a:srgbClr val="7030A0"/>
                </a:solidFill>
              </a:rPr>
              <a:t>There is no single ‘right mark’ for the response</a:t>
            </a:r>
          </a:p>
        </p:txBody>
      </p:sp>
    </p:spTree>
    <p:extLst>
      <p:ext uri="{BB962C8B-B14F-4D97-AF65-F5344CB8AC3E}">
        <p14:creationId xmlns:p14="http://schemas.microsoft.com/office/powerpoint/2010/main" val="3016181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22306" y="404818"/>
            <a:ext cx="11018310" cy="574675"/>
          </a:xfrm>
        </p:spPr>
        <p:txBody>
          <a:bodyPr/>
          <a:lstStyle/>
          <a:p>
            <a:r>
              <a:rPr lang="en-GB" dirty="0"/>
              <a:t>Definitional uncertainty – no single ‘right mark’ for the response 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10762" y="1412776"/>
            <a:ext cx="10195876" cy="412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2306" y="5837202"/>
            <a:ext cx="11018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i="1" dirty="0"/>
              <a:t>There may be definitively ‘wrong marks’ without there being a definitively ‘right mark’</a:t>
            </a:r>
          </a:p>
        </p:txBody>
      </p:sp>
    </p:spTree>
    <p:extLst>
      <p:ext uri="{BB962C8B-B14F-4D97-AF65-F5344CB8AC3E}">
        <p14:creationId xmlns:p14="http://schemas.microsoft.com/office/powerpoint/2010/main" val="3072125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How consistent is marking?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2300" y="1268760"/>
            <a:ext cx="10730284" cy="5112568"/>
          </a:xfrm>
        </p:spPr>
        <p:txBody>
          <a:bodyPr/>
          <a:lstStyle/>
          <a:p>
            <a:r>
              <a:rPr lang="en-GB" dirty="0" smtClean="0"/>
              <a:t>Up until now, we have not had a good way of summarising marking consistency – we need some metrics.</a:t>
            </a:r>
          </a:p>
          <a:p>
            <a:r>
              <a:rPr lang="en-GB" dirty="0" smtClean="0"/>
              <a:t>Ofqual’s </a:t>
            </a:r>
            <a:r>
              <a:rPr lang="en-GB" dirty="0"/>
              <a:t>Quality of Marking report (</a:t>
            </a:r>
            <a:r>
              <a:rPr lang="en-GB" dirty="0" smtClean="0"/>
              <a:t>2014) - we </a:t>
            </a:r>
            <a:r>
              <a:rPr lang="en-GB" dirty="0"/>
              <a:t>said we </a:t>
            </a:r>
            <a:r>
              <a:rPr lang="en-GB" dirty="0" smtClean="0"/>
              <a:t>would develop </a:t>
            </a:r>
            <a:r>
              <a:rPr lang="en-GB" dirty="0"/>
              <a:t>a suite of </a:t>
            </a:r>
            <a:r>
              <a:rPr lang="en-GB" dirty="0" smtClean="0"/>
              <a:t>metrics</a:t>
            </a:r>
          </a:p>
          <a:p>
            <a:r>
              <a:rPr lang="en-GB" dirty="0" smtClean="0"/>
              <a:t>Will help us develop benchmarks </a:t>
            </a:r>
            <a:r>
              <a:rPr lang="en-GB" dirty="0"/>
              <a:t>against which we can better evaluate </a:t>
            </a:r>
            <a:r>
              <a:rPr lang="en-GB" dirty="0" smtClean="0"/>
              <a:t>marking consistency</a:t>
            </a:r>
          </a:p>
          <a:p>
            <a:r>
              <a:rPr lang="en-GB" dirty="0" smtClean="0"/>
              <a:t>Publishing technical report today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8827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metrics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300" y="950155"/>
            <a:ext cx="10972800" cy="1008112"/>
          </a:xfrm>
        </p:spPr>
        <p:txBody>
          <a:bodyPr/>
          <a:lstStyle/>
          <a:p>
            <a:r>
              <a:rPr lang="en-GB" dirty="0" smtClean="0"/>
              <a:t>To produce metrics, we </a:t>
            </a:r>
            <a:r>
              <a:rPr lang="en-GB" dirty="0"/>
              <a:t>need two or more independent marks per </a:t>
            </a:r>
            <a:r>
              <a:rPr lang="en-GB" dirty="0" smtClean="0"/>
              <a:t>item</a:t>
            </a:r>
          </a:p>
          <a:p>
            <a:r>
              <a:rPr lang="en-GB" dirty="0"/>
              <a:t>D</a:t>
            </a:r>
            <a:r>
              <a:rPr lang="en-GB" dirty="0" smtClean="0"/>
              <a:t>ata from marker monitoring e.g. seeding items</a:t>
            </a:r>
          </a:p>
          <a:p>
            <a:r>
              <a:rPr lang="en-GB" dirty="0" smtClean="0"/>
              <a:t>N.B. we’ve </a:t>
            </a:r>
            <a:r>
              <a:rPr lang="en-GB" i="1" dirty="0" smtClean="0"/>
              <a:t>appropriated</a:t>
            </a:r>
            <a:r>
              <a:rPr lang="en-GB" dirty="0" smtClean="0"/>
              <a:t> data produced for another purpose</a:t>
            </a:r>
          </a:p>
          <a:p>
            <a:endParaRPr lang="en-GB" dirty="0" smtClean="0"/>
          </a:p>
          <a:p>
            <a:endParaRPr lang="en-GB" dirty="0"/>
          </a:p>
        </p:txBody>
      </p:sp>
      <p:grpSp>
        <p:nvGrpSpPr>
          <p:cNvPr id="8" name="Group 7"/>
          <p:cNvGrpSpPr/>
          <p:nvPr/>
        </p:nvGrpSpPr>
        <p:grpSpPr>
          <a:xfrm>
            <a:off x="188218" y="2388819"/>
            <a:ext cx="1230387" cy="1230387"/>
            <a:chOff x="188218" y="2388819"/>
            <a:chExt cx="1230387" cy="1230387"/>
          </a:xfrm>
        </p:grpSpPr>
        <p:pic>
          <p:nvPicPr>
            <p:cNvPr id="4" name="Picture 3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pic>
        <p:nvPicPr>
          <p:cNvPr id="6" name="Picture 5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36" y="3731153"/>
            <a:ext cx="1095317" cy="10953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923" y="3668901"/>
            <a:ext cx="722809" cy="1039977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1849963" y="2482203"/>
            <a:ext cx="1230387" cy="1230387"/>
            <a:chOff x="188218" y="2388819"/>
            <a:chExt cx="1230387" cy="1230387"/>
          </a:xfrm>
        </p:grpSpPr>
        <p:pic>
          <p:nvPicPr>
            <p:cNvPr id="11" name="Picture 10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1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034743" y="2452386"/>
            <a:ext cx="1230387" cy="1230387"/>
            <a:chOff x="188218" y="2388819"/>
            <a:chExt cx="1230387" cy="1230387"/>
          </a:xfrm>
        </p:grpSpPr>
        <p:pic>
          <p:nvPicPr>
            <p:cNvPr id="14" name="Picture 13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5</a:t>
              </a:r>
              <a:endParaRPr lang="en-GB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058572" y="2438514"/>
            <a:ext cx="1230387" cy="1230387"/>
            <a:chOff x="188218" y="2388819"/>
            <a:chExt cx="1230387" cy="1230387"/>
          </a:xfrm>
        </p:grpSpPr>
        <p:pic>
          <p:nvPicPr>
            <p:cNvPr id="17" name="Picture 16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098333" y="2429058"/>
            <a:ext cx="1230387" cy="1230387"/>
            <a:chOff x="188218" y="2388819"/>
            <a:chExt cx="1230387" cy="1230387"/>
          </a:xfrm>
        </p:grpSpPr>
        <p:pic>
          <p:nvPicPr>
            <p:cNvPr id="20" name="Picture 19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8109542" y="2411614"/>
            <a:ext cx="1230387" cy="1230387"/>
            <a:chOff x="188218" y="2388819"/>
            <a:chExt cx="1230387" cy="1230387"/>
          </a:xfrm>
        </p:grpSpPr>
        <p:pic>
          <p:nvPicPr>
            <p:cNvPr id="23" name="Picture 22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9127838" y="2396807"/>
            <a:ext cx="1230387" cy="1230387"/>
            <a:chOff x="188218" y="2388819"/>
            <a:chExt cx="1230387" cy="1230387"/>
          </a:xfrm>
        </p:grpSpPr>
        <p:pic>
          <p:nvPicPr>
            <p:cNvPr id="26" name="Picture 25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27" name="Rectangle 26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917598" y="2475730"/>
            <a:ext cx="1230387" cy="1230387"/>
            <a:chOff x="188218" y="2388819"/>
            <a:chExt cx="1230387" cy="1230387"/>
          </a:xfrm>
        </p:grpSpPr>
        <p:pic>
          <p:nvPicPr>
            <p:cNvPr id="29" name="Picture 28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4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967211" y="2466379"/>
            <a:ext cx="1230387" cy="1230387"/>
            <a:chOff x="188218" y="2388819"/>
            <a:chExt cx="1230387" cy="1230387"/>
          </a:xfrm>
        </p:grpSpPr>
        <p:pic>
          <p:nvPicPr>
            <p:cNvPr id="32" name="Picture 31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33" name="Rectangle 32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0126256" y="2391939"/>
            <a:ext cx="1230387" cy="1230387"/>
            <a:chOff x="188218" y="2388819"/>
            <a:chExt cx="1230387" cy="1230387"/>
          </a:xfrm>
        </p:grpSpPr>
        <p:pic>
          <p:nvPicPr>
            <p:cNvPr id="35" name="Picture 34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36" name="Rectangle 35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6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11127526" y="2377132"/>
            <a:ext cx="1230387" cy="1230387"/>
            <a:chOff x="188218" y="2388819"/>
            <a:chExt cx="1230387" cy="1230387"/>
          </a:xfrm>
        </p:grpSpPr>
        <p:pic>
          <p:nvPicPr>
            <p:cNvPr id="38" name="Picture 37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39" name="Rectangle 38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6</a:t>
              </a:r>
              <a:endParaRPr lang="en-GB" dirty="0"/>
            </a:p>
          </p:txBody>
        </p:sp>
      </p:grpSp>
      <p:pic>
        <p:nvPicPr>
          <p:cNvPr id="40" name="Picture 39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598" y="3749716"/>
            <a:ext cx="1095317" cy="1095317"/>
          </a:xfrm>
          <a:prstGeom prst="rect">
            <a:avLst/>
          </a:prstGeom>
        </p:spPr>
      </p:pic>
      <p:pic>
        <p:nvPicPr>
          <p:cNvPr id="41" name="Picture 40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211" y="3730342"/>
            <a:ext cx="1095317" cy="1095317"/>
          </a:xfrm>
          <a:prstGeom prst="rect">
            <a:avLst/>
          </a:prstGeom>
        </p:spPr>
      </p:pic>
      <p:pic>
        <p:nvPicPr>
          <p:cNvPr id="42" name="Picture 41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3383" y="3732393"/>
            <a:ext cx="1095317" cy="1095317"/>
          </a:xfrm>
          <a:prstGeom prst="rect">
            <a:avLst/>
          </a:prstGeom>
        </p:spPr>
      </p:pic>
      <p:pic>
        <p:nvPicPr>
          <p:cNvPr id="43" name="Picture 42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8572" y="3721718"/>
            <a:ext cx="1095317" cy="1095317"/>
          </a:xfrm>
          <a:prstGeom prst="rect">
            <a:avLst/>
          </a:prstGeom>
        </p:spPr>
      </p:pic>
      <p:pic>
        <p:nvPicPr>
          <p:cNvPr id="44" name="Picture 43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761" y="3727190"/>
            <a:ext cx="1095317" cy="1095317"/>
          </a:xfrm>
          <a:prstGeom prst="rect">
            <a:avLst/>
          </a:prstGeom>
        </p:spPr>
      </p:pic>
      <p:pic>
        <p:nvPicPr>
          <p:cNvPr id="45" name="Picture 44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822" y="3707373"/>
            <a:ext cx="1095317" cy="1095317"/>
          </a:xfrm>
          <a:prstGeom prst="rect">
            <a:avLst/>
          </a:prstGeom>
        </p:spPr>
      </p:pic>
      <p:pic>
        <p:nvPicPr>
          <p:cNvPr id="46" name="Picture 45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0859" y="3706117"/>
            <a:ext cx="1095317" cy="1095317"/>
          </a:xfrm>
          <a:prstGeom prst="rect">
            <a:avLst/>
          </a:prstGeom>
        </p:spPr>
      </p:pic>
      <p:pic>
        <p:nvPicPr>
          <p:cNvPr id="47" name="Picture 46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2912" y="3683926"/>
            <a:ext cx="1095317" cy="1095317"/>
          </a:xfrm>
          <a:prstGeom prst="rect">
            <a:avLst/>
          </a:prstGeom>
        </p:spPr>
      </p:pic>
      <p:pic>
        <p:nvPicPr>
          <p:cNvPr id="48" name="Picture 47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3037" y="3675813"/>
            <a:ext cx="1095317" cy="1095317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185450" y="5028532"/>
            <a:ext cx="2407164" cy="12205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60% exact agreement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-59296" y="31442"/>
            <a:ext cx="12192000" cy="2332508"/>
          </a:xfrm>
          <a:prstGeom prst="rect">
            <a:avLst/>
          </a:prstGeom>
          <a:solidFill>
            <a:schemeClr val="accent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Rectangle 56"/>
          <p:cNvSpPr/>
          <p:nvPr/>
        </p:nvSpPr>
        <p:spPr>
          <a:xfrm>
            <a:off x="-37428" y="2371473"/>
            <a:ext cx="4077110" cy="2332508"/>
          </a:xfrm>
          <a:prstGeom prst="rect">
            <a:avLst/>
          </a:prstGeom>
          <a:solidFill>
            <a:schemeClr val="accent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Rectangle 57"/>
          <p:cNvSpPr/>
          <p:nvPr/>
        </p:nvSpPr>
        <p:spPr>
          <a:xfrm>
            <a:off x="10139925" y="2371656"/>
            <a:ext cx="2048383" cy="2332508"/>
          </a:xfrm>
          <a:prstGeom prst="rect">
            <a:avLst/>
          </a:prstGeom>
          <a:solidFill>
            <a:schemeClr val="accent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ectangle 49"/>
          <p:cNvSpPr/>
          <p:nvPr/>
        </p:nvSpPr>
        <p:spPr>
          <a:xfrm>
            <a:off x="-960784" y="2363950"/>
            <a:ext cx="14545616" cy="26645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4335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9" grpId="0" animBg="1"/>
      <p:bldP spid="57" grpId="0" animBg="1"/>
      <p:bldP spid="58" grpId="0" animBg="1"/>
      <p:bldP spid="5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metrics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300" y="950155"/>
            <a:ext cx="10972800" cy="1008112"/>
          </a:xfrm>
        </p:spPr>
        <p:txBody>
          <a:bodyPr/>
          <a:lstStyle/>
          <a:p>
            <a:r>
              <a:rPr lang="en-GB" dirty="0" smtClean="0"/>
              <a:t>To produce metrics, we </a:t>
            </a:r>
            <a:r>
              <a:rPr lang="en-GB" dirty="0"/>
              <a:t>need two or more independent marks per </a:t>
            </a:r>
            <a:r>
              <a:rPr lang="en-GB" dirty="0" smtClean="0"/>
              <a:t>item</a:t>
            </a:r>
          </a:p>
          <a:p>
            <a:r>
              <a:rPr lang="en-GB" dirty="0"/>
              <a:t>D</a:t>
            </a:r>
            <a:r>
              <a:rPr lang="en-GB" dirty="0" smtClean="0"/>
              <a:t>ata from marker monitoring e.g. seeding items</a:t>
            </a:r>
          </a:p>
          <a:p>
            <a:r>
              <a:rPr lang="en-GB" dirty="0" smtClean="0"/>
              <a:t>i.e. we’ve appropriated data produced for another purpose</a:t>
            </a:r>
          </a:p>
          <a:p>
            <a:endParaRPr lang="en-GB" dirty="0" smtClean="0"/>
          </a:p>
          <a:p>
            <a:endParaRPr lang="en-GB" dirty="0"/>
          </a:p>
        </p:txBody>
      </p:sp>
      <p:grpSp>
        <p:nvGrpSpPr>
          <p:cNvPr id="8" name="Group 7"/>
          <p:cNvGrpSpPr/>
          <p:nvPr/>
        </p:nvGrpSpPr>
        <p:grpSpPr>
          <a:xfrm>
            <a:off x="188218" y="2388819"/>
            <a:ext cx="1230387" cy="1230387"/>
            <a:chOff x="188218" y="2388819"/>
            <a:chExt cx="1230387" cy="1230387"/>
          </a:xfrm>
        </p:grpSpPr>
        <p:pic>
          <p:nvPicPr>
            <p:cNvPr id="4" name="Picture 3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pic>
        <p:nvPicPr>
          <p:cNvPr id="6" name="Picture 5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36" y="3731153"/>
            <a:ext cx="1095317" cy="10953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923" y="3668901"/>
            <a:ext cx="722809" cy="1039977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1849963" y="2482203"/>
            <a:ext cx="1230387" cy="1230387"/>
            <a:chOff x="188218" y="2388819"/>
            <a:chExt cx="1230387" cy="1230387"/>
          </a:xfrm>
        </p:grpSpPr>
        <p:pic>
          <p:nvPicPr>
            <p:cNvPr id="11" name="Picture 10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1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034743" y="2452386"/>
            <a:ext cx="1230387" cy="1230387"/>
            <a:chOff x="188218" y="2388819"/>
            <a:chExt cx="1230387" cy="1230387"/>
          </a:xfrm>
        </p:grpSpPr>
        <p:pic>
          <p:nvPicPr>
            <p:cNvPr id="14" name="Picture 13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5</a:t>
              </a:r>
              <a:endParaRPr lang="en-GB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058572" y="2438514"/>
            <a:ext cx="1230387" cy="1230387"/>
            <a:chOff x="188218" y="2388819"/>
            <a:chExt cx="1230387" cy="1230387"/>
          </a:xfrm>
        </p:grpSpPr>
        <p:pic>
          <p:nvPicPr>
            <p:cNvPr id="17" name="Picture 16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098333" y="2429058"/>
            <a:ext cx="1230387" cy="1230387"/>
            <a:chOff x="188218" y="2388819"/>
            <a:chExt cx="1230387" cy="1230387"/>
          </a:xfrm>
        </p:grpSpPr>
        <p:pic>
          <p:nvPicPr>
            <p:cNvPr id="20" name="Picture 19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8109542" y="2411614"/>
            <a:ext cx="1230387" cy="1230387"/>
            <a:chOff x="188218" y="2388819"/>
            <a:chExt cx="1230387" cy="1230387"/>
          </a:xfrm>
        </p:grpSpPr>
        <p:pic>
          <p:nvPicPr>
            <p:cNvPr id="23" name="Picture 22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9127838" y="2396807"/>
            <a:ext cx="1230387" cy="1230387"/>
            <a:chOff x="188218" y="2388819"/>
            <a:chExt cx="1230387" cy="1230387"/>
          </a:xfrm>
        </p:grpSpPr>
        <p:pic>
          <p:nvPicPr>
            <p:cNvPr id="26" name="Picture 25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27" name="Rectangle 26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917598" y="2475730"/>
            <a:ext cx="1230387" cy="1230387"/>
            <a:chOff x="188218" y="2388819"/>
            <a:chExt cx="1230387" cy="1230387"/>
          </a:xfrm>
        </p:grpSpPr>
        <p:pic>
          <p:nvPicPr>
            <p:cNvPr id="29" name="Picture 28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4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967211" y="2466379"/>
            <a:ext cx="1230387" cy="1230387"/>
            <a:chOff x="188218" y="2388819"/>
            <a:chExt cx="1230387" cy="1230387"/>
          </a:xfrm>
        </p:grpSpPr>
        <p:pic>
          <p:nvPicPr>
            <p:cNvPr id="32" name="Picture 31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33" name="Rectangle 32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0126256" y="2391939"/>
            <a:ext cx="1230387" cy="1230387"/>
            <a:chOff x="188218" y="2388819"/>
            <a:chExt cx="1230387" cy="1230387"/>
          </a:xfrm>
        </p:grpSpPr>
        <p:pic>
          <p:nvPicPr>
            <p:cNvPr id="35" name="Picture 34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36" name="Rectangle 35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6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11127526" y="2377132"/>
            <a:ext cx="1230387" cy="1230387"/>
            <a:chOff x="188218" y="2388819"/>
            <a:chExt cx="1230387" cy="1230387"/>
          </a:xfrm>
        </p:grpSpPr>
        <p:pic>
          <p:nvPicPr>
            <p:cNvPr id="38" name="Picture 37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39" name="Rectangle 38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6</a:t>
              </a:r>
              <a:endParaRPr lang="en-GB" dirty="0"/>
            </a:p>
          </p:txBody>
        </p:sp>
      </p:grpSp>
      <p:pic>
        <p:nvPicPr>
          <p:cNvPr id="40" name="Picture 39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598" y="3749716"/>
            <a:ext cx="1095317" cy="1095317"/>
          </a:xfrm>
          <a:prstGeom prst="rect">
            <a:avLst/>
          </a:prstGeom>
        </p:spPr>
      </p:pic>
      <p:pic>
        <p:nvPicPr>
          <p:cNvPr id="41" name="Picture 40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211" y="3730342"/>
            <a:ext cx="1095317" cy="1095317"/>
          </a:xfrm>
          <a:prstGeom prst="rect">
            <a:avLst/>
          </a:prstGeom>
        </p:spPr>
      </p:pic>
      <p:pic>
        <p:nvPicPr>
          <p:cNvPr id="42" name="Picture 41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3383" y="3732393"/>
            <a:ext cx="1095317" cy="1095317"/>
          </a:xfrm>
          <a:prstGeom prst="rect">
            <a:avLst/>
          </a:prstGeom>
        </p:spPr>
      </p:pic>
      <p:pic>
        <p:nvPicPr>
          <p:cNvPr id="43" name="Picture 42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8572" y="3721718"/>
            <a:ext cx="1095317" cy="1095317"/>
          </a:xfrm>
          <a:prstGeom prst="rect">
            <a:avLst/>
          </a:prstGeom>
        </p:spPr>
      </p:pic>
      <p:pic>
        <p:nvPicPr>
          <p:cNvPr id="44" name="Picture 43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761" y="3727190"/>
            <a:ext cx="1095317" cy="1095317"/>
          </a:xfrm>
          <a:prstGeom prst="rect">
            <a:avLst/>
          </a:prstGeom>
        </p:spPr>
      </p:pic>
      <p:pic>
        <p:nvPicPr>
          <p:cNvPr id="45" name="Picture 44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822" y="3707373"/>
            <a:ext cx="1095317" cy="1095317"/>
          </a:xfrm>
          <a:prstGeom prst="rect">
            <a:avLst/>
          </a:prstGeom>
        </p:spPr>
      </p:pic>
      <p:pic>
        <p:nvPicPr>
          <p:cNvPr id="46" name="Picture 45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0859" y="3706117"/>
            <a:ext cx="1095317" cy="1095317"/>
          </a:xfrm>
          <a:prstGeom prst="rect">
            <a:avLst/>
          </a:prstGeom>
        </p:spPr>
      </p:pic>
      <p:pic>
        <p:nvPicPr>
          <p:cNvPr id="47" name="Picture 46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2912" y="3683926"/>
            <a:ext cx="1095317" cy="1095317"/>
          </a:xfrm>
          <a:prstGeom prst="rect">
            <a:avLst/>
          </a:prstGeom>
        </p:spPr>
      </p:pic>
      <p:pic>
        <p:nvPicPr>
          <p:cNvPr id="48" name="Picture 47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3037" y="3675813"/>
            <a:ext cx="1095317" cy="1095317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185450" y="5028532"/>
            <a:ext cx="2407164" cy="12205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60% exact agreement</a:t>
            </a:r>
            <a:endParaRPr lang="en-GB" dirty="0"/>
          </a:p>
        </p:txBody>
      </p:sp>
      <p:sp>
        <p:nvSpPr>
          <p:cNvPr id="56" name="Rounded Rectangle 55"/>
          <p:cNvSpPr/>
          <p:nvPr/>
        </p:nvSpPr>
        <p:spPr>
          <a:xfrm>
            <a:off x="2765205" y="5028532"/>
            <a:ext cx="2407164" cy="12205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r>
              <a:rPr lang="en-GB" dirty="0" smtClean="0"/>
              <a:t>0% agreement within +/-1 mark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0" y="44624"/>
            <a:ext cx="12192000" cy="2332508"/>
          </a:xfrm>
          <a:prstGeom prst="rect">
            <a:avLst/>
          </a:prstGeom>
          <a:solidFill>
            <a:schemeClr val="accent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Rectangle 56"/>
          <p:cNvSpPr/>
          <p:nvPr/>
        </p:nvSpPr>
        <p:spPr>
          <a:xfrm>
            <a:off x="-37428" y="2371473"/>
            <a:ext cx="3024514" cy="2332508"/>
          </a:xfrm>
          <a:prstGeom prst="rect">
            <a:avLst/>
          </a:prstGeom>
          <a:solidFill>
            <a:schemeClr val="accent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6082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metrics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300" y="950155"/>
            <a:ext cx="10972800" cy="1008112"/>
          </a:xfrm>
        </p:spPr>
        <p:txBody>
          <a:bodyPr/>
          <a:lstStyle/>
          <a:p>
            <a:r>
              <a:rPr lang="en-GB" dirty="0" smtClean="0"/>
              <a:t>To produce metrics, we </a:t>
            </a:r>
            <a:r>
              <a:rPr lang="en-GB" dirty="0"/>
              <a:t>need two or more independent marks per </a:t>
            </a:r>
            <a:r>
              <a:rPr lang="en-GB" dirty="0" smtClean="0"/>
              <a:t>item</a:t>
            </a:r>
          </a:p>
          <a:p>
            <a:r>
              <a:rPr lang="en-GB" dirty="0"/>
              <a:t>D</a:t>
            </a:r>
            <a:r>
              <a:rPr lang="en-GB" dirty="0" smtClean="0"/>
              <a:t>ata from marker monitoring e.g. seeding items</a:t>
            </a:r>
          </a:p>
          <a:p>
            <a:r>
              <a:rPr lang="en-GB" dirty="0" smtClean="0"/>
              <a:t>i.e. we’ve appropriated data produced for another purpose</a:t>
            </a:r>
          </a:p>
          <a:p>
            <a:endParaRPr lang="en-GB" dirty="0" smtClean="0"/>
          </a:p>
          <a:p>
            <a:endParaRPr lang="en-GB" dirty="0"/>
          </a:p>
        </p:txBody>
      </p:sp>
      <p:grpSp>
        <p:nvGrpSpPr>
          <p:cNvPr id="8" name="Group 7"/>
          <p:cNvGrpSpPr/>
          <p:nvPr/>
        </p:nvGrpSpPr>
        <p:grpSpPr>
          <a:xfrm>
            <a:off x="188218" y="2388819"/>
            <a:ext cx="1230387" cy="1230387"/>
            <a:chOff x="188218" y="2388819"/>
            <a:chExt cx="1230387" cy="1230387"/>
          </a:xfrm>
        </p:grpSpPr>
        <p:pic>
          <p:nvPicPr>
            <p:cNvPr id="4" name="Picture 3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pic>
        <p:nvPicPr>
          <p:cNvPr id="6" name="Picture 5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36" y="3731153"/>
            <a:ext cx="1095317" cy="10953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923" y="3668901"/>
            <a:ext cx="722809" cy="1039977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1849963" y="2482203"/>
            <a:ext cx="1230387" cy="1230387"/>
            <a:chOff x="188218" y="2388819"/>
            <a:chExt cx="1230387" cy="1230387"/>
          </a:xfrm>
        </p:grpSpPr>
        <p:pic>
          <p:nvPicPr>
            <p:cNvPr id="11" name="Picture 10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1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034743" y="2452386"/>
            <a:ext cx="1230387" cy="1230387"/>
            <a:chOff x="188218" y="2388819"/>
            <a:chExt cx="1230387" cy="1230387"/>
          </a:xfrm>
        </p:grpSpPr>
        <p:pic>
          <p:nvPicPr>
            <p:cNvPr id="14" name="Picture 13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5</a:t>
              </a:r>
              <a:endParaRPr lang="en-GB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058572" y="2438514"/>
            <a:ext cx="1230387" cy="1230387"/>
            <a:chOff x="188218" y="2388819"/>
            <a:chExt cx="1230387" cy="1230387"/>
          </a:xfrm>
        </p:grpSpPr>
        <p:pic>
          <p:nvPicPr>
            <p:cNvPr id="17" name="Picture 16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098333" y="2429058"/>
            <a:ext cx="1230387" cy="1230387"/>
            <a:chOff x="188218" y="2388819"/>
            <a:chExt cx="1230387" cy="1230387"/>
          </a:xfrm>
        </p:grpSpPr>
        <p:pic>
          <p:nvPicPr>
            <p:cNvPr id="20" name="Picture 19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8109542" y="2411614"/>
            <a:ext cx="1230387" cy="1230387"/>
            <a:chOff x="188218" y="2388819"/>
            <a:chExt cx="1230387" cy="1230387"/>
          </a:xfrm>
        </p:grpSpPr>
        <p:pic>
          <p:nvPicPr>
            <p:cNvPr id="23" name="Picture 22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9127838" y="2396807"/>
            <a:ext cx="1230387" cy="1230387"/>
            <a:chOff x="188218" y="2388819"/>
            <a:chExt cx="1230387" cy="1230387"/>
          </a:xfrm>
        </p:grpSpPr>
        <p:pic>
          <p:nvPicPr>
            <p:cNvPr id="26" name="Picture 25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27" name="Rectangle 26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917598" y="2475730"/>
            <a:ext cx="1230387" cy="1230387"/>
            <a:chOff x="188218" y="2388819"/>
            <a:chExt cx="1230387" cy="1230387"/>
          </a:xfrm>
        </p:grpSpPr>
        <p:pic>
          <p:nvPicPr>
            <p:cNvPr id="29" name="Picture 28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4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967211" y="2466379"/>
            <a:ext cx="1230387" cy="1230387"/>
            <a:chOff x="188218" y="2388819"/>
            <a:chExt cx="1230387" cy="1230387"/>
          </a:xfrm>
        </p:grpSpPr>
        <p:pic>
          <p:nvPicPr>
            <p:cNvPr id="32" name="Picture 31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33" name="Rectangle 32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0126256" y="2391939"/>
            <a:ext cx="1230387" cy="1230387"/>
            <a:chOff x="188218" y="2388819"/>
            <a:chExt cx="1230387" cy="1230387"/>
          </a:xfrm>
        </p:grpSpPr>
        <p:pic>
          <p:nvPicPr>
            <p:cNvPr id="35" name="Picture 34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36" name="Rectangle 35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6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11127526" y="2377132"/>
            <a:ext cx="1230387" cy="1230387"/>
            <a:chOff x="188218" y="2388819"/>
            <a:chExt cx="1230387" cy="1230387"/>
          </a:xfrm>
        </p:grpSpPr>
        <p:pic>
          <p:nvPicPr>
            <p:cNvPr id="38" name="Picture 37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39" name="Rectangle 38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6</a:t>
              </a:r>
              <a:endParaRPr lang="en-GB" dirty="0"/>
            </a:p>
          </p:txBody>
        </p:sp>
      </p:grpSp>
      <p:pic>
        <p:nvPicPr>
          <p:cNvPr id="40" name="Picture 39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598" y="3749716"/>
            <a:ext cx="1095317" cy="1095317"/>
          </a:xfrm>
          <a:prstGeom prst="rect">
            <a:avLst/>
          </a:prstGeom>
        </p:spPr>
      </p:pic>
      <p:pic>
        <p:nvPicPr>
          <p:cNvPr id="41" name="Picture 40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211" y="3730342"/>
            <a:ext cx="1095317" cy="1095317"/>
          </a:xfrm>
          <a:prstGeom prst="rect">
            <a:avLst/>
          </a:prstGeom>
        </p:spPr>
      </p:pic>
      <p:pic>
        <p:nvPicPr>
          <p:cNvPr id="42" name="Picture 41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3383" y="3732393"/>
            <a:ext cx="1095317" cy="1095317"/>
          </a:xfrm>
          <a:prstGeom prst="rect">
            <a:avLst/>
          </a:prstGeom>
        </p:spPr>
      </p:pic>
      <p:pic>
        <p:nvPicPr>
          <p:cNvPr id="43" name="Picture 42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8572" y="3721718"/>
            <a:ext cx="1095317" cy="1095317"/>
          </a:xfrm>
          <a:prstGeom prst="rect">
            <a:avLst/>
          </a:prstGeom>
        </p:spPr>
      </p:pic>
      <p:pic>
        <p:nvPicPr>
          <p:cNvPr id="44" name="Picture 43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761" y="3727190"/>
            <a:ext cx="1095317" cy="1095317"/>
          </a:xfrm>
          <a:prstGeom prst="rect">
            <a:avLst/>
          </a:prstGeom>
        </p:spPr>
      </p:pic>
      <p:pic>
        <p:nvPicPr>
          <p:cNvPr id="45" name="Picture 44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822" y="3707373"/>
            <a:ext cx="1095317" cy="1095317"/>
          </a:xfrm>
          <a:prstGeom prst="rect">
            <a:avLst/>
          </a:prstGeom>
        </p:spPr>
      </p:pic>
      <p:pic>
        <p:nvPicPr>
          <p:cNvPr id="46" name="Picture 45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0859" y="3706117"/>
            <a:ext cx="1095317" cy="1095317"/>
          </a:xfrm>
          <a:prstGeom prst="rect">
            <a:avLst/>
          </a:prstGeom>
        </p:spPr>
      </p:pic>
      <p:pic>
        <p:nvPicPr>
          <p:cNvPr id="47" name="Picture 46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2912" y="3683926"/>
            <a:ext cx="1095317" cy="1095317"/>
          </a:xfrm>
          <a:prstGeom prst="rect">
            <a:avLst/>
          </a:prstGeom>
        </p:spPr>
      </p:pic>
      <p:pic>
        <p:nvPicPr>
          <p:cNvPr id="48" name="Picture 47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3037" y="3675813"/>
            <a:ext cx="1095317" cy="1095317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185450" y="5028532"/>
            <a:ext cx="2407164" cy="12205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60% exact agreement</a:t>
            </a:r>
            <a:endParaRPr lang="en-GB" dirty="0"/>
          </a:p>
        </p:txBody>
      </p:sp>
      <p:sp>
        <p:nvSpPr>
          <p:cNvPr id="52" name="Rounded Rectangle 51"/>
          <p:cNvSpPr/>
          <p:nvPr/>
        </p:nvSpPr>
        <p:spPr>
          <a:xfrm>
            <a:off x="5280412" y="5017173"/>
            <a:ext cx="2198416" cy="12205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Mean mark difference = -0.3 marks</a:t>
            </a:r>
            <a:endParaRPr lang="en-GB" dirty="0"/>
          </a:p>
        </p:txBody>
      </p:sp>
      <p:sp>
        <p:nvSpPr>
          <p:cNvPr id="56" name="Rounded Rectangle 55"/>
          <p:cNvSpPr/>
          <p:nvPr/>
        </p:nvSpPr>
        <p:spPr>
          <a:xfrm>
            <a:off x="2765205" y="5028532"/>
            <a:ext cx="2407164" cy="12205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r>
              <a:rPr lang="en-GB" dirty="0" smtClean="0"/>
              <a:t>0% agreement within +/-1 mark</a:t>
            </a:r>
            <a:endParaRPr lang="en-GB" dirty="0"/>
          </a:p>
        </p:txBody>
      </p:sp>
      <p:sp>
        <p:nvSpPr>
          <p:cNvPr id="50" name="TextBox 49"/>
          <p:cNvSpPr txBox="1"/>
          <p:nvPr/>
        </p:nvSpPr>
        <p:spPr>
          <a:xfrm>
            <a:off x="2207568" y="3290317"/>
            <a:ext cx="557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solidFill>
                  <a:srgbClr val="FF0000"/>
                </a:solidFill>
              </a:rPr>
              <a:t>-4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302166" y="3301251"/>
            <a:ext cx="557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solidFill>
                  <a:srgbClr val="FF0000"/>
                </a:solidFill>
              </a:rPr>
              <a:t>-1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359649" y="3261542"/>
            <a:ext cx="557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65773" y="3242456"/>
            <a:ext cx="557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05151" y="3242456"/>
            <a:ext cx="557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31355" y="3232349"/>
            <a:ext cx="557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41299" y="3211595"/>
            <a:ext cx="557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60319" y="3197220"/>
            <a:ext cx="557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60103" y="3207017"/>
            <a:ext cx="557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solidFill>
                  <a:srgbClr val="FF0000"/>
                </a:solidFill>
              </a:rPr>
              <a:t>+1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1472856" y="3177608"/>
            <a:ext cx="557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solidFill>
                  <a:srgbClr val="FF0000"/>
                </a:solidFill>
              </a:rPr>
              <a:t>+1</a:t>
            </a:r>
            <a:endParaRPr lang="en-GB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5686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0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metrics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300" y="950155"/>
            <a:ext cx="10972800" cy="1008112"/>
          </a:xfrm>
        </p:spPr>
        <p:txBody>
          <a:bodyPr/>
          <a:lstStyle/>
          <a:p>
            <a:r>
              <a:rPr lang="en-GB" dirty="0" smtClean="0"/>
              <a:t>To produce metrics, we </a:t>
            </a:r>
            <a:r>
              <a:rPr lang="en-GB" dirty="0"/>
              <a:t>need two or more independent marks per </a:t>
            </a:r>
            <a:r>
              <a:rPr lang="en-GB" dirty="0" smtClean="0"/>
              <a:t>item</a:t>
            </a:r>
          </a:p>
          <a:p>
            <a:r>
              <a:rPr lang="en-GB" dirty="0"/>
              <a:t>D</a:t>
            </a:r>
            <a:r>
              <a:rPr lang="en-GB" dirty="0" smtClean="0"/>
              <a:t>ata from marker monitoring e.g. seeding items</a:t>
            </a:r>
          </a:p>
          <a:p>
            <a:r>
              <a:rPr lang="en-GB" dirty="0" smtClean="0"/>
              <a:t>i.e. we’ve appropriated data produced for another purpose</a:t>
            </a:r>
          </a:p>
          <a:p>
            <a:endParaRPr lang="en-GB" dirty="0" smtClean="0"/>
          </a:p>
          <a:p>
            <a:endParaRPr lang="en-GB" dirty="0"/>
          </a:p>
        </p:txBody>
      </p:sp>
      <p:grpSp>
        <p:nvGrpSpPr>
          <p:cNvPr id="8" name="Group 7"/>
          <p:cNvGrpSpPr/>
          <p:nvPr/>
        </p:nvGrpSpPr>
        <p:grpSpPr>
          <a:xfrm>
            <a:off x="188218" y="2388819"/>
            <a:ext cx="1230387" cy="1230387"/>
            <a:chOff x="188218" y="2388819"/>
            <a:chExt cx="1230387" cy="1230387"/>
          </a:xfrm>
        </p:grpSpPr>
        <p:pic>
          <p:nvPicPr>
            <p:cNvPr id="4" name="Picture 3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pic>
        <p:nvPicPr>
          <p:cNvPr id="6" name="Picture 5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36" y="3731153"/>
            <a:ext cx="1095317" cy="10953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923" y="3668901"/>
            <a:ext cx="722809" cy="1039977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1849963" y="2482203"/>
            <a:ext cx="1230387" cy="1230387"/>
            <a:chOff x="188218" y="2388819"/>
            <a:chExt cx="1230387" cy="1230387"/>
          </a:xfrm>
        </p:grpSpPr>
        <p:pic>
          <p:nvPicPr>
            <p:cNvPr id="11" name="Picture 10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1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034743" y="2452386"/>
            <a:ext cx="1230387" cy="1230387"/>
            <a:chOff x="188218" y="2388819"/>
            <a:chExt cx="1230387" cy="1230387"/>
          </a:xfrm>
        </p:grpSpPr>
        <p:pic>
          <p:nvPicPr>
            <p:cNvPr id="14" name="Picture 13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5</a:t>
              </a:r>
              <a:endParaRPr lang="en-GB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058572" y="2438514"/>
            <a:ext cx="1230387" cy="1230387"/>
            <a:chOff x="188218" y="2388819"/>
            <a:chExt cx="1230387" cy="1230387"/>
          </a:xfrm>
        </p:grpSpPr>
        <p:pic>
          <p:nvPicPr>
            <p:cNvPr id="17" name="Picture 16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098333" y="2429058"/>
            <a:ext cx="1230387" cy="1230387"/>
            <a:chOff x="188218" y="2388819"/>
            <a:chExt cx="1230387" cy="1230387"/>
          </a:xfrm>
        </p:grpSpPr>
        <p:pic>
          <p:nvPicPr>
            <p:cNvPr id="20" name="Picture 19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8109542" y="2411614"/>
            <a:ext cx="1230387" cy="1230387"/>
            <a:chOff x="188218" y="2388819"/>
            <a:chExt cx="1230387" cy="1230387"/>
          </a:xfrm>
        </p:grpSpPr>
        <p:pic>
          <p:nvPicPr>
            <p:cNvPr id="23" name="Picture 22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9127838" y="2396807"/>
            <a:ext cx="1230387" cy="1230387"/>
            <a:chOff x="188218" y="2388819"/>
            <a:chExt cx="1230387" cy="1230387"/>
          </a:xfrm>
        </p:grpSpPr>
        <p:pic>
          <p:nvPicPr>
            <p:cNvPr id="26" name="Picture 25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27" name="Rectangle 26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917598" y="2475730"/>
            <a:ext cx="1230387" cy="1230387"/>
            <a:chOff x="188218" y="2388819"/>
            <a:chExt cx="1230387" cy="1230387"/>
          </a:xfrm>
        </p:grpSpPr>
        <p:pic>
          <p:nvPicPr>
            <p:cNvPr id="29" name="Picture 28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4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967211" y="2466379"/>
            <a:ext cx="1230387" cy="1230387"/>
            <a:chOff x="188218" y="2388819"/>
            <a:chExt cx="1230387" cy="1230387"/>
          </a:xfrm>
        </p:grpSpPr>
        <p:pic>
          <p:nvPicPr>
            <p:cNvPr id="32" name="Picture 31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33" name="Rectangle 32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0126256" y="2391939"/>
            <a:ext cx="1230387" cy="1230387"/>
            <a:chOff x="188218" y="2388819"/>
            <a:chExt cx="1230387" cy="1230387"/>
          </a:xfrm>
        </p:grpSpPr>
        <p:pic>
          <p:nvPicPr>
            <p:cNvPr id="35" name="Picture 34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36" name="Rectangle 35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6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11127526" y="2377132"/>
            <a:ext cx="1230387" cy="1230387"/>
            <a:chOff x="188218" y="2388819"/>
            <a:chExt cx="1230387" cy="1230387"/>
          </a:xfrm>
        </p:grpSpPr>
        <p:pic>
          <p:nvPicPr>
            <p:cNvPr id="38" name="Picture 37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39" name="Rectangle 38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6</a:t>
              </a:r>
              <a:endParaRPr lang="en-GB" dirty="0"/>
            </a:p>
          </p:txBody>
        </p:sp>
      </p:grpSp>
      <p:pic>
        <p:nvPicPr>
          <p:cNvPr id="40" name="Picture 39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598" y="3749716"/>
            <a:ext cx="1095317" cy="1095317"/>
          </a:xfrm>
          <a:prstGeom prst="rect">
            <a:avLst/>
          </a:prstGeom>
        </p:spPr>
      </p:pic>
      <p:pic>
        <p:nvPicPr>
          <p:cNvPr id="41" name="Picture 40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211" y="3730342"/>
            <a:ext cx="1095317" cy="1095317"/>
          </a:xfrm>
          <a:prstGeom prst="rect">
            <a:avLst/>
          </a:prstGeom>
        </p:spPr>
      </p:pic>
      <p:pic>
        <p:nvPicPr>
          <p:cNvPr id="42" name="Picture 41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3383" y="3732393"/>
            <a:ext cx="1095317" cy="1095317"/>
          </a:xfrm>
          <a:prstGeom prst="rect">
            <a:avLst/>
          </a:prstGeom>
        </p:spPr>
      </p:pic>
      <p:pic>
        <p:nvPicPr>
          <p:cNvPr id="43" name="Picture 42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8572" y="3721718"/>
            <a:ext cx="1095317" cy="1095317"/>
          </a:xfrm>
          <a:prstGeom prst="rect">
            <a:avLst/>
          </a:prstGeom>
        </p:spPr>
      </p:pic>
      <p:pic>
        <p:nvPicPr>
          <p:cNvPr id="44" name="Picture 43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761" y="3727190"/>
            <a:ext cx="1095317" cy="1095317"/>
          </a:xfrm>
          <a:prstGeom prst="rect">
            <a:avLst/>
          </a:prstGeom>
        </p:spPr>
      </p:pic>
      <p:pic>
        <p:nvPicPr>
          <p:cNvPr id="45" name="Picture 44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822" y="3707373"/>
            <a:ext cx="1095317" cy="1095317"/>
          </a:xfrm>
          <a:prstGeom prst="rect">
            <a:avLst/>
          </a:prstGeom>
        </p:spPr>
      </p:pic>
      <p:pic>
        <p:nvPicPr>
          <p:cNvPr id="46" name="Picture 45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0859" y="3706117"/>
            <a:ext cx="1095317" cy="1095317"/>
          </a:xfrm>
          <a:prstGeom prst="rect">
            <a:avLst/>
          </a:prstGeom>
        </p:spPr>
      </p:pic>
      <p:pic>
        <p:nvPicPr>
          <p:cNvPr id="47" name="Picture 46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2912" y="3683926"/>
            <a:ext cx="1095317" cy="1095317"/>
          </a:xfrm>
          <a:prstGeom prst="rect">
            <a:avLst/>
          </a:prstGeom>
        </p:spPr>
      </p:pic>
      <p:pic>
        <p:nvPicPr>
          <p:cNvPr id="48" name="Picture 47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3037" y="3675813"/>
            <a:ext cx="1095317" cy="1095317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185450" y="5028532"/>
            <a:ext cx="2407164" cy="12205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60% exact agreement</a:t>
            </a:r>
            <a:endParaRPr lang="en-GB" dirty="0"/>
          </a:p>
        </p:txBody>
      </p:sp>
      <p:sp>
        <p:nvSpPr>
          <p:cNvPr id="52" name="Rounded Rectangle 51"/>
          <p:cNvSpPr/>
          <p:nvPr/>
        </p:nvSpPr>
        <p:spPr>
          <a:xfrm>
            <a:off x="5280412" y="5017173"/>
            <a:ext cx="2198416" cy="12205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Mean mark difference = -0.3 marks</a:t>
            </a:r>
            <a:endParaRPr lang="en-GB" dirty="0"/>
          </a:p>
        </p:txBody>
      </p:sp>
      <p:sp>
        <p:nvSpPr>
          <p:cNvPr id="53" name="Rounded Rectangle 52"/>
          <p:cNvSpPr/>
          <p:nvPr/>
        </p:nvSpPr>
        <p:spPr>
          <a:xfrm>
            <a:off x="7589608" y="4981674"/>
            <a:ext cx="2139970" cy="12343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Standard Deviation = 1.418</a:t>
            </a:r>
            <a:endParaRPr lang="en-GB" dirty="0"/>
          </a:p>
        </p:txBody>
      </p:sp>
      <p:sp>
        <p:nvSpPr>
          <p:cNvPr id="56" name="Rounded Rectangle 55"/>
          <p:cNvSpPr/>
          <p:nvPr/>
        </p:nvSpPr>
        <p:spPr>
          <a:xfrm>
            <a:off x="2765205" y="5028532"/>
            <a:ext cx="2407164" cy="12205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r>
              <a:rPr lang="en-GB" dirty="0" smtClean="0"/>
              <a:t>0% agreement within +/-1 mark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4469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metrics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300" y="950155"/>
            <a:ext cx="10972800" cy="1008112"/>
          </a:xfrm>
        </p:spPr>
        <p:txBody>
          <a:bodyPr/>
          <a:lstStyle/>
          <a:p>
            <a:r>
              <a:rPr lang="en-GB" dirty="0" smtClean="0"/>
              <a:t>To produce metrics, we </a:t>
            </a:r>
            <a:r>
              <a:rPr lang="en-GB" dirty="0"/>
              <a:t>need two or more independent marks per </a:t>
            </a:r>
            <a:r>
              <a:rPr lang="en-GB" dirty="0" smtClean="0"/>
              <a:t>item</a:t>
            </a:r>
          </a:p>
          <a:p>
            <a:r>
              <a:rPr lang="en-GB" dirty="0"/>
              <a:t>D</a:t>
            </a:r>
            <a:r>
              <a:rPr lang="en-GB" dirty="0" smtClean="0"/>
              <a:t>ata from marker monitoring e.g. seeding items</a:t>
            </a:r>
          </a:p>
          <a:p>
            <a:r>
              <a:rPr lang="en-GB" dirty="0" smtClean="0"/>
              <a:t>i.e. we’ve appropriated data produced for another purpose</a:t>
            </a:r>
          </a:p>
          <a:p>
            <a:endParaRPr lang="en-GB" dirty="0" smtClean="0"/>
          </a:p>
          <a:p>
            <a:endParaRPr lang="en-GB" dirty="0"/>
          </a:p>
        </p:txBody>
      </p:sp>
      <p:grpSp>
        <p:nvGrpSpPr>
          <p:cNvPr id="8" name="Group 7"/>
          <p:cNvGrpSpPr/>
          <p:nvPr/>
        </p:nvGrpSpPr>
        <p:grpSpPr>
          <a:xfrm>
            <a:off x="188218" y="2388819"/>
            <a:ext cx="1230387" cy="1230387"/>
            <a:chOff x="188218" y="2388819"/>
            <a:chExt cx="1230387" cy="1230387"/>
          </a:xfrm>
        </p:grpSpPr>
        <p:pic>
          <p:nvPicPr>
            <p:cNvPr id="4" name="Picture 3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pic>
        <p:nvPicPr>
          <p:cNvPr id="6" name="Picture 5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36" y="3731153"/>
            <a:ext cx="1095317" cy="10953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923" y="3668901"/>
            <a:ext cx="722809" cy="1039977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1849963" y="2482203"/>
            <a:ext cx="1230387" cy="1230387"/>
            <a:chOff x="188218" y="2388819"/>
            <a:chExt cx="1230387" cy="1230387"/>
          </a:xfrm>
        </p:grpSpPr>
        <p:pic>
          <p:nvPicPr>
            <p:cNvPr id="11" name="Picture 10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1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034743" y="2452386"/>
            <a:ext cx="1230387" cy="1230387"/>
            <a:chOff x="188218" y="2388819"/>
            <a:chExt cx="1230387" cy="1230387"/>
          </a:xfrm>
        </p:grpSpPr>
        <p:pic>
          <p:nvPicPr>
            <p:cNvPr id="14" name="Picture 13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5</a:t>
              </a:r>
              <a:endParaRPr lang="en-GB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058572" y="2438514"/>
            <a:ext cx="1230387" cy="1230387"/>
            <a:chOff x="188218" y="2388819"/>
            <a:chExt cx="1230387" cy="1230387"/>
          </a:xfrm>
        </p:grpSpPr>
        <p:pic>
          <p:nvPicPr>
            <p:cNvPr id="17" name="Picture 16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098333" y="2429058"/>
            <a:ext cx="1230387" cy="1230387"/>
            <a:chOff x="188218" y="2388819"/>
            <a:chExt cx="1230387" cy="1230387"/>
          </a:xfrm>
        </p:grpSpPr>
        <p:pic>
          <p:nvPicPr>
            <p:cNvPr id="20" name="Picture 19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8109542" y="2411614"/>
            <a:ext cx="1230387" cy="1230387"/>
            <a:chOff x="188218" y="2388819"/>
            <a:chExt cx="1230387" cy="1230387"/>
          </a:xfrm>
        </p:grpSpPr>
        <p:pic>
          <p:nvPicPr>
            <p:cNvPr id="23" name="Picture 22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9127838" y="2396807"/>
            <a:ext cx="1230387" cy="1230387"/>
            <a:chOff x="188218" y="2388819"/>
            <a:chExt cx="1230387" cy="1230387"/>
          </a:xfrm>
        </p:grpSpPr>
        <p:pic>
          <p:nvPicPr>
            <p:cNvPr id="26" name="Picture 25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27" name="Rectangle 26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917598" y="2475730"/>
            <a:ext cx="1230387" cy="1230387"/>
            <a:chOff x="188218" y="2388819"/>
            <a:chExt cx="1230387" cy="1230387"/>
          </a:xfrm>
        </p:grpSpPr>
        <p:pic>
          <p:nvPicPr>
            <p:cNvPr id="29" name="Picture 28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4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967211" y="2466379"/>
            <a:ext cx="1230387" cy="1230387"/>
            <a:chOff x="188218" y="2388819"/>
            <a:chExt cx="1230387" cy="1230387"/>
          </a:xfrm>
        </p:grpSpPr>
        <p:pic>
          <p:nvPicPr>
            <p:cNvPr id="32" name="Picture 31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33" name="Rectangle 32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0126256" y="2391939"/>
            <a:ext cx="1230387" cy="1230387"/>
            <a:chOff x="188218" y="2388819"/>
            <a:chExt cx="1230387" cy="1230387"/>
          </a:xfrm>
        </p:grpSpPr>
        <p:pic>
          <p:nvPicPr>
            <p:cNvPr id="35" name="Picture 34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36" name="Rectangle 35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6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11127526" y="2377132"/>
            <a:ext cx="1230387" cy="1230387"/>
            <a:chOff x="188218" y="2388819"/>
            <a:chExt cx="1230387" cy="1230387"/>
          </a:xfrm>
        </p:grpSpPr>
        <p:pic>
          <p:nvPicPr>
            <p:cNvPr id="38" name="Picture 37" descr="external image paper_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8218" y="2388819"/>
              <a:ext cx="1230387" cy="1230387"/>
            </a:xfrm>
            <a:prstGeom prst="rect">
              <a:avLst/>
            </a:prstGeom>
          </p:spPr>
        </p:pic>
        <p:sp>
          <p:nvSpPr>
            <p:cNvPr id="39" name="Rectangle 38"/>
            <p:cNvSpPr/>
            <p:nvPr/>
          </p:nvSpPr>
          <p:spPr>
            <a:xfrm>
              <a:off x="570829" y="2859996"/>
              <a:ext cx="360040" cy="28803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6</a:t>
              </a:r>
              <a:endParaRPr lang="en-GB" dirty="0"/>
            </a:p>
          </p:txBody>
        </p:sp>
      </p:grpSp>
      <p:pic>
        <p:nvPicPr>
          <p:cNvPr id="40" name="Picture 39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598" y="3749716"/>
            <a:ext cx="1095317" cy="1095317"/>
          </a:xfrm>
          <a:prstGeom prst="rect">
            <a:avLst/>
          </a:prstGeom>
        </p:spPr>
      </p:pic>
      <p:pic>
        <p:nvPicPr>
          <p:cNvPr id="41" name="Picture 40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211" y="3730342"/>
            <a:ext cx="1095317" cy="1095317"/>
          </a:xfrm>
          <a:prstGeom prst="rect">
            <a:avLst/>
          </a:prstGeom>
        </p:spPr>
      </p:pic>
      <p:pic>
        <p:nvPicPr>
          <p:cNvPr id="42" name="Picture 41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3383" y="3732393"/>
            <a:ext cx="1095317" cy="1095317"/>
          </a:xfrm>
          <a:prstGeom prst="rect">
            <a:avLst/>
          </a:prstGeom>
        </p:spPr>
      </p:pic>
      <p:pic>
        <p:nvPicPr>
          <p:cNvPr id="43" name="Picture 42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8572" y="3721718"/>
            <a:ext cx="1095317" cy="1095317"/>
          </a:xfrm>
          <a:prstGeom prst="rect">
            <a:avLst/>
          </a:prstGeom>
        </p:spPr>
      </p:pic>
      <p:pic>
        <p:nvPicPr>
          <p:cNvPr id="44" name="Picture 43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761" y="3727190"/>
            <a:ext cx="1095317" cy="1095317"/>
          </a:xfrm>
          <a:prstGeom prst="rect">
            <a:avLst/>
          </a:prstGeom>
        </p:spPr>
      </p:pic>
      <p:pic>
        <p:nvPicPr>
          <p:cNvPr id="45" name="Picture 44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822" y="3707373"/>
            <a:ext cx="1095317" cy="1095317"/>
          </a:xfrm>
          <a:prstGeom prst="rect">
            <a:avLst/>
          </a:prstGeom>
        </p:spPr>
      </p:pic>
      <p:pic>
        <p:nvPicPr>
          <p:cNvPr id="46" name="Picture 45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0859" y="3706117"/>
            <a:ext cx="1095317" cy="1095317"/>
          </a:xfrm>
          <a:prstGeom prst="rect">
            <a:avLst/>
          </a:prstGeom>
        </p:spPr>
      </p:pic>
      <p:pic>
        <p:nvPicPr>
          <p:cNvPr id="47" name="Picture 46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2912" y="3683926"/>
            <a:ext cx="1095317" cy="1095317"/>
          </a:xfrm>
          <a:prstGeom prst="rect">
            <a:avLst/>
          </a:prstGeom>
        </p:spPr>
      </p:pic>
      <p:pic>
        <p:nvPicPr>
          <p:cNvPr id="48" name="Picture 47" descr="Research - Jean-François Stic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3037" y="3675813"/>
            <a:ext cx="1095317" cy="1095317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185450" y="5028532"/>
            <a:ext cx="2407164" cy="12205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60% exact agreement</a:t>
            </a:r>
            <a:endParaRPr lang="en-GB" dirty="0"/>
          </a:p>
        </p:txBody>
      </p:sp>
      <p:sp>
        <p:nvSpPr>
          <p:cNvPr id="52" name="Rounded Rectangle 51"/>
          <p:cNvSpPr/>
          <p:nvPr/>
        </p:nvSpPr>
        <p:spPr>
          <a:xfrm>
            <a:off x="5280412" y="5017173"/>
            <a:ext cx="2198416" cy="12205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Mean mark difference = 0.4 marks</a:t>
            </a:r>
            <a:endParaRPr lang="en-GB" dirty="0"/>
          </a:p>
        </p:txBody>
      </p:sp>
      <p:sp>
        <p:nvSpPr>
          <p:cNvPr id="53" name="Rounded Rectangle 52"/>
          <p:cNvSpPr/>
          <p:nvPr/>
        </p:nvSpPr>
        <p:spPr>
          <a:xfrm>
            <a:off x="7589608" y="4981674"/>
            <a:ext cx="2139970" cy="12343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Standard Deviation = 1.418</a:t>
            </a:r>
            <a:endParaRPr lang="en-GB" dirty="0"/>
          </a:p>
        </p:txBody>
      </p:sp>
      <p:sp>
        <p:nvSpPr>
          <p:cNvPr id="54" name="Rounded Rectangle 53"/>
          <p:cNvSpPr/>
          <p:nvPr/>
        </p:nvSpPr>
        <p:spPr>
          <a:xfrm>
            <a:off x="9835338" y="4981674"/>
            <a:ext cx="2277098" cy="12343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6" name="Rounded Rectangle 55"/>
          <p:cNvSpPr/>
          <p:nvPr/>
        </p:nvSpPr>
        <p:spPr>
          <a:xfrm>
            <a:off x="2765205" y="5028532"/>
            <a:ext cx="2407164" cy="12205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r>
              <a:rPr lang="en-GB" dirty="0" smtClean="0"/>
              <a:t>0% agreement within +/-1 mark</a:t>
            </a:r>
            <a:endParaRPr lang="en-GB" dirty="0"/>
          </a:p>
        </p:txBody>
      </p:sp>
      <p:graphicFrame>
        <p:nvGraphicFramePr>
          <p:cNvPr id="57" name="Chart 5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3346791"/>
              </p:ext>
            </p:extLst>
          </p:nvPr>
        </p:nvGraphicFramePr>
        <p:xfrm>
          <a:off x="9664299" y="4669058"/>
          <a:ext cx="2693614" cy="18562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89650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22306" y="404818"/>
            <a:ext cx="10972794" cy="574675"/>
          </a:xfrm>
        </p:spPr>
        <p:txBody>
          <a:bodyPr/>
          <a:lstStyle/>
          <a:p>
            <a:r>
              <a:rPr lang="en-GB" dirty="0"/>
              <a:t>Possible reasons for the award of a ‘questionable’ mark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rgbClr val="0000FF"/>
                </a:solidFill>
              </a:rPr>
              <a:t>Procedural error</a:t>
            </a:r>
            <a:endParaRPr lang="en-GB" dirty="0"/>
          </a:p>
          <a:p>
            <a:pPr lvl="1"/>
            <a:r>
              <a:rPr lang="en-GB" dirty="0"/>
              <a:t>examiner recorded their mark incorrectly</a:t>
            </a:r>
            <a:r>
              <a:rPr lang="en-GB" sz="1800" dirty="0"/>
              <a:t> (e.g. recorded ‘6’ not ‘7’)</a:t>
            </a:r>
            <a:endParaRPr lang="en-GB" dirty="0"/>
          </a:p>
          <a:p>
            <a:pPr lvl="1"/>
            <a:r>
              <a:rPr lang="en-GB" dirty="0"/>
              <a:t>examiner failed to scrutinise all of the evidence</a:t>
            </a:r>
            <a:r>
              <a:rPr lang="en-GB" sz="1800" dirty="0"/>
              <a:t> (e.g. final paragraph over the page)</a:t>
            </a:r>
            <a:endParaRPr lang="en-GB" sz="2000" dirty="0"/>
          </a:p>
          <a:p>
            <a:r>
              <a:rPr lang="en-GB" dirty="0">
                <a:solidFill>
                  <a:srgbClr val="0000FF"/>
                </a:solidFill>
              </a:rPr>
              <a:t>Attentional error</a:t>
            </a:r>
            <a:endParaRPr lang="en-GB" dirty="0"/>
          </a:p>
          <a:p>
            <a:pPr lvl="1"/>
            <a:r>
              <a:rPr lang="en-GB" dirty="0"/>
              <a:t>examiner failed to spot significant evidence</a:t>
            </a:r>
            <a:r>
              <a:rPr lang="en-GB" sz="1800" dirty="0"/>
              <a:t> (e.g. incorrect spellings, like ‘boats’ not ‘boots’)</a:t>
            </a:r>
          </a:p>
          <a:p>
            <a:pPr lvl="1"/>
            <a:r>
              <a:rPr lang="en-GB" dirty="0"/>
              <a:t>examiner misread words or passages</a:t>
            </a:r>
            <a:r>
              <a:rPr lang="en-GB" sz="1800" dirty="0"/>
              <a:t> (e.g. ‘work in learn groups’ vs. ‘work in team groups’)</a:t>
            </a:r>
            <a:endParaRPr lang="en-GB" dirty="0"/>
          </a:p>
          <a:p>
            <a:r>
              <a:rPr lang="en-GB" dirty="0">
                <a:solidFill>
                  <a:srgbClr val="0000FF"/>
                </a:solidFill>
              </a:rPr>
              <a:t>Inferential uncertainty</a:t>
            </a:r>
            <a:endParaRPr lang="en-GB" dirty="0"/>
          </a:p>
          <a:p>
            <a:pPr lvl="1"/>
            <a:r>
              <a:rPr lang="en-GB" dirty="0"/>
              <a:t>examiner over-/under-interpreted ambiguous evidence</a:t>
            </a:r>
            <a:r>
              <a:rPr lang="en-GB" sz="1800" dirty="0"/>
              <a:t> (e.g. ‘we just [?] to the teachers’)</a:t>
            </a:r>
          </a:p>
          <a:p>
            <a:r>
              <a:rPr lang="en-GB" dirty="0">
                <a:solidFill>
                  <a:srgbClr val="0000FF"/>
                </a:solidFill>
              </a:rPr>
              <a:t>Definitional uncertainty</a:t>
            </a:r>
            <a:endParaRPr lang="en-GB" dirty="0"/>
          </a:p>
          <a:p>
            <a:pPr lvl="1"/>
            <a:r>
              <a:rPr lang="en-GB" dirty="0"/>
              <a:t>examiners’ views differ on the definition of the construct and its quality scale, i.e. quality means subtly different things to different examiners </a:t>
            </a:r>
            <a:r>
              <a:rPr lang="en-GB" sz="1800" dirty="0"/>
              <a:t>(e.g. travel writing quality)</a:t>
            </a:r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335360" y="5949280"/>
            <a:ext cx="11856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Consistency metrics do not differentiate between errors and uncertainties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3954187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Data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300" y="1735163"/>
            <a:ext cx="10972800" cy="2808312"/>
          </a:xfrm>
        </p:spPr>
        <p:txBody>
          <a:bodyPr numCol="2"/>
          <a:lstStyle/>
          <a:p>
            <a:pPr lvl="1"/>
            <a:r>
              <a:rPr lang="en-GB" dirty="0" smtClean="0"/>
              <a:t>Business</a:t>
            </a:r>
          </a:p>
          <a:p>
            <a:pPr lvl="1"/>
            <a:r>
              <a:rPr lang="en-GB" dirty="0" smtClean="0"/>
              <a:t>Physics</a:t>
            </a:r>
          </a:p>
          <a:p>
            <a:pPr lvl="1"/>
            <a:r>
              <a:rPr lang="en-GB" dirty="0" smtClean="0"/>
              <a:t>Geography</a:t>
            </a:r>
          </a:p>
          <a:p>
            <a:pPr lvl="1"/>
            <a:r>
              <a:rPr lang="en-GB" dirty="0" smtClean="0"/>
              <a:t>Spanish</a:t>
            </a:r>
          </a:p>
          <a:p>
            <a:pPr lvl="1"/>
            <a:r>
              <a:rPr lang="en-GB" dirty="0" smtClean="0"/>
              <a:t>Psychology</a:t>
            </a:r>
          </a:p>
          <a:p>
            <a:pPr lvl="1"/>
            <a:r>
              <a:rPr lang="en-GB" dirty="0" smtClean="0"/>
              <a:t>English</a:t>
            </a:r>
          </a:p>
          <a:p>
            <a:pPr lvl="1"/>
            <a:r>
              <a:rPr lang="en-GB" dirty="0" smtClean="0"/>
              <a:t>English Literature</a:t>
            </a:r>
          </a:p>
          <a:p>
            <a:pPr lvl="1"/>
            <a:r>
              <a:rPr lang="en-GB" dirty="0" smtClean="0"/>
              <a:t>Religious Studies</a:t>
            </a:r>
          </a:p>
          <a:p>
            <a:pPr lvl="1"/>
            <a:r>
              <a:rPr lang="en-GB" dirty="0" smtClean="0"/>
              <a:t>History</a:t>
            </a:r>
          </a:p>
          <a:p>
            <a:pPr lvl="1"/>
            <a:r>
              <a:rPr lang="en-GB" dirty="0" smtClean="0"/>
              <a:t>Physical Education</a:t>
            </a:r>
          </a:p>
          <a:p>
            <a:pPr lvl="1"/>
            <a:r>
              <a:rPr lang="en-GB" dirty="0" smtClean="0"/>
              <a:t>French</a:t>
            </a:r>
          </a:p>
          <a:p>
            <a:pPr lvl="1"/>
            <a:r>
              <a:rPr lang="en-GB" dirty="0" smtClean="0"/>
              <a:t>Sociology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22300" y="947520"/>
            <a:ext cx="10972800" cy="28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>
            <a:lvl1pPr marL="313200" indent="-313200" algn="l" rtl="0" eaLnBrk="1" fontAlgn="base" hangingPunct="1">
              <a:spcBef>
                <a:spcPts val="300"/>
              </a:spcBef>
              <a:spcAft>
                <a:spcPts val="600"/>
              </a:spcAft>
              <a:buClr>
                <a:srgbClr val="86BE3D"/>
              </a:buClr>
              <a:buFont typeface="Arial" panose="020B0604020202020204" pitchFamily="34" charset="0"/>
              <a:buChar char="■"/>
              <a:defRPr sz="2400" b="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625475" indent="-301625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86BE3D"/>
              </a:buClr>
              <a:buFont typeface="Arial" panose="020B0604020202020204" pitchFamily="34" charset="0"/>
              <a:buChar char="□"/>
              <a:defRPr sz="2200">
                <a:solidFill>
                  <a:srgbClr val="4D4D4D"/>
                </a:solidFill>
                <a:latin typeface="+mn-lt"/>
              </a:defRPr>
            </a:lvl2pPr>
            <a:lvl3pPr marL="893763" indent="-2476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83B81A"/>
              </a:buClr>
              <a:buFont typeface="Arial" panose="020B0604020202020204" pitchFamily="34" charset="0"/>
              <a:buChar char="▪"/>
              <a:defRPr sz="2000" b="0">
                <a:solidFill>
                  <a:srgbClr val="4D4D4D"/>
                </a:solidFill>
                <a:latin typeface="+mn-lt"/>
              </a:defRPr>
            </a:lvl3pPr>
            <a:lvl4pPr marL="1257300" indent="-255588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▫"/>
              <a:defRPr sz="1800">
                <a:solidFill>
                  <a:srgbClr val="4D4D4D"/>
                </a:solidFill>
                <a:latin typeface="+mn-lt"/>
              </a:defRPr>
            </a:lvl4pPr>
            <a:lvl5pPr marL="1526400" indent="-25560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›"/>
              <a:defRPr sz="1800">
                <a:solidFill>
                  <a:srgbClr val="4D4D4D"/>
                </a:solidFill>
                <a:latin typeface="+mn-lt"/>
              </a:defRPr>
            </a:lvl5pPr>
            <a:lvl6pPr marL="914400" algn="l" rtl="0" eaLnBrk="1" fontAlgn="base" hangingPunct="1">
              <a:spcBef>
                <a:spcPct val="5000"/>
              </a:spcBef>
              <a:spcAft>
                <a:spcPct val="5000"/>
              </a:spcAft>
              <a:buChar char="»"/>
              <a:defRPr sz="1500">
                <a:solidFill>
                  <a:srgbClr val="4D4D4D"/>
                </a:solidFill>
                <a:latin typeface="+mn-lt"/>
              </a:defRPr>
            </a:lvl6pPr>
            <a:lvl7pPr marL="1257300" algn="l" rtl="0" eaLnBrk="1" fontAlgn="base" hangingPunct="1">
              <a:spcBef>
                <a:spcPct val="5000"/>
              </a:spcBef>
              <a:spcAft>
                <a:spcPct val="5000"/>
              </a:spcAft>
              <a:buChar char="»"/>
              <a:defRPr sz="1500">
                <a:solidFill>
                  <a:srgbClr val="4D4D4D"/>
                </a:solidFill>
                <a:latin typeface="+mn-lt"/>
              </a:defRPr>
            </a:lvl7pPr>
            <a:lvl8pPr marL="1600200" algn="l" rtl="0" eaLnBrk="1" fontAlgn="base" hangingPunct="1">
              <a:spcBef>
                <a:spcPct val="5000"/>
              </a:spcBef>
              <a:spcAft>
                <a:spcPct val="5000"/>
              </a:spcAft>
              <a:buChar char="»"/>
              <a:defRPr sz="1500">
                <a:solidFill>
                  <a:srgbClr val="4D4D4D"/>
                </a:solidFill>
                <a:latin typeface="+mn-lt"/>
              </a:defRPr>
            </a:lvl8pPr>
            <a:lvl9pPr marL="1943100" algn="l" rtl="0" eaLnBrk="1" fontAlgn="base" hangingPunct="1">
              <a:spcBef>
                <a:spcPct val="5000"/>
              </a:spcBef>
              <a:spcAft>
                <a:spcPct val="5000"/>
              </a:spcAft>
              <a:buChar char="»"/>
              <a:defRPr sz="1500">
                <a:solidFill>
                  <a:srgbClr val="4D4D4D"/>
                </a:solidFill>
                <a:latin typeface="+mn-lt"/>
              </a:defRPr>
            </a:lvl9pPr>
          </a:lstStyle>
          <a:p>
            <a:r>
              <a:rPr lang="en-GB" kern="0" dirty="0" smtClean="0"/>
              <a:t>Summer 2013, 2014 and 2015 mark-remark data at item level for all items on all online marked units for the following subjects (GCSE, AS and A):  </a:t>
            </a: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787729"/>
              </p:ext>
            </p:extLst>
          </p:nvPr>
        </p:nvGraphicFramePr>
        <p:xfrm>
          <a:off x="1991544" y="4298534"/>
          <a:ext cx="6768753" cy="208381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56251">
                  <a:extLst>
                    <a:ext uri="{9D8B030D-6E8A-4147-A177-3AD203B41FA5}">
                      <a16:colId xmlns:a16="http://schemas.microsoft.com/office/drawing/2014/main" val="818843049"/>
                    </a:ext>
                  </a:extLst>
                </a:gridCol>
                <a:gridCol w="2256251">
                  <a:extLst>
                    <a:ext uri="{9D8B030D-6E8A-4147-A177-3AD203B41FA5}">
                      <a16:colId xmlns:a16="http://schemas.microsoft.com/office/drawing/2014/main" val="4011555408"/>
                    </a:ext>
                  </a:extLst>
                </a:gridCol>
                <a:gridCol w="2256251">
                  <a:extLst>
                    <a:ext uri="{9D8B030D-6E8A-4147-A177-3AD203B41FA5}">
                      <a16:colId xmlns:a16="http://schemas.microsoft.com/office/drawing/2014/main" val="1777007217"/>
                    </a:ext>
                  </a:extLst>
                </a:gridCol>
              </a:tblGrid>
              <a:tr h="474146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Year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aseline="0" dirty="0" smtClean="0"/>
                        <a:t>Seed Items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Components/Units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894308"/>
                  </a:ext>
                </a:extLst>
              </a:tr>
              <a:tr h="402418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2013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3.1m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358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523419"/>
                  </a:ext>
                </a:extLst>
              </a:tr>
              <a:tr h="402418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2014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4.1m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378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215269"/>
                  </a:ext>
                </a:extLst>
              </a:tr>
              <a:tr h="402418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2015</a:t>
                      </a:r>
                      <a:endParaRPr lang="en-GB" sz="1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4.6m</a:t>
                      </a:r>
                      <a:endParaRPr lang="en-GB" sz="1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376</a:t>
                      </a:r>
                      <a:endParaRPr lang="en-GB" sz="1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6453697"/>
                  </a:ext>
                </a:extLst>
              </a:tr>
              <a:tr h="402418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Total</a:t>
                      </a:r>
                      <a:endParaRPr lang="en-GB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11.8m</a:t>
                      </a:r>
                      <a:endParaRPr lang="en-GB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1,112</a:t>
                      </a:r>
                      <a:endParaRPr lang="en-GB" sz="1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6771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9808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Metric requirements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826" y="1225895"/>
            <a:ext cx="10972800" cy="5112568"/>
          </a:xfrm>
        </p:spPr>
        <p:txBody>
          <a:bodyPr/>
          <a:lstStyle/>
          <a:p>
            <a:r>
              <a:rPr lang="en-GB" dirty="0" smtClean="0"/>
              <a:t>Ideally marking reliability metrics should be presented at different levels of granularity, but that qualification level is particularly desirable.</a:t>
            </a:r>
          </a:p>
          <a:p>
            <a:pPr lvl="1"/>
            <a:r>
              <a:rPr lang="en-GB" dirty="0" smtClean="0"/>
              <a:t>Use bottom up approach:</a:t>
            </a:r>
          </a:p>
          <a:p>
            <a:pPr marL="323850" lvl="1" indent="0">
              <a:buNone/>
            </a:pP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2783632" y="5062170"/>
            <a:ext cx="6624736" cy="95911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Item Metrics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3935760" y="4077072"/>
            <a:ext cx="4320480" cy="95911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Component Metrics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4295800" y="3117954"/>
            <a:ext cx="3600400" cy="959118"/>
          </a:xfrm>
          <a:prstGeom prst="rect">
            <a:avLst/>
          </a:prstGeom>
          <a:solidFill>
            <a:srgbClr val="86BE3D"/>
          </a:solidFill>
          <a:ln>
            <a:solidFill>
              <a:srgbClr val="68BD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Qualification Metric</a:t>
            </a:r>
            <a:endParaRPr lang="en-GB" dirty="0"/>
          </a:p>
        </p:txBody>
      </p:sp>
      <p:sp>
        <p:nvSpPr>
          <p:cNvPr id="7" name="Down Arrow 6"/>
          <p:cNvSpPr/>
          <p:nvPr/>
        </p:nvSpPr>
        <p:spPr>
          <a:xfrm>
            <a:off x="9768408" y="3117954"/>
            <a:ext cx="432048" cy="2903334"/>
          </a:xfrm>
          <a:prstGeom prst="down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10200456" y="4233465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Increasing</a:t>
            </a:r>
          </a:p>
          <a:p>
            <a:r>
              <a:rPr lang="en-GB" dirty="0" smtClean="0"/>
              <a:t>granularity</a:t>
            </a:r>
            <a:endParaRPr lang="en-GB" dirty="0"/>
          </a:p>
        </p:txBody>
      </p:sp>
      <p:sp>
        <p:nvSpPr>
          <p:cNvPr id="9" name="Down Arrow 8"/>
          <p:cNvSpPr/>
          <p:nvPr/>
        </p:nvSpPr>
        <p:spPr>
          <a:xfrm rot="10800000">
            <a:off x="2135560" y="3117954"/>
            <a:ext cx="432048" cy="2903334"/>
          </a:xfrm>
          <a:prstGeom prst="down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1388988" y="5357063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Start</a:t>
            </a:r>
            <a:endParaRPr lang="en-GB" dirty="0"/>
          </a:p>
        </p:txBody>
      </p:sp>
      <p:sp>
        <p:nvSpPr>
          <p:cNvPr id="12" name="TextBox 11"/>
          <p:cNvSpPr txBox="1"/>
          <p:nvPr/>
        </p:nvSpPr>
        <p:spPr>
          <a:xfrm>
            <a:off x="1463580" y="3412847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End</a:t>
            </a:r>
            <a:endParaRPr lang="en-GB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3347760" y="5062170"/>
            <a:ext cx="0" cy="9720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930720" y="5049288"/>
            <a:ext cx="0" cy="9720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6692384" y="5062170"/>
            <a:ext cx="0" cy="9720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7248128" y="5062170"/>
            <a:ext cx="0" cy="9720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752184" y="5062170"/>
            <a:ext cx="0" cy="9720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8328248" y="5049288"/>
            <a:ext cx="0" cy="9720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8904312" y="5062170"/>
            <a:ext cx="0" cy="9720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088776" y="5062170"/>
            <a:ext cx="0" cy="9720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511824" y="5062170"/>
            <a:ext cx="0" cy="9720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664840" y="5036190"/>
            <a:ext cx="0" cy="9720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168008" y="5062170"/>
            <a:ext cx="0" cy="9720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088776" y="4064190"/>
            <a:ext cx="0" cy="9720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023992" y="4077072"/>
            <a:ext cx="0" cy="9720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104112" y="4064190"/>
            <a:ext cx="0" cy="9720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image0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0" y="2780928"/>
            <a:ext cx="11514430" cy="3740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7819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Item level analyses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Consistency metrics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4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306" y="404818"/>
            <a:ext cx="10586262" cy="574675"/>
          </a:xfrm>
        </p:spPr>
        <p:txBody>
          <a:bodyPr/>
          <a:lstStyle/>
          <a:p>
            <a:r>
              <a:rPr lang="en-GB" dirty="0" smtClean="0"/>
              <a:t>Item level: average difference between the definitive mark and examiners’ marks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624" y="1107421"/>
            <a:ext cx="6768752" cy="5415002"/>
          </a:xfrm>
        </p:spPr>
      </p:pic>
    </p:spTree>
    <p:extLst>
      <p:ext uri="{BB962C8B-B14F-4D97-AF65-F5344CB8AC3E}">
        <p14:creationId xmlns:p14="http://schemas.microsoft.com/office/powerpoint/2010/main" val="839698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335360" y="188525"/>
            <a:ext cx="11449272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3B81A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2"/>
                </a:solidFill>
                <a:latin typeface="Arial" charset="0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2"/>
                </a:solidFill>
                <a:latin typeface="Arial" charset="0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2"/>
                </a:solidFill>
                <a:latin typeface="Arial" charset="0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2"/>
                </a:solidFill>
                <a:latin typeface="Arial" charset="0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18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GB" kern="0" dirty="0" smtClean="0"/>
              <a:t>Item level: average difference between the definitive mark and examiners’ marks</a:t>
            </a:r>
            <a:endParaRPr lang="en-GB" kern="0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800" y="1108800"/>
            <a:ext cx="6768000" cy="5414400"/>
          </a:xfrm>
        </p:spPr>
      </p:pic>
    </p:spTree>
    <p:extLst>
      <p:ext uri="{BB962C8B-B14F-4D97-AF65-F5344CB8AC3E}">
        <p14:creationId xmlns:p14="http://schemas.microsoft.com/office/powerpoint/2010/main" val="506030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22306" y="404818"/>
            <a:ext cx="10802286" cy="574675"/>
          </a:xfrm>
        </p:spPr>
        <p:txBody>
          <a:bodyPr/>
          <a:lstStyle/>
          <a:p>
            <a:r>
              <a:rPr lang="en-GB" dirty="0" smtClean="0"/>
              <a:t>Item level: average difference between the definitive mark and examiners’ marks</a:t>
            </a:r>
            <a:endParaRPr lang="en-GB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800" y="1108800"/>
            <a:ext cx="6768000" cy="5414400"/>
          </a:xfrm>
        </p:spPr>
      </p:pic>
    </p:spTree>
    <p:extLst>
      <p:ext uri="{BB962C8B-B14F-4D97-AF65-F5344CB8AC3E}">
        <p14:creationId xmlns:p14="http://schemas.microsoft.com/office/powerpoint/2010/main" val="2901953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00" y="763200"/>
            <a:ext cx="7200000" cy="57600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306" y="404818"/>
            <a:ext cx="10442246" cy="574675"/>
          </a:xfrm>
        </p:spPr>
        <p:txBody>
          <a:bodyPr/>
          <a:lstStyle/>
          <a:p>
            <a:r>
              <a:rPr lang="en-GB" dirty="0" smtClean="0"/>
              <a:t>Probability of Exact Agreement with Awarded </a:t>
            </a:r>
            <a:r>
              <a:rPr lang="en-GB" dirty="0"/>
              <a:t>Mark </a:t>
            </a:r>
            <a:r>
              <a:rPr lang="en-GB" dirty="0" smtClean="0"/>
              <a:t>- </a:t>
            </a:r>
            <a:r>
              <a:rPr lang="en-GB" dirty="0"/>
              <a:t>item level</a:t>
            </a:r>
          </a:p>
        </p:txBody>
      </p:sp>
    </p:spTree>
    <p:extLst>
      <p:ext uri="{BB962C8B-B14F-4D97-AF65-F5344CB8AC3E}">
        <p14:creationId xmlns:p14="http://schemas.microsoft.com/office/powerpoint/2010/main" val="56697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3200"/>
            <a:ext cx="7200000" cy="57600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Mark Distributions – Physics – item differences</a:t>
            </a:r>
            <a:endParaRPr lang="en-GB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530655" y="1916832"/>
            <a:ext cx="216024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1415480" y="1916832"/>
            <a:ext cx="2160240" cy="0"/>
          </a:xfrm>
          <a:prstGeom prst="straightConnector1">
            <a:avLst/>
          </a:prstGeom>
          <a:ln w="635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30655" y="1442477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Increasing Leniency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1415480" y="1442477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Increasing Severity</a:t>
            </a:r>
            <a:endParaRPr lang="en-GB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7200000" y="836712"/>
          <a:ext cx="4917184" cy="5400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29296">
                  <a:extLst>
                    <a:ext uri="{9D8B030D-6E8A-4147-A177-3AD203B41FA5}">
                      <a16:colId xmlns:a16="http://schemas.microsoft.com/office/drawing/2014/main" val="2001967088"/>
                    </a:ext>
                  </a:extLst>
                </a:gridCol>
                <a:gridCol w="1229296">
                  <a:extLst>
                    <a:ext uri="{9D8B030D-6E8A-4147-A177-3AD203B41FA5}">
                      <a16:colId xmlns:a16="http://schemas.microsoft.com/office/drawing/2014/main" val="2181447836"/>
                    </a:ext>
                  </a:extLst>
                </a:gridCol>
                <a:gridCol w="1229296">
                  <a:extLst>
                    <a:ext uri="{9D8B030D-6E8A-4147-A177-3AD203B41FA5}">
                      <a16:colId xmlns:a16="http://schemas.microsoft.com/office/drawing/2014/main" val="3022694302"/>
                    </a:ext>
                  </a:extLst>
                </a:gridCol>
                <a:gridCol w="1229296">
                  <a:extLst>
                    <a:ext uri="{9D8B030D-6E8A-4147-A177-3AD203B41FA5}">
                      <a16:colId xmlns:a16="http://schemas.microsoft.com/office/drawing/2014/main" val="18109826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Mark Difference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2013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2014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2015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62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-6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4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7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925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-5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5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19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9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574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-4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69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200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90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752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-3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417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744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504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745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-2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4,364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6,983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6,646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021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-1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33,993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52,696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52,427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216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1,261,165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1,754,047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2,075,847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893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28,530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48,109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50,338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922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2,942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5,037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5,756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173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298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591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533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587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4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38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95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126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7937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5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21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5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818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6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931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534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3200"/>
            <a:ext cx="7200000" cy="57600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Mark Distributions </a:t>
            </a:r>
            <a:r>
              <a:rPr lang="en-GB" dirty="0"/>
              <a:t>– Physics – item differences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530655" y="1916832"/>
            <a:ext cx="216024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1415480" y="1916832"/>
            <a:ext cx="2160240" cy="0"/>
          </a:xfrm>
          <a:prstGeom prst="straightConnector1">
            <a:avLst/>
          </a:prstGeom>
          <a:ln w="635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30655" y="1442477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Increasing Leniency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1415480" y="1442477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Increasing Severity</a:t>
            </a:r>
            <a:endParaRPr lang="en-GB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7200000" y="836712"/>
          <a:ext cx="4917184" cy="5400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29296">
                  <a:extLst>
                    <a:ext uri="{9D8B030D-6E8A-4147-A177-3AD203B41FA5}">
                      <a16:colId xmlns:a16="http://schemas.microsoft.com/office/drawing/2014/main" val="2001967088"/>
                    </a:ext>
                  </a:extLst>
                </a:gridCol>
                <a:gridCol w="1229296">
                  <a:extLst>
                    <a:ext uri="{9D8B030D-6E8A-4147-A177-3AD203B41FA5}">
                      <a16:colId xmlns:a16="http://schemas.microsoft.com/office/drawing/2014/main" val="2181447836"/>
                    </a:ext>
                  </a:extLst>
                </a:gridCol>
                <a:gridCol w="1229296">
                  <a:extLst>
                    <a:ext uri="{9D8B030D-6E8A-4147-A177-3AD203B41FA5}">
                      <a16:colId xmlns:a16="http://schemas.microsoft.com/office/drawing/2014/main" val="3022694302"/>
                    </a:ext>
                  </a:extLst>
                </a:gridCol>
                <a:gridCol w="1229296">
                  <a:extLst>
                    <a:ext uri="{9D8B030D-6E8A-4147-A177-3AD203B41FA5}">
                      <a16:colId xmlns:a16="http://schemas.microsoft.com/office/drawing/2014/main" val="18109826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Mark Difference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2013 %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2014 %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2015 %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62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-6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0.0001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0.0002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0.0003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925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-5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0.0004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0.001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0.0004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574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-4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0.005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0.01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0.004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752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-3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0.03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0.04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0.02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745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-2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0.4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0.3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021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-1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2.6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2.8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2.4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216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94.7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93.9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94.7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893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2.1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2.6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2.3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922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0.2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0.3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173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0.02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0.03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0.02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587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4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0.003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0.005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0.006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7937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5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0.0002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0.001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0.0002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818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6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0.00001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931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600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3200"/>
            <a:ext cx="7200000" cy="57600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Mark Distributions - English</a:t>
            </a:r>
            <a:endParaRPr lang="en-GB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39816" y="1916832"/>
            <a:ext cx="216024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343472" y="1916832"/>
            <a:ext cx="2160240" cy="0"/>
          </a:xfrm>
          <a:prstGeom prst="straightConnector1">
            <a:avLst/>
          </a:prstGeom>
          <a:ln w="635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439816" y="1442477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Increasing Leniency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1343472" y="1442477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Increasing Severity</a:t>
            </a:r>
            <a:endParaRPr lang="en-GB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7200000" y="836712"/>
          <a:ext cx="4917184" cy="5400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29296">
                  <a:extLst>
                    <a:ext uri="{9D8B030D-6E8A-4147-A177-3AD203B41FA5}">
                      <a16:colId xmlns:a16="http://schemas.microsoft.com/office/drawing/2014/main" val="2001967088"/>
                    </a:ext>
                  </a:extLst>
                </a:gridCol>
                <a:gridCol w="1229296">
                  <a:extLst>
                    <a:ext uri="{9D8B030D-6E8A-4147-A177-3AD203B41FA5}">
                      <a16:colId xmlns:a16="http://schemas.microsoft.com/office/drawing/2014/main" val="2181447836"/>
                    </a:ext>
                  </a:extLst>
                </a:gridCol>
                <a:gridCol w="1229296">
                  <a:extLst>
                    <a:ext uri="{9D8B030D-6E8A-4147-A177-3AD203B41FA5}">
                      <a16:colId xmlns:a16="http://schemas.microsoft.com/office/drawing/2014/main" val="3022694302"/>
                    </a:ext>
                  </a:extLst>
                </a:gridCol>
                <a:gridCol w="1229296">
                  <a:extLst>
                    <a:ext uri="{9D8B030D-6E8A-4147-A177-3AD203B41FA5}">
                      <a16:colId xmlns:a16="http://schemas.microsoft.com/office/drawing/2014/main" val="18109826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Mark Difference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2013 %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2014 %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2015 %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62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-6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0.1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0.1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0.1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925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-5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0.2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0.2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0.2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574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-4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0.4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0.4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0.6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752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-3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1.2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1.3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1.7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745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-2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4.2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5.0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5.7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021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-1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15.5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17.3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19.3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216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52.0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53.8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50.0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893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17.6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16.1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15.4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922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5.7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4.3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4.7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173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1.8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1.0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1.4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587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4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0.6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0.5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7937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5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0.2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0.1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0.2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818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6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0.1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0.1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0.1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931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804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Component level analyses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Can build item level analyses up into…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9334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00" y="763200"/>
            <a:ext cx="7200000" cy="57600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Mean Difference </a:t>
            </a:r>
            <a:r>
              <a:rPr lang="en-GB" dirty="0"/>
              <a:t>– all Physics components </a:t>
            </a:r>
          </a:p>
        </p:txBody>
      </p:sp>
    </p:spTree>
    <p:extLst>
      <p:ext uri="{BB962C8B-B14F-4D97-AF65-F5344CB8AC3E}">
        <p14:creationId xmlns:p14="http://schemas.microsoft.com/office/powerpoint/2010/main" val="2892574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0" y="0"/>
            <a:ext cx="85725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5360" y="1268760"/>
            <a:ext cx="3168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variability between subjects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also, variability within subjects</a:t>
            </a:r>
            <a:endParaRPr lang="en-GB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03784" y="332656"/>
            <a:ext cx="8462433" cy="574675"/>
          </a:xfrm>
        </p:spPr>
        <p:txBody>
          <a:bodyPr/>
          <a:lstStyle/>
          <a:p>
            <a:r>
              <a:rPr lang="en-GB" dirty="0" smtClean="0"/>
              <a:t>Units within subjects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2922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Impact on Candidates</a:t>
            </a:r>
            <a:endParaRPr lang="en-GB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63200"/>
            <a:ext cx="7200000" cy="5760000"/>
          </a:xfrm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87211"/>
              </p:ext>
            </p:extLst>
          </p:nvPr>
        </p:nvGraphicFramePr>
        <p:xfrm>
          <a:off x="7199999" y="1844824"/>
          <a:ext cx="4975796" cy="3139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43949">
                  <a:extLst>
                    <a:ext uri="{9D8B030D-6E8A-4147-A177-3AD203B41FA5}">
                      <a16:colId xmlns:a16="http://schemas.microsoft.com/office/drawing/2014/main" val="3687678225"/>
                    </a:ext>
                  </a:extLst>
                </a:gridCol>
                <a:gridCol w="1243949">
                  <a:extLst>
                    <a:ext uri="{9D8B030D-6E8A-4147-A177-3AD203B41FA5}">
                      <a16:colId xmlns:a16="http://schemas.microsoft.com/office/drawing/2014/main" val="560848705"/>
                    </a:ext>
                  </a:extLst>
                </a:gridCol>
                <a:gridCol w="1243949">
                  <a:extLst>
                    <a:ext uri="{9D8B030D-6E8A-4147-A177-3AD203B41FA5}">
                      <a16:colId xmlns:a16="http://schemas.microsoft.com/office/drawing/2014/main" val="3698123980"/>
                    </a:ext>
                  </a:extLst>
                </a:gridCol>
                <a:gridCol w="1243949">
                  <a:extLst>
                    <a:ext uri="{9D8B030D-6E8A-4147-A177-3AD203B41FA5}">
                      <a16:colId xmlns:a16="http://schemas.microsoft.com/office/drawing/2014/main" val="2758244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Mark Diff. (Raw)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Mark Diff. (% Max. Mark)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% of </a:t>
                      </a:r>
                      <a:r>
                        <a:rPr lang="en-GB" sz="1800" dirty="0" err="1" smtClean="0"/>
                        <a:t>Cands</a:t>
                      </a:r>
                      <a:r>
                        <a:rPr lang="en-GB" sz="1800" dirty="0" smtClean="0"/>
                        <a:t>. (Unit X)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% of </a:t>
                      </a:r>
                      <a:r>
                        <a:rPr lang="en-GB" sz="1800" dirty="0" err="1" smtClean="0"/>
                        <a:t>Cands</a:t>
                      </a:r>
                      <a:r>
                        <a:rPr lang="en-GB" sz="1800" dirty="0" smtClean="0"/>
                        <a:t>.</a:t>
                      </a:r>
                      <a:r>
                        <a:rPr lang="en-GB" sz="1800" baseline="0" dirty="0" smtClean="0"/>
                        <a:t> (Unit Y)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741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0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0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21.5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48.0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799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± 1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 smtClean="0"/>
                        <a:t>± 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58.7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94.6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624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± 2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 smtClean="0"/>
                        <a:t>± 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82.8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99.9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905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 smtClean="0"/>
                        <a:t>±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 smtClean="0"/>
                        <a:t>±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94.4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100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811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 smtClean="0"/>
                        <a:t>±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 smtClean="0"/>
                        <a:t>± 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98.6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100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455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 smtClean="0"/>
                        <a:t>±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 smtClean="0"/>
                        <a:t>± 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99.7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100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220714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622306" y="763200"/>
            <a:ext cx="6481806" cy="3615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Unit X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622306" y="3389802"/>
            <a:ext cx="6481806" cy="3615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Unit 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4709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280" y="763200"/>
            <a:ext cx="7176120" cy="5740896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Probability of “definitive” grade – component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0148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Probability of “definitive” grade – component level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0" y="763200"/>
            <a:ext cx="7174800" cy="5739840"/>
          </a:xfrm>
        </p:spPr>
      </p:pic>
    </p:spTree>
    <p:extLst>
      <p:ext uri="{BB962C8B-B14F-4D97-AF65-F5344CB8AC3E}">
        <p14:creationId xmlns:p14="http://schemas.microsoft.com/office/powerpoint/2010/main" val="800826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3200"/>
            <a:ext cx="7202680" cy="5762144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Probability of “definitive” </a:t>
            </a:r>
            <a:r>
              <a:rPr lang="en-GB" dirty="0"/>
              <a:t>grade - </a:t>
            </a:r>
            <a:r>
              <a:rPr lang="en-GB" dirty="0" smtClean="0"/>
              <a:t>component </a:t>
            </a:r>
            <a:r>
              <a:rPr lang="en-GB" dirty="0"/>
              <a:t>level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7200000" y="1242824"/>
          <a:ext cx="4979004" cy="20421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59668">
                  <a:extLst>
                    <a:ext uri="{9D8B030D-6E8A-4147-A177-3AD203B41FA5}">
                      <a16:colId xmlns:a16="http://schemas.microsoft.com/office/drawing/2014/main" val="1502445747"/>
                    </a:ext>
                  </a:extLst>
                </a:gridCol>
                <a:gridCol w="1659668">
                  <a:extLst>
                    <a:ext uri="{9D8B030D-6E8A-4147-A177-3AD203B41FA5}">
                      <a16:colId xmlns:a16="http://schemas.microsoft.com/office/drawing/2014/main" val="1486005498"/>
                    </a:ext>
                  </a:extLst>
                </a:gridCol>
                <a:gridCol w="1659668">
                  <a:extLst>
                    <a:ext uri="{9D8B030D-6E8A-4147-A177-3AD203B41FA5}">
                      <a16:colId xmlns:a16="http://schemas.microsoft.com/office/drawing/2014/main" val="32813501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 smtClean="0"/>
                        <a:t>Year</a:t>
                      </a:r>
                      <a:endParaRPr lang="en-GB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 smtClean="0"/>
                        <a:t>Mean Difference</a:t>
                      </a:r>
                      <a:endParaRPr lang="en-GB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 smtClean="0"/>
                        <a:t>Standard</a:t>
                      </a:r>
                      <a:r>
                        <a:rPr lang="en-GB" sz="2200" baseline="0" dirty="0" smtClean="0"/>
                        <a:t> Deviation</a:t>
                      </a:r>
                      <a:endParaRPr lang="en-GB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434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 smtClean="0"/>
                        <a:t>2015</a:t>
                      </a:r>
                      <a:endParaRPr lang="en-GB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 smtClean="0"/>
                        <a:t>-0.03</a:t>
                      </a:r>
                      <a:endParaRPr lang="en-GB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 smtClean="0"/>
                        <a:t>1.15</a:t>
                      </a:r>
                      <a:endParaRPr lang="en-GB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338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 smtClean="0"/>
                        <a:t>2014</a:t>
                      </a:r>
                      <a:endParaRPr lang="en-GB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 smtClean="0"/>
                        <a:t>0.05</a:t>
                      </a:r>
                      <a:endParaRPr lang="en-GB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 smtClean="0"/>
                        <a:t>1.27</a:t>
                      </a:r>
                      <a:endParaRPr lang="en-GB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948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 smtClean="0"/>
                        <a:t>2013</a:t>
                      </a:r>
                      <a:endParaRPr lang="en-GB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 smtClean="0"/>
                        <a:t>-0.31</a:t>
                      </a:r>
                      <a:endParaRPr lang="en-GB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 smtClean="0"/>
                        <a:t>1.20</a:t>
                      </a:r>
                      <a:endParaRPr lang="en-GB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87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1040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336" y="1412776"/>
            <a:ext cx="3384375" cy="1512168"/>
          </a:xfrm>
        </p:spPr>
        <p:txBody>
          <a:bodyPr/>
          <a:lstStyle/>
          <a:p>
            <a:r>
              <a:rPr lang="en-GB" dirty="0" smtClean="0"/>
              <a:t>Units within subjects displayed in box plots</a:t>
            </a:r>
            <a:br>
              <a:rPr lang="en-GB" dirty="0" smtClean="0"/>
            </a:b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72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870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How does marking compare internationally?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8496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Geography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7104112" y="1916832"/>
          <a:ext cx="4965240" cy="2966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482620">
                  <a:extLst>
                    <a:ext uri="{9D8B030D-6E8A-4147-A177-3AD203B41FA5}">
                      <a16:colId xmlns:a16="http://schemas.microsoft.com/office/drawing/2014/main" val="2123685041"/>
                    </a:ext>
                  </a:extLst>
                </a:gridCol>
                <a:gridCol w="2482620">
                  <a:extLst>
                    <a:ext uri="{9D8B030D-6E8A-4147-A177-3AD203B41FA5}">
                      <a16:colId xmlns:a16="http://schemas.microsoft.com/office/drawing/2014/main" val="19182330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Difference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Percentage (%)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450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-3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1.04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49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-2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5.46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423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-1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19.15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739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0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49.52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92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1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18.35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543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2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5.09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044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3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1.04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94944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92144" y="126876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39,091 items</a:t>
            </a:r>
            <a:endParaRPr lang="en-GB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6712"/>
            <a:ext cx="7104112" cy="5683290"/>
          </a:xfrm>
        </p:spPr>
      </p:pic>
    </p:spTree>
    <p:extLst>
      <p:ext uri="{BB962C8B-B14F-4D97-AF65-F5344CB8AC3E}">
        <p14:creationId xmlns:p14="http://schemas.microsoft.com/office/powerpoint/2010/main" val="48168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6 mark items in different subjects – exact agreement</a:t>
            </a:r>
            <a:endParaRPr lang="en-GB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3833" y="122360"/>
            <a:ext cx="1368152" cy="1139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76" y="1124744"/>
            <a:ext cx="8772928" cy="5328592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1415480" y="2276872"/>
            <a:ext cx="8712968" cy="0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415480" y="3416474"/>
            <a:ext cx="8712968" cy="0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672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6 mark items in different subjects – </a:t>
            </a:r>
            <a:r>
              <a:rPr lang="en-GB" dirty="0" smtClean="0"/>
              <a:t>within </a:t>
            </a:r>
            <a:r>
              <a:rPr lang="en-GB" dirty="0"/>
              <a:t>± </a:t>
            </a:r>
            <a:r>
              <a:rPr lang="en-GB" dirty="0" smtClean="0"/>
              <a:t>1 mark</a:t>
            </a:r>
            <a:endParaRPr lang="en-GB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3833" y="122360"/>
            <a:ext cx="1368152" cy="1139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758" y="885260"/>
            <a:ext cx="8669137" cy="5568076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895420" y="1235039"/>
            <a:ext cx="8712968" cy="0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907946" y="1675756"/>
            <a:ext cx="8712968" cy="0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264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next for the metrics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Will develop benchmarks </a:t>
            </a:r>
            <a:r>
              <a:rPr lang="en-GB" dirty="0"/>
              <a:t>against which we can better evaluate </a:t>
            </a:r>
            <a:r>
              <a:rPr lang="en-GB" dirty="0" smtClean="0"/>
              <a:t>consistency</a:t>
            </a:r>
          </a:p>
          <a:p>
            <a:r>
              <a:rPr lang="en-GB" dirty="0" smtClean="0"/>
              <a:t>Benchmarks will need contextualising according to nature of assessment</a:t>
            </a:r>
          </a:p>
          <a:p>
            <a:r>
              <a:rPr lang="en-GB" dirty="0" smtClean="0"/>
              <a:t>Ensure that our use of metrics does not undermine the prime use of marker monitoring – i.e. to make decisions about marking and markers during the live session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171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Summary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Have provided you with a flavour of the report – on </a:t>
            </a:r>
            <a:r>
              <a:rPr lang="en-GB" smtClean="0"/>
              <a:t>Ofqual website later today.</a:t>
            </a:r>
            <a:endParaRPr lang="en-GB" dirty="0" smtClean="0"/>
          </a:p>
          <a:p>
            <a:r>
              <a:rPr lang="en-GB" dirty="0" smtClean="0"/>
              <a:t>We have developed metrics at different levels</a:t>
            </a:r>
          </a:p>
          <a:p>
            <a:pPr lvl="1"/>
            <a:r>
              <a:rPr lang="en-GB" dirty="0" smtClean="0"/>
              <a:t>Item</a:t>
            </a:r>
          </a:p>
          <a:p>
            <a:pPr lvl="1"/>
            <a:r>
              <a:rPr lang="en-GB" dirty="0" smtClean="0"/>
              <a:t>Unit</a:t>
            </a:r>
          </a:p>
          <a:p>
            <a:pPr lvl="1"/>
            <a:r>
              <a:rPr lang="en-GB" dirty="0" smtClean="0"/>
              <a:t>Specification level</a:t>
            </a:r>
          </a:p>
          <a:p>
            <a:r>
              <a:rPr lang="en-GB" dirty="0" smtClean="0"/>
              <a:t>Marking looks reasonable compared to international studies</a:t>
            </a:r>
          </a:p>
          <a:p>
            <a:r>
              <a:rPr lang="en-GB" dirty="0" smtClean="0"/>
              <a:t>Metrics do not distinguish between marking error and legitimate differences</a:t>
            </a:r>
          </a:p>
          <a:p>
            <a:r>
              <a:rPr lang="en-GB" dirty="0"/>
              <a:t>Over time will </a:t>
            </a:r>
            <a:r>
              <a:rPr lang="en-GB" dirty="0" smtClean="0"/>
              <a:t>provide benchmarks </a:t>
            </a:r>
            <a:r>
              <a:rPr lang="en-GB" dirty="0"/>
              <a:t>against which we can better evaluate </a:t>
            </a:r>
            <a:r>
              <a:rPr lang="en-GB" dirty="0" smtClean="0"/>
              <a:t>marking consistency</a:t>
            </a:r>
          </a:p>
          <a:p>
            <a:r>
              <a:rPr lang="en-GB" dirty="0" smtClean="0"/>
              <a:t>Need to ensure use of metrics does not undermine live marker monitoring</a:t>
            </a:r>
            <a:endParaRPr lang="en-GB" dirty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6366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qual vocational qualifications">
  <a:themeElements>
    <a:clrScheme name="Custom 5">
      <a:dk1>
        <a:srgbClr val="000000"/>
      </a:dk1>
      <a:lt1>
        <a:srgbClr val="FFFFFF"/>
      </a:lt1>
      <a:dk2>
        <a:srgbClr val="68BD49"/>
      </a:dk2>
      <a:lt2>
        <a:srgbClr val="65696E"/>
      </a:lt2>
      <a:accent1>
        <a:srgbClr val="65696E"/>
      </a:accent1>
      <a:accent2>
        <a:srgbClr val="68BD49"/>
      </a:accent2>
      <a:accent3>
        <a:srgbClr val="FFFFFF"/>
      </a:accent3>
      <a:accent4>
        <a:srgbClr val="000000"/>
      </a:accent4>
      <a:accent5>
        <a:srgbClr val="B8B9BA"/>
      </a:accent5>
      <a:accent6>
        <a:srgbClr val="95CB64"/>
      </a:accent6>
      <a:hlink>
        <a:srgbClr val="497428"/>
      </a:hlink>
      <a:folHlink>
        <a:srgbClr val="497428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qual General PPT 28 04 2016.pptx" id="{67EB738A-56FA-4672-970C-6CF376790570}" vid="{DF6402B3-C8C7-44E9-BA02-216D8A104D78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D7A373A4C50E468CA9E4026D35F6E2" ma:contentTypeVersion="5" ma:contentTypeDescription="Create a new document." ma:contentTypeScope="" ma:versionID="6f65294b266c6366b0609f061382a0b4">
  <xsd:schema xmlns:xsd="http://www.w3.org/2001/XMLSchema" xmlns:p="http://schemas.microsoft.com/office/2006/metadata/properties" xmlns:ns2="45150501-b37d-4b37-b0a0-512a8dbac82e" targetNamespace="http://schemas.microsoft.com/office/2006/metadata/properties" ma:root="true" ma:fieldsID="a6f16d7ac95bab966617cb1271d45bb4" ns2:_="">
    <xsd:import namespace="45150501-b37d-4b37-b0a0-512a8dbac82e"/>
    <xsd:element name="properties">
      <xsd:complexType>
        <xsd:sequence>
          <xsd:element name="documentManagement">
            <xsd:complexType>
              <xsd:all>
                <xsd:element ref="ns2:Description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45150501-b37d-4b37-b0a0-512a8dbac82e" elementFormDefault="qualified">
    <xsd:import namespace="http://schemas.microsoft.com/office/2006/documentManagement/types"/>
    <xsd:element name="Description" ma:index="8" nillable="true" ma:displayName="Description" ma:internalName="Description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LongProperties xmlns="http://schemas.microsoft.com/office/2006/metadata/longProperties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tion xmlns="45150501-b37d-4b37-b0a0-512a8dbac82e" xsi:nil="true"/>
  </documentManagement>
</p:properties>
</file>

<file path=customXml/itemProps1.xml><?xml version="1.0" encoding="utf-8"?>
<ds:datastoreItem xmlns:ds="http://schemas.openxmlformats.org/officeDocument/2006/customXml" ds:itemID="{A9C8EB4E-29D2-4DCD-9944-BB0A625CC4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5C1C410-1A9F-4F38-A395-A6A488C8E5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150501-b37d-4b37-b0a0-512a8dbac82e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DA74C86D-7D20-4AB6-A173-B615F8B3A959}">
  <ds:schemaRefs>
    <ds:schemaRef ds:uri="http://schemas.microsoft.com/office/2006/metadata/longProperties"/>
  </ds:schemaRefs>
</ds:datastoreItem>
</file>

<file path=customXml/itemProps4.xml><?xml version="1.0" encoding="utf-8"?>
<ds:datastoreItem xmlns:ds="http://schemas.openxmlformats.org/officeDocument/2006/customXml" ds:itemID="{84FD12CC-BE13-4DB2-97FB-1B4804DD32B4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45150501-b37d-4b37-b0a0-512a8dbac82e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Ofqual General PPT 28 04 2016</Template>
  <TotalTime>3551</TotalTime>
  <Words>1628</Words>
  <Application>Microsoft Office PowerPoint</Application>
  <PresentationFormat>Widescreen</PresentationFormat>
  <Paragraphs>530</Paragraphs>
  <Slides>41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Wingdings</vt:lpstr>
      <vt:lpstr>Wingdings 2</vt:lpstr>
      <vt:lpstr>1_Ofqual vocational qualifications</vt:lpstr>
      <vt:lpstr>Marking consistency </vt:lpstr>
      <vt:lpstr>Background</vt:lpstr>
      <vt:lpstr>Quality Assurance processes</vt:lpstr>
      <vt:lpstr>PowerPoint Presentation</vt:lpstr>
      <vt:lpstr>Why might examiners give different marks?</vt:lpstr>
      <vt:lpstr>Why do examiners disagree over the quality of responses? </vt:lpstr>
      <vt:lpstr>Why do examiners disagree over the quality of responses? </vt:lpstr>
      <vt:lpstr>Why do examiners disagree over the quality of responses? </vt:lpstr>
      <vt:lpstr>Why do examiners disagree over the quality of responses? </vt:lpstr>
      <vt:lpstr>Definitional uncertainty – no single ‘right mark’ for the response </vt:lpstr>
      <vt:lpstr>How consistent is marking?</vt:lpstr>
      <vt:lpstr>metrics</vt:lpstr>
      <vt:lpstr>metrics</vt:lpstr>
      <vt:lpstr>metrics</vt:lpstr>
      <vt:lpstr>metrics</vt:lpstr>
      <vt:lpstr>metrics</vt:lpstr>
      <vt:lpstr>Possible reasons for the award of a ‘questionable’ mark</vt:lpstr>
      <vt:lpstr>Data </vt:lpstr>
      <vt:lpstr>Metric requirements</vt:lpstr>
      <vt:lpstr>Item level analyses</vt:lpstr>
      <vt:lpstr>Item level: average difference between the definitive mark and examiners’ marks</vt:lpstr>
      <vt:lpstr>PowerPoint Presentation</vt:lpstr>
      <vt:lpstr>Item level: average difference between the definitive mark and examiners’ marks</vt:lpstr>
      <vt:lpstr>Probability of Exact Agreement with Awarded Mark - item level</vt:lpstr>
      <vt:lpstr>Mark Distributions – Physics – item differences</vt:lpstr>
      <vt:lpstr>Mark Distributions – Physics – item differences</vt:lpstr>
      <vt:lpstr>Mark Distributions - English</vt:lpstr>
      <vt:lpstr>Component level analyses</vt:lpstr>
      <vt:lpstr>Mean Difference – all Physics components </vt:lpstr>
      <vt:lpstr>Units within subjects</vt:lpstr>
      <vt:lpstr>Impact on Candidates</vt:lpstr>
      <vt:lpstr>Probability of “definitive” grade – component level</vt:lpstr>
      <vt:lpstr>Probability of “definitive” grade – component level</vt:lpstr>
      <vt:lpstr>Probability of “definitive” grade - component level</vt:lpstr>
      <vt:lpstr>Units within subjects displayed in box plots </vt:lpstr>
      <vt:lpstr>How does marking compare internationally?</vt:lpstr>
      <vt:lpstr>Geography</vt:lpstr>
      <vt:lpstr>6 mark items in different subjects – exact agreement</vt:lpstr>
      <vt:lpstr>6 mark items in different subjects – within ± 1 mark</vt:lpstr>
      <vt:lpstr>What next for the metrics</vt:lpstr>
      <vt:lpstr>Summary</vt:lpstr>
    </vt:vector>
  </TitlesOfParts>
  <Company>Ofqual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Tolerating difference of opinion</dc:title>
  <dc:creator>Paul Newton</dc:creator>
  <cp:keywords/>
  <cp:lastModifiedBy>Beth Black</cp:lastModifiedBy>
  <cp:revision>216</cp:revision>
  <dcterms:created xsi:type="dcterms:W3CDTF">2016-09-13T11:10:33Z</dcterms:created>
  <dcterms:modified xsi:type="dcterms:W3CDTF">2016-11-16T13:49:57Z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Document</vt:lpwstr>
  </property>
  <property fmtid="{D5CDD505-2E9C-101B-9397-08002B2CF9AE}" pid="3" name="Description">
    <vt:lpwstr/>
  </property>
  <property fmtid="{D5CDD505-2E9C-101B-9397-08002B2CF9AE}" pid="4" name="ContentTypeId">
    <vt:lpwstr>0x010100ECD7A373A4C50E468CA9E4026D35F6E2</vt:lpwstr>
  </property>
</Properties>
</file>