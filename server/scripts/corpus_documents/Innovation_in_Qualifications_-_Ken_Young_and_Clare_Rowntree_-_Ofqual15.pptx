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  <p:sldMasterId id="2147483916" r:id="rId6"/>
  </p:sldMasterIdLst>
  <p:notesMasterIdLst>
    <p:notesMasterId r:id="rId17"/>
  </p:notesMasterIdLst>
  <p:sldIdLst>
    <p:sldId id="273" r:id="rId7"/>
    <p:sldId id="285" r:id="rId8"/>
    <p:sldId id="286" r:id="rId9"/>
    <p:sldId id="287" r:id="rId10"/>
    <p:sldId id="288" r:id="rId11"/>
    <p:sldId id="294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AE799F-4425-EA48-BA18-0D1E20ABE397}">
          <p14:sldIdLst>
            <p14:sldId id="273"/>
            <p14:sldId id="285"/>
            <p14:sldId id="286"/>
            <p14:sldId id="287"/>
            <p14:sldId id="288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BC"/>
    <a:srgbClr val="83B81A"/>
    <a:srgbClr val="F18E00"/>
    <a:srgbClr val="A0558F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9" autoAdjust="0"/>
    <p:restoredTop sz="94958"/>
  </p:normalViewPr>
  <p:slideViewPr>
    <p:cSldViewPr>
      <p:cViewPr varScale="1">
        <p:scale>
          <a:sx n="93" d="100"/>
          <a:sy n="93" d="100"/>
        </p:scale>
        <p:origin x="232" y="2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0C38D-D10D-46C5-8B79-2299751880AA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07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22"/>
            <a:ext cx="12196664" cy="68667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General qualifications – Click to add title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2479" y="3121608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428"/>
            <a:ext cx="12201471" cy="6869428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indent="-342900">
              <a:buClr>
                <a:srgbClr val="0079BC"/>
              </a:buClr>
              <a:buFont typeface="Wingdings" charset="2"/>
              <a:buChar char="§"/>
              <a:defRPr sz="2000" b="0"/>
            </a:lvl1pPr>
            <a:lvl2pPr marL="685800" indent="-342900">
              <a:buClr>
                <a:srgbClr val="0079BC"/>
              </a:buClr>
              <a:buFont typeface="Arial" charset="0"/>
              <a:buChar char="•"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 hasCustomPrompt="1"/>
          </p:nvPr>
        </p:nvSpPr>
        <p:spPr>
          <a:xfrm>
            <a:off x="1296000" y="1509000"/>
            <a:ext cx="10080000" cy="4800000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81318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68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799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5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3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96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46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85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401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3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1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577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 hasCustomPrompt="1"/>
          </p:nvPr>
        </p:nvSpPr>
        <p:spPr>
          <a:xfrm>
            <a:off x="1296000" y="1509000"/>
            <a:ext cx="10080000" cy="4800000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3042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28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79B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1500" b="1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1500">
          <a:solidFill>
            <a:srgbClr val="4D4D4D"/>
          </a:solidFill>
          <a:latin typeface="+mn-lt"/>
        </a:defRPr>
      </a:lvl2pPr>
      <a:lvl3pPr marL="285750" indent="-285750" algn="l" rtl="0" eaLnBrk="0" fontAlgn="base" hangingPunct="0">
        <a:spcBef>
          <a:spcPct val="30000"/>
        </a:spcBef>
        <a:spcAft>
          <a:spcPct val="5000"/>
        </a:spcAft>
        <a:buClr>
          <a:srgbClr val="0079BC"/>
        </a:buClr>
        <a:buFont typeface="Wingdings 2" panose="05020102010507070707" pitchFamily="18" charset="2"/>
        <a:buChar char=""/>
        <a:defRPr sz="1500" b="1">
          <a:solidFill>
            <a:srgbClr val="4D4D4D"/>
          </a:solidFill>
          <a:latin typeface="+mn-lt"/>
        </a:defRPr>
      </a:lvl3pPr>
      <a:lvl4pPr marL="571500" indent="-285750" algn="l" rtl="0" eaLnBrk="0" fontAlgn="base" hangingPunct="0">
        <a:spcBef>
          <a:spcPct val="5000"/>
        </a:spcBef>
        <a:spcAft>
          <a:spcPct val="5000"/>
        </a:spcAft>
        <a:buChar char="–"/>
        <a:defRPr sz="1500">
          <a:solidFill>
            <a:srgbClr val="4D4D4D"/>
          </a:solidFill>
          <a:latin typeface="+mn-lt"/>
        </a:defRPr>
      </a:lvl4pPr>
      <a:lvl5pPr marL="571500" indent="800100" algn="l" rtl="0" eaLnBrk="0" fontAlgn="base" hangingPunct="0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1415480" y="476672"/>
            <a:ext cx="10155524" cy="670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12" name="object 2"/>
          <p:cNvSpPr/>
          <p:nvPr userDrawn="1"/>
        </p:nvSpPr>
        <p:spPr>
          <a:xfrm>
            <a:off x="0" y="-47360"/>
            <a:ext cx="1259174" cy="6931473"/>
          </a:xfrm>
          <a:custGeom>
            <a:avLst/>
            <a:gdLst/>
            <a:ahLst/>
            <a:cxnLst/>
            <a:rect l="l" t="t" r="r" b="b"/>
            <a:pathLst>
              <a:path w="4363084" h="5148580">
                <a:moveTo>
                  <a:pt x="0" y="5147995"/>
                </a:moveTo>
                <a:lnTo>
                  <a:pt x="4362646" y="5147995"/>
                </a:lnTo>
                <a:lnTo>
                  <a:pt x="4362646" y="0"/>
                </a:lnTo>
                <a:lnTo>
                  <a:pt x="0" y="0"/>
                </a:lnTo>
                <a:lnTo>
                  <a:pt x="0" y="5147995"/>
                </a:lnTo>
                <a:close/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sp>
        <p:nvSpPr>
          <p:cNvPr id="13" name="object 4"/>
          <p:cNvSpPr/>
          <p:nvPr userDrawn="1"/>
        </p:nvSpPr>
        <p:spPr>
          <a:xfrm>
            <a:off x="-1" y="-47356"/>
            <a:ext cx="254758" cy="6931469"/>
          </a:xfrm>
          <a:custGeom>
            <a:avLst/>
            <a:gdLst/>
            <a:ahLst/>
            <a:cxnLst/>
            <a:rect l="l" t="t" r="r" b="b"/>
            <a:pathLst>
              <a:path w="189230" h="5148580">
                <a:moveTo>
                  <a:pt x="0" y="5147995"/>
                </a:moveTo>
                <a:lnTo>
                  <a:pt x="188995" y="5147995"/>
                </a:lnTo>
                <a:lnTo>
                  <a:pt x="188995" y="0"/>
                </a:lnTo>
                <a:lnTo>
                  <a:pt x="0" y="0"/>
                </a:lnTo>
                <a:lnTo>
                  <a:pt x="0" y="5147995"/>
                </a:lnTo>
                <a:close/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pic>
        <p:nvPicPr>
          <p:cNvPr id="14" name="Picture 13" descr="mtc-logo-big.png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73" r="1473"/>
          <a:stretch/>
        </p:blipFill>
        <p:spPr>
          <a:xfrm>
            <a:off x="287101" y="6083522"/>
            <a:ext cx="739811" cy="512936"/>
          </a:xfrm>
          <a:prstGeom prst="rect">
            <a:avLst/>
          </a:prstGeom>
        </p:spPr>
      </p:pic>
      <p:sp>
        <p:nvSpPr>
          <p:cNvPr id="15" name="object 6"/>
          <p:cNvSpPr/>
          <p:nvPr userDrawn="1"/>
        </p:nvSpPr>
        <p:spPr>
          <a:xfrm>
            <a:off x="-1" y="-47358"/>
            <a:ext cx="677930" cy="6931471"/>
          </a:xfrm>
          <a:custGeom>
            <a:avLst/>
            <a:gdLst/>
            <a:ahLst/>
            <a:cxnLst/>
            <a:rect l="l" t="t" r="r" b="b"/>
            <a:pathLst>
              <a:path w="503555" h="5148580">
                <a:moveTo>
                  <a:pt x="189039" y="7"/>
                </a:moveTo>
                <a:lnTo>
                  <a:pt x="0" y="7"/>
                </a:lnTo>
                <a:lnTo>
                  <a:pt x="0" y="5148003"/>
                </a:lnTo>
                <a:lnTo>
                  <a:pt x="189991" y="5148003"/>
                </a:lnTo>
                <a:lnTo>
                  <a:pt x="189255" y="1154823"/>
                </a:lnTo>
                <a:lnTo>
                  <a:pt x="503034" y="767778"/>
                </a:lnTo>
                <a:lnTo>
                  <a:pt x="189115" y="380555"/>
                </a:lnTo>
                <a:lnTo>
                  <a:pt x="189039" y="7"/>
                </a:lnTo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sp>
        <p:nvSpPr>
          <p:cNvPr id="16" name="Slide Number Placeholder 3"/>
          <p:cNvSpPr>
            <a:spLocks noGrp="1"/>
          </p:cNvSpPr>
          <p:nvPr userDrawn="1"/>
        </p:nvSpPr>
        <p:spPr>
          <a:xfrm>
            <a:off x="265274" y="6393820"/>
            <a:ext cx="798581" cy="4915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9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defTabSz="685800">
              <a:defRPr/>
            </a:pPr>
            <a:fld id="{3AC75D9B-5A03-484B-BA77-7AC47FC3B57E}" type="slidenum">
              <a:rPr lang="en-GB" sz="800">
                <a:solidFill>
                  <a:prstClr val="white"/>
                </a:solidFill>
                <a:cs typeface="Arial" panose="020B0604020202020204" pitchFamily="34" charset="0"/>
              </a:rPr>
              <a:pPr algn="ctr" defTabSz="685800">
                <a:defRPr/>
              </a:pPr>
              <a:t>‹#›</a:t>
            </a:fld>
            <a:endParaRPr lang="en-GB" sz="80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7" name="object 27"/>
          <p:cNvSpPr/>
          <p:nvPr userDrawn="1"/>
        </p:nvSpPr>
        <p:spPr>
          <a:xfrm>
            <a:off x="-1" y="-47358"/>
            <a:ext cx="677930" cy="6931471"/>
          </a:xfrm>
          <a:custGeom>
            <a:avLst/>
            <a:gdLst/>
            <a:ahLst/>
            <a:cxnLst/>
            <a:rect l="l" t="t" r="r" b="b"/>
            <a:pathLst>
              <a:path w="503555" h="5148580">
                <a:moveTo>
                  <a:pt x="189039" y="7"/>
                </a:moveTo>
                <a:lnTo>
                  <a:pt x="0" y="7"/>
                </a:lnTo>
                <a:lnTo>
                  <a:pt x="0" y="5148003"/>
                </a:lnTo>
                <a:lnTo>
                  <a:pt x="189991" y="5148003"/>
                </a:lnTo>
                <a:lnTo>
                  <a:pt x="189255" y="1154823"/>
                </a:lnTo>
                <a:lnTo>
                  <a:pt x="503034" y="767778"/>
                </a:lnTo>
                <a:lnTo>
                  <a:pt x="189115" y="380555"/>
                </a:lnTo>
                <a:lnTo>
                  <a:pt x="189039" y="7"/>
                </a:lnTo>
              </a:path>
            </a:pathLst>
          </a:custGeom>
          <a:solidFill>
            <a:srgbClr val="1D464A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0" y="3645024"/>
            <a:ext cx="11090324" cy="503237"/>
          </a:xfrm>
        </p:spPr>
        <p:txBody>
          <a:bodyPr/>
          <a:lstStyle/>
          <a:p>
            <a:r>
              <a:rPr lang="en-GB" dirty="0" smtClean="0"/>
              <a:t>Innovation in Qualifications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0" y="4509120"/>
            <a:ext cx="10370244" cy="625475"/>
          </a:xfrm>
        </p:spPr>
        <p:txBody>
          <a:bodyPr/>
          <a:lstStyle/>
          <a:p>
            <a:r>
              <a:rPr lang="en-GB" dirty="0" smtClean="0"/>
              <a:t>Professor Ken Young, MTC</a:t>
            </a:r>
          </a:p>
          <a:p>
            <a:r>
              <a:rPr lang="en-GB" dirty="0" smtClean="0"/>
              <a:t>Clare Rowntree, </a:t>
            </a:r>
            <a:r>
              <a:rPr lang="en-GB" dirty="0"/>
              <a:t>Senior Economist, Strategic Policy &amp; Risk</a:t>
            </a:r>
          </a:p>
        </p:txBody>
      </p:sp>
    </p:spTree>
    <p:extLst>
      <p:ext uri="{BB962C8B-B14F-4D97-AF65-F5344CB8AC3E}">
        <p14:creationId xmlns:p14="http://schemas.microsoft.com/office/powerpoint/2010/main" val="294273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8560" cy="6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7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268560" cy="69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268560" cy="6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8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1169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2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07568" y="3266981"/>
            <a:ext cx="1440160" cy="66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7568" y="1772816"/>
            <a:ext cx="1440160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Engineers and Technicians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91744" y="1952836"/>
            <a:ext cx="122413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1904" y="1844824"/>
            <a:ext cx="187220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Capable Engineers and Technicians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7888" y="3392996"/>
            <a:ext cx="216024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Capability</a:t>
            </a:r>
          </a:p>
        </p:txBody>
      </p:sp>
      <p:sp>
        <p:nvSpPr>
          <p:cNvPr id="9" name="Right Arrow 8"/>
          <p:cNvSpPr/>
          <p:nvPr/>
        </p:nvSpPr>
        <p:spPr>
          <a:xfrm rot="19450322">
            <a:off x="3702365" y="2702562"/>
            <a:ext cx="957812" cy="32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6023992" y="2780929"/>
            <a:ext cx="360040" cy="540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791744" y="3320989"/>
            <a:ext cx="1152128" cy="46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5814228" y="4624177"/>
            <a:ext cx="65615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7888" y="5373216"/>
            <a:ext cx="1944216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Customer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20136" y="5679344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14019" y="5265394"/>
            <a:ext cx="1728192" cy="1043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Target Application</a:t>
            </a:r>
          </a:p>
        </p:txBody>
      </p:sp>
      <p:sp>
        <p:nvSpPr>
          <p:cNvPr id="17" name="Right Arrow 16"/>
          <p:cNvSpPr/>
          <p:nvPr/>
        </p:nvSpPr>
        <p:spPr>
          <a:xfrm rot="16200000">
            <a:off x="8579932" y="4581221"/>
            <a:ext cx="68417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96200" y="3392996"/>
            <a:ext cx="216024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Mature</a:t>
            </a:r>
          </a:p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Capability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92144" y="3645024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20" name="Down Arrow 19"/>
          <p:cNvSpPr/>
          <p:nvPr/>
        </p:nvSpPr>
        <p:spPr>
          <a:xfrm rot="10800000">
            <a:off x="8760296" y="2726923"/>
            <a:ext cx="504056" cy="540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51">
              <a:solidFill>
                <a:prstClr val="white"/>
              </a:solidFill>
            </a:endParaRPr>
          </a:p>
        </p:txBody>
      </p:sp>
      <p:sp>
        <p:nvSpPr>
          <p:cNvPr id="23" name="5-Point Star 22"/>
          <p:cNvSpPr/>
          <p:nvPr/>
        </p:nvSpPr>
        <p:spPr>
          <a:xfrm>
            <a:off x="7789528" y="633373"/>
            <a:ext cx="2553011" cy="216024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51" dirty="0">
                <a:solidFill>
                  <a:prstClr val="white"/>
                </a:solidFill>
              </a:rPr>
              <a:t>Impact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Process</a:t>
            </a:r>
            <a:endParaRPr lang="en-GB" dirty="0"/>
          </a:p>
        </p:txBody>
      </p:sp>
      <p:sp>
        <p:nvSpPr>
          <p:cNvPr id="10" name="Oval 9"/>
          <p:cNvSpPr/>
          <p:nvPr/>
        </p:nvSpPr>
        <p:spPr>
          <a:xfrm>
            <a:off x="4906300" y="1262866"/>
            <a:ext cx="2472008" cy="1883996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22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does capable mean?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Technical ability</a:t>
            </a:r>
          </a:p>
          <a:p>
            <a:r>
              <a:rPr lang="en-GB" dirty="0" smtClean="0"/>
              <a:t>Practical ability</a:t>
            </a:r>
          </a:p>
          <a:p>
            <a:r>
              <a:rPr lang="en-GB" dirty="0" smtClean="0"/>
              <a:t>Confident</a:t>
            </a:r>
          </a:p>
          <a:p>
            <a:r>
              <a:rPr lang="en-GB" dirty="0" smtClean="0"/>
              <a:t>Trustworthy</a:t>
            </a:r>
          </a:p>
          <a:p>
            <a:endParaRPr lang="en-GB" dirty="0"/>
          </a:p>
          <a:p>
            <a:r>
              <a:rPr lang="en-GB" dirty="0" smtClean="0"/>
              <a:t>Soft skills</a:t>
            </a:r>
          </a:p>
          <a:p>
            <a:pPr lvl="1"/>
            <a:r>
              <a:rPr lang="en-GB" dirty="0" smtClean="0"/>
              <a:t>Communication</a:t>
            </a:r>
          </a:p>
          <a:p>
            <a:pPr lvl="1"/>
            <a:r>
              <a:rPr lang="en-GB" dirty="0" smtClean="0"/>
              <a:t>Project management</a:t>
            </a:r>
          </a:p>
          <a:p>
            <a:pPr lvl="1"/>
            <a:r>
              <a:rPr lang="en-GB" dirty="0" smtClean="0"/>
              <a:t>Financial management</a:t>
            </a:r>
          </a:p>
          <a:p>
            <a:pPr lvl="1"/>
            <a:r>
              <a:rPr lang="en-GB" dirty="0" smtClean="0"/>
              <a:t>Health and safety</a:t>
            </a:r>
          </a:p>
          <a:p>
            <a:pPr lvl="1"/>
            <a:r>
              <a:rPr lang="en-GB" dirty="0" smtClean="0"/>
              <a:t>Company culture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2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Issues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New capabilities</a:t>
            </a:r>
          </a:p>
          <a:p>
            <a:pPr lvl="1"/>
            <a:r>
              <a:rPr lang="en-GB" dirty="0" smtClean="0"/>
              <a:t>No trainers</a:t>
            </a:r>
          </a:p>
          <a:p>
            <a:pPr lvl="1"/>
            <a:r>
              <a:rPr lang="en-GB" dirty="0" smtClean="0"/>
              <a:t>No courses defined</a:t>
            </a:r>
          </a:p>
          <a:p>
            <a:pPr lvl="1"/>
            <a:r>
              <a:rPr lang="en-GB" dirty="0" smtClean="0"/>
              <a:t>No mechanism for assessing</a:t>
            </a:r>
          </a:p>
          <a:p>
            <a:r>
              <a:rPr lang="en-GB" dirty="0" smtClean="0"/>
              <a:t>Multi-skilled</a:t>
            </a:r>
          </a:p>
          <a:p>
            <a:r>
              <a:rPr lang="en-GB" dirty="0" smtClean="0"/>
              <a:t>Fast changing technology</a:t>
            </a:r>
          </a:p>
          <a:p>
            <a:pPr lvl="1"/>
            <a:r>
              <a:rPr lang="en-GB" dirty="0" smtClean="0"/>
              <a:t>Annual refresh needed</a:t>
            </a:r>
          </a:p>
          <a:p>
            <a:pPr lvl="1"/>
            <a:r>
              <a:rPr lang="en-GB" dirty="0" smtClean="0"/>
              <a:t>Needs to be targeted at market</a:t>
            </a:r>
          </a:p>
          <a:p>
            <a:r>
              <a:rPr lang="en-GB" dirty="0" smtClean="0"/>
              <a:t>Not just theoretical</a:t>
            </a:r>
          </a:p>
          <a:p>
            <a:pPr lvl="1"/>
            <a:r>
              <a:rPr lang="en-GB" dirty="0" smtClean="0"/>
              <a:t>Students need to be dangerous</a:t>
            </a:r>
          </a:p>
          <a:p>
            <a:r>
              <a:rPr lang="en-GB" dirty="0" smtClean="0"/>
              <a:t>Expensive to do properly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31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do we achieve 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Project based learning</a:t>
            </a:r>
          </a:p>
          <a:p>
            <a:r>
              <a:rPr lang="en-GB" dirty="0" smtClean="0"/>
              <a:t>Expensive equipment</a:t>
            </a:r>
          </a:p>
          <a:p>
            <a:r>
              <a:rPr lang="en-GB" dirty="0" smtClean="0"/>
              <a:t>Long contact hours</a:t>
            </a:r>
          </a:p>
          <a:p>
            <a:r>
              <a:rPr lang="en-GB" dirty="0" smtClean="0"/>
              <a:t>Industrial steering groups</a:t>
            </a:r>
          </a:p>
          <a:p>
            <a:r>
              <a:rPr lang="en-GB" dirty="0" smtClean="0"/>
              <a:t>Assessment by true industry experts</a:t>
            </a:r>
          </a:p>
          <a:p>
            <a:r>
              <a:rPr lang="en-GB" dirty="0" smtClean="0"/>
              <a:t>Not everybody makes it to </a:t>
            </a:r>
            <a:r>
              <a:rPr lang="en-GB" smtClean="0"/>
              <a:t>the end</a:t>
            </a:r>
            <a:endParaRPr lang="en-GB" dirty="0" smtClean="0"/>
          </a:p>
          <a:p>
            <a:r>
              <a:rPr lang="en-GB" dirty="0" smtClean="0"/>
              <a:t>Professional registration</a:t>
            </a:r>
          </a:p>
          <a:p>
            <a:pPr lvl="1"/>
            <a:r>
              <a:rPr lang="en-GB" dirty="0" smtClean="0"/>
              <a:t>Work based learning</a:t>
            </a:r>
          </a:p>
          <a:p>
            <a:endParaRPr lang="en-GB" dirty="0" smtClean="0"/>
          </a:p>
          <a:p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555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Questions for discussion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rgbClr val="0079BC"/>
              </a:buClr>
              <a:buFont typeface="Wingdings" charset="2"/>
              <a:buChar char="§"/>
            </a:pPr>
            <a:r>
              <a:rPr lang="en-GB" sz="2400" dirty="0" smtClean="0"/>
              <a:t>Where do you see innovation happening now?</a:t>
            </a:r>
          </a:p>
          <a:p>
            <a:pPr marL="342900" indent="-342900">
              <a:buClr>
                <a:srgbClr val="0079BC"/>
              </a:buClr>
              <a:buFont typeface="Wingdings" charset="2"/>
              <a:buChar char="§"/>
            </a:pPr>
            <a:r>
              <a:rPr lang="en-GB" sz="2400" dirty="0" smtClean="0"/>
              <a:t>How is this responding to what users want? </a:t>
            </a:r>
          </a:p>
          <a:p>
            <a:pPr marL="342900" indent="-342900">
              <a:buClr>
                <a:srgbClr val="0079BC"/>
              </a:buClr>
              <a:buFont typeface="Wingdings" charset="2"/>
              <a:buChar char="§"/>
            </a:pPr>
            <a:r>
              <a:rPr lang="en-GB" sz="2400" dirty="0" smtClean="0"/>
              <a:t>How can technology help achieve this?</a:t>
            </a:r>
          </a:p>
          <a:p>
            <a:pPr marL="342900" indent="-342900">
              <a:buClr>
                <a:srgbClr val="0079BC"/>
              </a:buClr>
              <a:buFont typeface="Wingdings" charset="2"/>
              <a:buChar char="§"/>
            </a:pPr>
            <a:r>
              <a:rPr lang="en-GB" sz="2400" dirty="0" smtClean="0"/>
              <a:t>Are there ways we could regulate better to enable you to innovate more easily?</a:t>
            </a:r>
          </a:p>
          <a:p>
            <a:pPr marL="700087" lvl="5" indent="-342900">
              <a:buClr>
                <a:srgbClr val="0079BC"/>
              </a:buClr>
              <a:buFont typeface="Arial" charset="0"/>
              <a:buChar char="•"/>
            </a:pPr>
            <a:r>
              <a:rPr lang="en-GB" sz="2000" dirty="0" smtClean="0"/>
              <a:t>Are there specific examples of where we have unnecessary rules that are hindering innovation?</a:t>
            </a:r>
          </a:p>
          <a:p>
            <a:pPr marL="700087" lvl="5" indent="-342900">
              <a:buClr>
                <a:srgbClr val="0079BC"/>
              </a:buClr>
              <a:buFont typeface="Arial" charset="0"/>
              <a:buChar char="•"/>
            </a:pPr>
            <a:r>
              <a:rPr lang="en-GB" sz="2000" dirty="0" smtClean="0"/>
              <a:t>Could we improve the ways we use technology in our regulation?</a:t>
            </a:r>
          </a:p>
          <a:p>
            <a:pPr marL="342900" indent="-342900">
              <a:buClr>
                <a:srgbClr val="0079BC"/>
              </a:buClr>
              <a:buFont typeface="Wingdings" charset="2"/>
              <a:buChar char="§"/>
            </a:pPr>
            <a:r>
              <a:rPr lang="en-GB" sz="2400" dirty="0" smtClean="0"/>
              <a:t>Where do you see innovation happening in the future?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581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FD12CC-BE13-4DB2-97FB-1B4804DD32B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5150501-b37d-4b37-b0a0-512a8dbac82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4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707</TotalTime>
  <Words>208</Words>
  <Application>Microsoft Macintosh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Calibri Light</vt:lpstr>
      <vt:lpstr>Wingdings</vt:lpstr>
      <vt:lpstr>Wingdings 2</vt:lpstr>
      <vt:lpstr>Arial</vt:lpstr>
      <vt:lpstr>1_Ofqual vocational qualifications</vt:lpstr>
      <vt:lpstr>Custom Design</vt:lpstr>
      <vt:lpstr>Innovation in Qualifications</vt:lpstr>
      <vt:lpstr>PowerPoint Presentation</vt:lpstr>
      <vt:lpstr>PowerPoint Presentation</vt:lpstr>
      <vt:lpstr>PowerPoint Presentation</vt:lpstr>
      <vt:lpstr>PowerPoint Presentation</vt:lpstr>
      <vt:lpstr>Process</vt:lpstr>
      <vt:lpstr>What does capable mean?</vt:lpstr>
      <vt:lpstr>Issues</vt:lpstr>
      <vt:lpstr>How do we achieve it</vt:lpstr>
      <vt:lpstr>Questions for discussion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Philip McAllister</cp:lastModifiedBy>
  <cp:revision>53</cp:revision>
  <dcterms:created xsi:type="dcterms:W3CDTF">2015-09-11T10:33:37Z</dcterms:created>
  <dcterms:modified xsi:type="dcterms:W3CDTF">2015-12-07T12:42:07Z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