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</p:sldMasterIdLst>
  <p:notesMasterIdLst>
    <p:notesMasterId r:id="rId9"/>
  </p:notesMasterIdLst>
  <p:handoutMasterIdLst>
    <p:handoutMasterId r:id="rId10"/>
  </p:handoutMasterIdLst>
  <p:sldIdLst>
    <p:sldId id="289" r:id="rId6"/>
    <p:sldId id="287" r:id="rId7"/>
    <p:sldId id="288" r:id="rId8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54502-D187-416A-B576-882DE8BD6B37}">
          <p14:sldIdLst>
            <p14:sldId id="289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B81A"/>
    <a:srgbClr val="F18E00"/>
    <a:srgbClr val="A0558F"/>
    <a:srgbClr val="0079BC"/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0" autoAdjust="0"/>
    <p:restoredTop sz="90160" autoAdjust="0"/>
  </p:normalViewPr>
  <p:slideViewPr>
    <p:cSldViewPr>
      <p:cViewPr varScale="1">
        <p:scale>
          <a:sx n="113" d="100"/>
          <a:sy n="113" d="100"/>
        </p:scale>
        <p:origin x="36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23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4CCDA-8D15-48C0-B5F3-626A93EA51DD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B8FE0-82A3-4413-8BF5-2C64B7633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870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8405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sz="1200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39069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32479" y="3121608"/>
            <a:ext cx="85344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" y="0"/>
            <a:ext cx="12173396" cy="68536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5475" indent="-301625">
              <a:buFont typeface="Arial" panose="020B0604020202020204" pitchFamily="34" charset="0"/>
              <a:buChar char="□"/>
              <a:defRPr sz="2200"/>
            </a:lvl2pPr>
            <a:lvl3pPr marL="893763" indent="-247650">
              <a:buFont typeface="Arial" panose="020B0604020202020204" pitchFamily="34" charset="0"/>
              <a:buChar char="▪"/>
              <a:defRPr sz="2000"/>
            </a:lvl3pPr>
            <a:lvl4pPr marL="1257300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2300" y="1438282"/>
            <a:ext cx="5384800" cy="4498975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5588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438282"/>
            <a:ext cx="5384800" cy="4498975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48400">
              <a:buFont typeface="Arial" panose="020B0604020202020204" pitchFamily="34" charset="0"/>
              <a:buChar char="▪"/>
              <a:defRPr sz="2000"/>
            </a:lvl3pPr>
            <a:lvl4pPr marL="1163638" indent="-255588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431925" indent="-255588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4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6" y="273050"/>
            <a:ext cx="4011084" cy="1162051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 marL="313200" indent="-313200">
              <a:buFont typeface="Arial" panose="020B0604020202020204" pitchFamily="34" charset="0"/>
              <a:buChar char="■"/>
              <a:defRPr sz="2200"/>
            </a:lvl1pPr>
            <a:lvl2pPr marL="626400" indent="-302400">
              <a:buFont typeface="Arial" panose="020B0604020202020204" pitchFamily="34" charset="0"/>
              <a:buChar char="□"/>
              <a:defRPr sz="2200"/>
            </a:lvl2pPr>
            <a:lvl3pPr marL="892800" indent="-255600"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chemeClr val="tx2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chemeClr val="tx2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438282"/>
            <a:ext cx="109728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83B81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ts val="300"/>
        </a:spcBef>
        <a:spcAft>
          <a:spcPts val="600"/>
        </a:spcAft>
        <a:buClr>
          <a:srgbClr val="86BE3D"/>
        </a:buClr>
        <a:buFont typeface="Wingdings" panose="05000000000000000000" pitchFamily="2" charset="2"/>
        <a:buNone/>
        <a:defRPr sz="20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ts val="0"/>
        </a:spcBef>
        <a:spcAft>
          <a:spcPts val="6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719138" indent="0" algn="l" rtl="0" eaLnBrk="0" fontAlgn="base" hangingPunct="0">
        <a:spcBef>
          <a:spcPts val="0"/>
        </a:spcBef>
        <a:spcAft>
          <a:spcPts val="600"/>
        </a:spcAft>
        <a:buClr>
          <a:srgbClr val="83B81A"/>
        </a:buClr>
        <a:buFont typeface="Wingdings 2" panose="05020102010507070707" pitchFamily="18" charset="2"/>
        <a:buNone/>
        <a:defRPr sz="2000" b="0">
          <a:solidFill>
            <a:srgbClr val="4D4D4D"/>
          </a:solidFill>
          <a:latin typeface="+mn-lt"/>
        </a:defRPr>
      </a:lvl3pPr>
      <a:lvl4pPr marL="1076325" indent="0" algn="l" rtl="0" eaLnBrk="0" fontAlgn="base" hangingPunct="0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4pPr>
      <a:lvl5pPr marL="1431925" indent="0" algn="l" rtl="0" eaLnBrk="0" fontAlgn="base" hangingPunct="0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5pPr>
      <a:lvl6pPr marL="9144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fontAlgn="base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uk/guidance/timings-for-the-withdrawal-of-legacy-gcses-as-and-a-level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Resits</a:t>
            </a:r>
            <a:br>
              <a:rPr lang="en-GB" dirty="0" smtClean="0"/>
            </a:br>
            <a:r>
              <a:rPr lang="en-GB" sz="2800" dirty="0" smtClean="0"/>
              <a:t>Richard Garrett</a:t>
            </a:r>
            <a:endParaRPr lang="en-GB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HE Admissions Seminar</a:t>
            </a:r>
          </a:p>
          <a:p>
            <a:r>
              <a:rPr lang="en-GB" smtClean="0"/>
              <a:t>8 March 2016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82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Resits – legacy qualifications proposals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dirty="0" smtClean="0"/>
              <a:t>Consultation </a:t>
            </a:r>
            <a:r>
              <a:rPr lang="en-GB" sz="1800" dirty="0"/>
              <a:t>ended February </a:t>
            </a:r>
            <a:r>
              <a:rPr lang="en-GB" sz="1800" dirty="0" smtClean="0"/>
              <a:t>– we have not yet announced our decisions </a:t>
            </a:r>
          </a:p>
          <a:p>
            <a:r>
              <a:rPr lang="en-GB" sz="1800" dirty="0" smtClean="0">
                <a:hlinkClick r:id="rId3"/>
              </a:rPr>
              <a:t>https</a:t>
            </a:r>
            <a:r>
              <a:rPr lang="en-GB" sz="1800" dirty="0">
                <a:hlinkClick r:id="rId3"/>
              </a:rPr>
              <a:t>://www.gov.uk/guidance/timings-for-the-withdrawal-of-legacy-gcses-as-and-a-levels</a:t>
            </a:r>
            <a:r>
              <a:rPr lang="en-GB" sz="1800" dirty="0"/>
              <a:t/>
            </a:r>
            <a:br>
              <a:rPr lang="en-GB" sz="1800" dirty="0"/>
            </a:br>
            <a:endParaRPr lang="en-GB" sz="1800" dirty="0"/>
          </a:p>
          <a:p>
            <a:pPr marL="0" indent="0">
              <a:buNone/>
            </a:pPr>
            <a:r>
              <a:rPr lang="en-GB" b="1" dirty="0" smtClean="0"/>
              <a:t>AS </a:t>
            </a:r>
            <a:r>
              <a:rPr lang="en-GB" b="1" dirty="0"/>
              <a:t>and A </a:t>
            </a:r>
            <a:r>
              <a:rPr lang="en-GB" b="1" dirty="0" smtClean="0"/>
              <a:t>levels</a:t>
            </a:r>
          </a:p>
          <a:p>
            <a:r>
              <a:rPr lang="en-GB" sz="1800" dirty="0" smtClean="0"/>
              <a:t>Students taking AS and A levels in the last scheduled sitting should have the opportunity to re-sit these qualifications after the final scheduled award, regardless of the subject and exam board.</a:t>
            </a:r>
          </a:p>
          <a:p>
            <a:r>
              <a:rPr lang="en-GB" sz="1800" dirty="0" smtClean="0"/>
              <a:t>Re-sit </a:t>
            </a:r>
            <a:r>
              <a:rPr lang="en-GB" sz="1800" dirty="0"/>
              <a:t>opportunities in AS and A levels in the subjects for which the new qualifications will be first awarded in 2017, will be available in the legacy qualifications in the summer of 2017.</a:t>
            </a:r>
          </a:p>
          <a:p>
            <a:r>
              <a:rPr lang="en-GB" sz="1800" dirty="0"/>
              <a:t>Re-sits will take place in May or June.</a:t>
            </a:r>
          </a:p>
          <a:p>
            <a:r>
              <a:rPr lang="en-GB" sz="1800" dirty="0"/>
              <a:t>Students will be able to re-sit any AS or A level unit (including controlled assessment units).</a:t>
            </a:r>
          </a:p>
          <a:p>
            <a:r>
              <a:rPr lang="en-GB" sz="1800" dirty="0"/>
              <a:t>Similar arrangements should be put in place for the later phases of AS and A level reform.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93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Resits – GCSE (our consultation proposals)</a:t>
            </a:r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37316" y="979493"/>
            <a:ext cx="10972800" cy="5257820"/>
          </a:xfrm>
        </p:spPr>
        <p:txBody>
          <a:bodyPr/>
          <a:lstStyle/>
          <a:p>
            <a:r>
              <a:rPr lang="en-GB" sz="2000" dirty="0" smtClean="0"/>
              <a:t>Students </a:t>
            </a:r>
            <a:r>
              <a:rPr lang="en-GB" sz="2000" dirty="0"/>
              <a:t>taking GCSEs in English, English language and mathematics </a:t>
            </a:r>
            <a:r>
              <a:rPr lang="en-GB" sz="2000" dirty="0" smtClean="0"/>
              <a:t>in </a:t>
            </a:r>
            <a:r>
              <a:rPr lang="en-GB" sz="2000" dirty="0"/>
              <a:t>summer 2016 will have a re-sit opportunity in November 2016. </a:t>
            </a:r>
            <a:r>
              <a:rPr lang="en-GB" sz="2000" dirty="0" smtClean="0"/>
              <a:t> </a:t>
            </a:r>
          </a:p>
          <a:p>
            <a:r>
              <a:rPr lang="en-GB" sz="2000" dirty="0" smtClean="0"/>
              <a:t>We sought views on whether </a:t>
            </a:r>
            <a:r>
              <a:rPr lang="en-GB" sz="2000" dirty="0"/>
              <a:t>these students should also have a further re-sit opportunity in May/June 2017.</a:t>
            </a:r>
          </a:p>
          <a:p>
            <a:r>
              <a:rPr lang="en-GB" sz="2000" dirty="0" smtClean="0"/>
              <a:t>We proposed that there will be no </a:t>
            </a:r>
            <a:r>
              <a:rPr lang="en-GB" sz="2000" dirty="0"/>
              <a:t>re-sit opportunities in other GCSE subjects that are subject to reform. </a:t>
            </a:r>
            <a:endParaRPr lang="en-GB" sz="2000" dirty="0" smtClean="0"/>
          </a:p>
          <a:p>
            <a:r>
              <a:rPr lang="en-GB" sz="2000" dirty="0" smtClean="0"/>
              <a:t>We specifically asked for views on whether there should be resits in other subjects, especially the sciences. 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8541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A373A4C50E468CA9E4026D35F6E2" ma:contentTypeVersion="5" ma:contentTypeDescription="Create a new document." ma:contentTypeScope="" ma:versionID="6f65294b266c6366b0609f061382a0b4">
  <xsd:schema xmlns:xsd="http://www.w3.org/2001/XMLSchema" xmlns:p="http://schemas.microsoft.com/office/2006/metadata/properties" xmlns:ns2="45150501-b37d-4b37-b0a0-512a8dbac82e" targetNamespace="http://schemas.microsoft.com/office/2006/metadata/properties" ma:root="true" ma:fieldsID="a6f16d7ac95bab966617cb1271d45bb4" ns2:_="">
    <xsd:import namespace="45150501-b37d-4b37-b0a0-512a8dbac82e"/>
    <xsd:element name="properties">
      <xsd:complexType>
        <xsd:sequence>
          <xsd:element name="documentManagement">
            <xsd:complexType>
              <xsd:all>
                <xsd:element ref="ns2:Description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5150501-b37d-4b37-b0a0-512a8dbac82e" elementFormDefault="qualified">
    <xsd:import namespace="http://schemas.microsoft.com/office/2006/documentManagement/types"/>
    <xsd:element name="Description" ma:index="8" nillable="true" ma:displayName="Description" ma:internalName="Description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 xmlns="45150501-b37d-4b37-b0a0-512a8dbac82e" xsi:nil="true"/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35C1C410-1A9F-4F38-A395-A6A488C8E5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150501-b37d-4b37-b0a0-512a8dbac82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FD12CC-BE13-4DB2-97FB-1B4804DD32B4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45150501-b37d-4b37-b0a0-512a8dbac82e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684</TotalTime>
  <Words>114</Words>
  <Application>Microsoft Office PowerPoint</Application>
  <PresentationFormat>Widescreen</PresentationFormat>
  <Paragraphs>19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Wingdings</vt:lpstr>
      <vt:lpstr>Wingdings 2</vt:lpstr>
      <vt:lpstr>1_Ofqual vocational qualifications</vt:lpstr>
      <vt:lpstr>Resits Richard Garrett</vt:lpstr>
      <vt:lpstr>Resits – legacy qualifications proposals</vt:lpstr>
      <vt:lpstr>Resits – GCSE (our consultation proposals)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Vanessa Smith</dc:creator>
  <cp:lastModifiedBy>Hannah Bradley</cp:lastModifiedBy>
  <cp:revision>48</cp:revision>
  <dcterms:created xsi:type="dcterms:W3CDTF">2015-09-11T10:33:37Z</dcterms:created>
  <dcterms:modified xsi:type="dcterms:W3CDTF">2016-03-09T11:17:15Z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0x010100ECD7A373A4C50E468CA9E4026D35F6E2</vt:lpwstr>
  </property>
</Properties>
</file>